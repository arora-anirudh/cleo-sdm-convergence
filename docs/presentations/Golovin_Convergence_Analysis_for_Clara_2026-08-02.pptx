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fd0ecf7b618e4fba" /><Relationship Type="http://schemas.openxmlformats.org/officeDocument/2006/relationships/extended-properties" Target="/docProps/app.xml" Id="R42b1c52befab461f" /><Relationship Type="http://schemas.openxmlformats.org/officeDocument/2006/relationships/officeDocument" Target="/ppt/presentation.xml" Id="R1d3899ef40d149e7" /></Relationships>
</file>

<file path=ppt/presentation.xml><?xml version="1.0" encoding="utf-8"?>
<p:presentation xmlns:p="http://schemas.openxmlformats.org/presentationml/2006/main">
  <p:sldMasterIdLst>
    <p:sldMasterId xmlns:r="http://schemas.openxmlformats.org/officeDocument/2006/relationships" id="2147483648" r:id="Rc6ea4afd0d5c4d67"/>
  </p:sldMasterIdLst>
  <p:notesMasterIdLst>
    <p:notesMasterId xmlns:r="http://schemas.openxmlformats.org/officeDocument/2006/relationships" r:id="Ra38e13d0bc9b4761"/>
  </p:notesMasterIdLst>
  <p:sldIdLst>
    <p:sldId xmlns:r="http://schemas.openxmlformats.org/officeDocument/2006/relationships" id="256" r:id="R5317f5fe1cab4096"/>
    <p:sldId xmlns:r="http://schemas.openxmlformats.org/officeDocument/2006/relationships" id="257" r:id="R2eac6ed8677f4266"/>
    <p:sldId xmlns:r="http://schemas.openxmlformats.org/officeDocument/2006/relationships" id="258" r:id="R0ec1fe91c7b84378"/>
    <p:sldId xmlns:r="http://schemas.openxmlformats.org/officeDocument/2006/relationships" id="259" r:id="R6473a0a6da1f4e5b"/>
    <p:sldId xmlns:r="http://schemas.openxmlformats.org/officeDocument/2006/relationships" id="260" r:id="Ra6ee2b52d5004409"/>
    <p:sldId xmlns:r="http://schemas.openxmlformats.org/officeDocument/2006/relationships" id="261" r:id="R5d2369b0a45346e7"/>
    <p:sldId xmlns:r="http://schemas.openxmlformats.org/officeDocument/2006/relationships" id="262" r:id="Ra40a3ebed2cc4a88"/>
    <p:sldId xmlns:r="http://schemas.openxmlformats.org/officeDocument/2006/relationships" id="263" r:id="R9f5a25c477b74353"/>
    <p:sldId xmlns:r="http://schemas.openxmlformats.org/officeDocument/2006/relationships" id="264" r:id="R2bb5d3c52c4f49b9"/>
    <p:sldId xmlns:r="http://schemas.openxmlformats.org/officeDocument/2006/relationships" id="265" r:id="Rad0d455765b6419f"/>
    <p:sldId xmlns:r="http://schemas.openxmlformats.org/officeDocument/2006/relationships" id="266" r:id="R91f902d0a5e442dd"/>
    <p:sldId xmlns:r="http://schemas.openxmlformats.org/officeDocument/2006/relationships" id="267" r:id="R2aadf4380c924968"/>
    <p:sldId xmlns:r="http://schemas.openxmlformats.org/officeDocument/2006/relationships" id="268" r:id="R58b69eb8c19244a2"/>
    <p:sldId xmlns:r="http://schemas.openxmlformats.org/officeDocument/2006/relationships" id="269" r:id="R6acb82fcfc034797"/>
    <p:sldId xmlns:r="http://schemas.openxmlformats.org/officeDocument/2006/relationships" id="270" r:id="R170e3327a20e4eb7"/>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ed0c062c845648aa" /><Relationship Type="http://schemas.openxmlformats.org/officeDocument/2006/relationships/slideMaster" Target="/ppt/slideMasters/slideMaster1.xml" Id="Rc6ea4afd0d5c4d67" /><Relationship Type="http://schemas.openxmlformats.org/officeDocument/2006/relationships/notesMaster" Target="/ppt/notesMasters/notesMaster1.xml" Id="Ra38e13d0bc9b4761" /><Relationship Type="http://schemas.openxmlformats.org/officeDocument/2006/relationships/presProps" Target="/ppt/presProps.xml" Id="R49af6bf802794832" /><Relationship Type="http://schemas.openxmlformats.org/officeDocument/2006/relationships/tableStyles" Target="/ppt/tableStyles.xml" Id="R0fe18102888a4595" /><Relationship Type="http://schemas.openxmlformats.org/officeDocument/2006/relationships/slide" Target="/ppt/slides/slide1.xml" Id="R5317f5fe1cab4096" /><Relationship Type="http://schemas.openxmlformats.org/officeDocument/2006/relationships/slide" Target="/ppt/slides/slide2.xml" Id="R2eac6ed8677f4266" /><Relationship Type="http://schemas.openxmlformats.org/officeDocument/2006/relationships/slide" Target="/ppt/slides/slide3.xml" Id="R0ec1fe91c7b84378" /><Relationship Type="http://schemas.openxmlformats.org/officeDocument/2006/relationships/slide" Target="/ppt/slides/slide4.xml" Id="R6473a0a6da1f4e5b" /><Relationship Type="http://schemas.openxmlformats.org/officeDocument/2006/relationships/slide" Target="/ppt/slides/slide5.xml" Id="Ra6ee2b52d5004409" /><Relationship Type="http://schemas.openxmlformats.org/officeDocument/2006/relationships/slide" Target="/ppt/slides/slide6.xml" Id="R5d2369b0a45346e7" /><Relationship Type="http://schemas.openxmlformats.org/officeDocument/2006/relationships/slide" Target="/ppt/slides/slide7.xml" Id="Ra40a3ebed2cc4a88" /><Relationship Type="http://schemas.openxmlformats.org/officeDocument/2006/relationships/slide" Target="/ppt/slides/slide8.xml" Id="R9f5a25c477b74353" /><Relationship Type="http://schemas.openxmlformats.org/officeDocument/2006/relationships/slide" Target="/ppt/slides/slide9.xml" Id="R2bb5d3c52c4f49b9" /><Relationship Type="http://schemas.openxmlformats.org/officeDocument/2006/relationships/slide" Target="/ppt/slides/slide10.xml" Id="Rad0d455765b6419f" /><Relationship Type="http://schemas.openxmlformats.org/officeDocument/2006/relationships/slide" Target="/ppt/slides/slide11.xml" Id="R91f902d0a5e442dd" /><Relationship Type="http://schemas.openxmlformats.org/officeDocument/2006/relationships/slide" Target="/ppt/slides/slide12.xml" Id="R2aadf4380c924968" /><Relationship Type="http://schemas.openxmlformats.org/officeDocument/2006/relationships/slide" Target="/ppt/slides/slide13.xml" Id="R58b69eb8c19244a2" /><Relationship Type="http://schemas.openxmlformats.org/officeDocument/2006/relationships/slide" Target="/ppt/slides/slide14.xml" Id="R6acb82fcfc034797" /><Relationship Type="http://schemas.openxmlformats.org/officeDocument/2006/relationships/slide" Target="/ppt/slides/slide15.xml" Id="R170e3327a20e4eb7"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5f5ad334805547ab"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b121972269bf41d5" /><Relationship Type="http://schemas.openxmlformats.org/officeDocument/2006/relationships/notesMaster" Target="/ppt/notesMasters/notesMaster1.xml" Id="Rb65eaf8d2d484685" /></Relationships>
</file>

<file path=ppt/notesSlides/_rels/notesSlide2.xml.rels>&#65279;<?xml version="1.0" encoding="utf-8"?><Relationships xmlns="http://schemas.openxmlformats.org/package/2006/relationships"><Relationship Type="http://schemas.openxmlformats.org/officeDocument/2006/relationships/slide" Target="/ppt/slides/slide2.xml" Id="Rcc4f87123b814518" /><Relationship Type="http://schemas.openxmlformats.org/officeDocument/2006/relationships/notesMaster" Target="/ppt/notesMasters/notesMaster1.xml" Id="Raeaf9255c20043eb" /></Relationships>
</file>

<file path=ppt/notesSlides/_rels/notesSlide3.xml.rels>&#65279;<?xml version="1.0" encoding="utf-8"?><Relationships xmlns="http://schemas.openxmlformats.org/package/2006/relationships"><Relationship Type="http://schemas.openxmlformats.org/officeDocument/2006/relationships/slide" Target="/ppt/slides/slide3.xml" Id="Re824ddf1128b41da" /><Relationship Type="http://schemas.openxmlformats.org/officeDocument/2006/relationships/notesMaster" Target="/ppt/notesMasters/notesMaster1.xml" Id="R7a39538f636d4ee2" /></Relationships>
</file>

<file path=ppt/notesSlides/_rels/notesSlide4.xml.rels>&#65279;<?xml version="1.0" encoding="utf-8"?><Relationships xmlns="http://schemas.openxmlformats.org/package/2006/relationships"><Relationship Type="http://schemas.openxmlformats.org/officeDocument/2006/relationships/slide" Target="/ppt/slides/slide4.xml" Id="R62d47ff43ee54e81" /><Relationship Type="http://schemas.openxmlformats.org/officeDocument/2006/relationships/notesMaster" Target="/ppt/notesMasters/notesMaster1.xml" Id="R02f878f0e5004245" /></Relationships>
</file>

<file path=ppt/notesSlides/_rels/notesSlide5.xml.rels>&#65279;<?xml version="1.0" encoding="utf-8"?><Relationships xmlns="http://schemas.openxmlformats.org/package/2006/relationships"><Relationship Type="http://schemas.openxmlformats.org/officeDocument/2006/relationships/slide" Target="/ppt/slides/slide5.xml" Id="Rd6f7f3864e234823" /><Relationship Type="http://schemas.openxmlformats.org/officeDocument/2006/relationships/notesMaster" Target="/ppt/notesMasters/notesMaster1.xml" Id="R71f3ea7a6a1d48c9" /></Relationships>
</file>

<file path=ppt/notesSlides/_rels/notesSlide6.xml.rels>&#65279;<?xml version="1.0" encoding="utf-8"?><Relationships xmlns="http://schemas.openxmlformats.org/package/2006/relationships"><Relationship Type="http://schemas.openxmlformats.org/officeDocument/2006/relationships/slide" Target="/ppt/slides/slide6.xml" Id="R439704a3ff414b39" /><Relationship Type="http://schemas.openxmlformats.org/officeDocument/2006/relationships/notesMaster" Target="/ppt/notesMasters/notesMaster1.xml" Id="Rec9ead1805ea491f" /></Relationships>
</file>

<file path=ppt/notesSlides/_rels/notesSlide7.xml.rels>&#65279;<?xml version="1.0" encoding="utf-8"?><Relationships xmlns="http://schemas.openxmlformats.org/package/2006/relationships"><Relationship Type="http://schemas.openxmlformats.org/officeDocument/2006/relationships/slide" Target="/ppt/slides/slide7.xml" Id="R758840c13b0f4774" /><Relationship Type="http://schemas.openxmlformats.org/officeDocument/2006/relationships/notesMaster" Target="/ppt/notesMasters/notesMaster1.xml" Id="R92f82e63dead4f52" /></Relationships>
</file>

<file path=ppt/notesSlides/_rels/notesSlide8.xml.rels>&#65279;<?xml version="1.0" encoding="utf-8"?><Relationships xmlns="http://schemas.openxmlformats.org/package/2006/relationships"><Relationship Type="http://schemas.openxmlformats.org/officeDocument/2006/relationships/slide" Target="/ppt/slides/slide8.xml" Id="R4c12c3b732804730" /><Relationship Type="http://schemas.openxmlformats.org/officeDocument/2006/relationships/notesMaster" Target="/ppt/notesMasters/notesMaster1.xml" Id="Ra2980a07b9d14198" /></Relationships>
</file>

<file path=ppt/notesSlides/_rels/notesSlide9.xml.rels>&#65279;<?xml version="1.0" encoding="utf-8"?><Relationships xmlns="http://schemas.openxmlformats.org/package/2006/relationships"><Relationship Type="http://schemas.openxmlformats.org/officeDocument/2006/relationships/slide" Target="/ppt/slides/slide9.xml" Id="R910eedcbb69048b0" /><Relationship Type="http://schemas.openxmlformats.org/officeDocument/2006/relationships/notesMaster" Target="/ppt/notesMasters/notesMaster1.xml" Id="R3e812b30bf6a4510"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6c7cc712dc3a43eb" /><Relationship Type="http://schemas.openxmlformats.org/officeDocument/2006/relationships/notesMaster" Target="/ppt/notesMasters/notesMaster1.xml" Id="R6d7d22662d1e4112"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aa74635e74934c2f" /><Relationship Type="http://schemas.openxmlformats.org/officeDocument/2006/relationships/notesMaster" Target="/ppt/notesMasters/notesMaster1.xml" Id="R1fa7811759d240a1"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76f10c9042d24bcf" /><Relationship Type="http://schemas.openxmlformats.org/officeDocument/2006/relationships/notesMaster" Target="/ppt/notesMasters/notesMaster1.xml" Id="R1874c72909094159"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ed25eafc8e754b18" /><Relationship Type="http://schemas.openxmlformats.org/officeDocument/2006/relationships/notesMaster" Target="/ppt/notesMasters/notesMaster1.xml" Id="Rea9ea6a668b64538"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0e2db62afeb04736" /><Relationship Type="http://schemas.openxmlformats.org/officeDocument/2006/relationships/notesMaster" Target="/ppt/notesMasters/notesMaster1.xml" Id="R809994bfd1364910"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32b58f18dde041bc" /><Relationship Type="http://schemas.openxmlformats.org/officeDocument/2006/relationships/notesMaster" Target="/ppt/notesMasters/notesMaster1.xml" Id="R7d7218c93c6b47c7"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Open by saying this is a completed numerical calibration, not a Long-kernel result. Two results coexist because they were produced by two clearly separated protocols. This deck explains what was fixed, what was random, how accuracy and diminishing returns were defined, and what conclusions are scientifically permitted.</a:t>
            </a:r>
          </a:p>
          <a:p xmlns:a="http://schemas.openxmlformats.org/drawingml/2006/main">
            <a:r>
              <a:t/>
            </a:r>
          </a:p>
          <a:p xmlns:a="http://schemas.openxmlformats.org/drawingml/2006/main">
            <a:r>
              <a:t>[Sources]</a:t>
            </a:r>
          </a:p>
          <a:p xmlns:a="http://schemas.openxmlformats.org/drawingml/2006/main">
            <a:r>
              <a:t>Project record: docs/results/golovin_controlled_convergence_record_2026-08-02.md; formal decision: balanced analysis_v2/resolution/resolution_decision.json; targeted decision: targeted analysis_v1/targeted_practical/targeted_precision_decision.json.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Explain the scope before the result. This is deliberately a one-gridbox 0-D box test. Collision–coalescence is the only active process, so an observed difference cannot be attributed to advection, thermodynamics or coupling. The goal is to calibrate numerical sampling for this idealised setup, not to announce a cloud-scale resolution.</a:t>
            </a:r>
          </a:p>
          <a:p xmlns:a="http://schemas.openxmlformats.org/drawingml/2006/main">
            <a:r>
              <a:t/>
            </a:r>
          </a:p>
          <a:p xmlns:a="http://schemas.openxmlformats.org/drawingml/2006/main">
            <a:r>
              <a:t>[Sources]</a:t>
            </a:r>
          </a:p>
          <a:p xmlns:a="http://schemas.openxmlformats.org/drawingml/2006/main">
            <a:r>
              <a:t>Configurations: config/golovin_fixed50_extended_resolution_convergence.yaml and config/golovin_fixed50_highres_precision_extension.yaml; protocol: docs/experiments/golovin-convergence-protocol.md.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Golovin is useful because it has an analytical mean solution. It is not deterministic: the collision algorithm remains stochastic, particularly for rare large drops. Its special value is that the mean solution can be checked directly, allowing the workflow to be tested before moving to Long, where there is no equivalent analytical population reference.</a:t>
            </a:r>
          </a:p>
          <a:p xmlns:a="http://schemas.openxmlformats.org/drawingml/2006/main">
            <a:r>
              <a:t/>
            </a:r>
          </a:p>
          <a:p xmlns:a="http://schemas.openxmlformats.org/drawingml/2006/main">
            <a:r>
              <a:t>[Sources]</a:t>
            </a:r>
          </a:p>
          <a:p xmlns:a="http://schemas.openxmlformats.org/drawingml/2006/main">
            <a:r>
              <a:t>Shima et al. (2009), doi:10.1002/qj.441; project literature review: docs/literature/golovin-convergence-extension-review.md.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Walk through the conditions. The collision timestep is 0.1 s, selected in an earlier timestep screen. The 3600-s endpoint is a declared benchmark horizon for this analysis; it is not a claim that collision physics ends after one hour. The diagnostic range extends to 5000 µm because coalescence produces drops larger than the 75-µm upper initial support. Output every 600 s matches the registered decision times.</a:t>
            </a:r>
          </a:p>
          <a:p xmlns:a="http://schemas.openxmlformats.org/drawingml/2006/main">
            <a:r>
              <a:t/>
            </a:r>
          </a:p>
          <a:p xmlns:a="http://schemas.openxmlformats.org/drawingml/2006/main">
            <a:r>
              <a:t>[Sources]</a:t>
            </a:r>
          </a:p>
          <a:p xmlns:a="http://schemas.openxmlformats.org/drawingml/2006/main">
            <a:r>
              <a:t>Targeted configuration: config/golovin_fixed50_highres_precision_extension.yaml; balanced configuration: config/golovin_fixed50_extended_resolution_convergence.yaml.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Frozen initialization means that a given resolution uses one fixed, checksum-verified native binary input for every member. We are not resampling the starting DSD for each collision member. The uncertainty therefore comes from collision RNG streams, not from a different initial population. Across resolutions the ensembles are independent and should not be treated as paired trajectories.</a:t>
            </a:r>
          </a:p>
          <a:p xmlns:a="http://schemas.openxmlformats.org/drawingml/2006/main">
            <a:r>
              <a:t/>
            </a:r>
          </a:p>
          <a:p xmlns:a="http://schemas.openxmlformats.org/drawingml/2006/main">
            <a:r>
              <a:t>[Sources]</a:t>
            </a:r>
          </a:p>
          <a:p xmlns:a="http://schemas.openxmlformats.org/drawingml/2006/main">
            <a:r>
              <a:t>Controlled-initialisation method: docs/implementation/golovin-stage0-guide.md; targeted runbook: docs/experiments/golovin-targeted-highres-precision-extension-runbook.md; Unterstrasser et al. (2017), doi:10.5194/gmd-10-1521-2017; Morrison et al. (2024), doi:10.1175/JAS-D-23-0132.1.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No single statistic answers convergence. L1 compares the full mass distribution on common bins. M0 is a bulk number-concentration metric. M6 strongly weights the rare large-drop tail, so it is deliberately hard and physically relevant for reflectivity-like sensitivity. M3 is the liquid-mass conservation check. The hardest result ended up being M6, as expected for a rare-tail diagnostic.</a:t>
            </a:r>
          </a:p>
          <a:p xmlns:a="http://schemas.openxmlformats.org/drawingml/2006/main">
            <a:r>
              <a:t/>
            </a:r>
          </a:p>
          <a:p xmlns:a="http://schemas.openxmlformats.org/drawingml/2006/main">
            <a:r>
              <a:t>[Sources]</a:t>
            </a:r>
          </a:p>
          <a:p xmlns:a="http://schemas.openxmlformats.org/drawingml/2006/main">
            <a:r>
              <a:t>Metric definitions: docs/results/golovin_controlled_convergence_record_2026-08-02.md, section 4; analysis implementation: scripts/analyze_collisions0d.py.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the central decision rule. A flat sequence is not enough: it might be flat and inaccurate. First require analytical agreement, conservation, range coverage and provenance. Then require a one-sided 95% bootstrap upper bound on the absolute change to be no larger than one percentage point. Finally require two consecutive doublings. The 1-pp margin is an absolute, interpretable effect-size tolerance. The earlier ratio-of-successive-improvements concept was explicitly rejected because it is unstable and does not answer the practical-error-budget question.</a:t>
            </a:r>
          </a:p>
          <a:p xmlns:a="http://schemas.openxmlformats.org/drawingml/2006/main">
            <a:r>
              <a:t/>
            </a:r>
          </a:p>
          <a:p xmlns:a="http://schemas.openxmlformats.org/drawingml/2006/main">
            <a:r>
              <a:t>[Sources]</a:t>
            </a:r>
          </a:p>
          <a:p xmlns:a="http://schemas.openxmlformats.org/drawingml/2006/main">
            <a:r>
              <a:t>ADR 0007: docs/decisions/0007-proposed-diminishing-returns-convergence.md; ADR 0009: docs/decisions/0009-fixed50-extended-golovin-design.md; Zmijewski et al. (2024), doi:10.5194/gmd-17-759-2024.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Describe the original balanced design. All nine factor-of-two resolutions have the same 50-member count, making resolution comparisons homogeneous and supporting the formal N/2N/4N decision. The highlighted 128k level is where the formal selection lands, but that conclusion needs the next two levels as confirmation.</a:t>
            </a:r>
          </a:p>
          <a:p xmlns:a="http://schemas.openxmlformats.org/drawingml/2006/main">
            <a:r>
              <a:t/>
            </a:r>
          </a:p>
          <a:p xmlns:a="http://schemas.openxmlformats.org/drawingml/2006/main">
            <a:r>
              <a:t>[Sources]</a:t>
            </a:r>
          </a:p>
          <a:p xmlns:a="http://schemas.openxmlformats.org/drawingml/2006/main">
            <a:r>
              <a:t>Balanced design: docs/decisions/0009-fixed50-extended-golovin-design.md; fixed-50 decision: analysis_v2/resolution/resolution_decision.json.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slide reports the first conclusion only. The original balanced 50-member experiment applied its formal N/2N/4N selection rule and selected 131,072 SDs. Read the plot as uncertainty-aware formal equivalence checks under that protocol. The later 262k targeted result does not replace this; it asks a different practical precision question with more members only at the high-resolution end.</a:t>
            </a:r>
          </a:p>
          <a:p xmlns:a="http://schemas.openxmlformats.org/drawingml/2006/main">
            <a:r>
              <a:t/>
            </a:r>
          </a:p>
          <a:p xmlns:a="http://schemas.openxmlformats.org/drawingml/2006/main">
            <a:r>
              <a:t>[Sources]</a:t>
            </a:r>
          </a:p>
          <a:p xmlns:a="http://schemas.openxmlformats.org/drawingml/2006/main">
            <a:r>
              <a:t>Formal result: balanced analysis_v2/resolution/resolution_decision.json; figure: balanced analysis_v2/resolution/adjacent_resolution_equivalence.png.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original practical rule at 50 members had no selected resolution because one row missed the strict one-percentage-point upper-bound margin: M6 at 3600 s for 262k to 512k was 1.174 pp. Point changes were already small, but the confidence bound was too wide. Adding independent members can reduce uncertainty; a large point difference would instead need more resolution.</a:t>
            </a:r>
          </a:p>
          <a:p xmlns:a="http://schemas.openxmlformats.org/drawingml/2006/main">
            <a:r>
              <a:t/>
            </a:r>
          </a:p>
          <a:p xmlns:a="http://schemas.openxmlformats.org/drawingml/2006/main">
            <a:r>
              <a:t>[Sources]</a:t>
            </a:r>
          </a:p>
          <a:p xmlns:a="http://schemas.openxmlformats.org/drawingml/2006/main">
            <a:r>
              <a:t>Balanced practical decision: analysis_v2/practical/practical_convergence_decision.json; figure: balanced analysis_v2/practical/diminishing_returns.png; ADR 0007.</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not an open-ended sequential search. The follow-up design fixed a block of 100 new independent collision streams at both limiting resolutions before generating the data. Old 50-member groups remain read-only; new member indices are 50 through 149. The 1,024k group was not extended because it already provides the second-doubling confirmation. The combined high-resolution view contains 350 members.</a:t>
            </a:r>
          </a:p>
          <a:p xmlns:a="http://schemas.openxmlformats.org/drawingml/2006/main">
            <a:r>
              <a:t/>
            </a:r>
          </a:p>
          <a:p xmlns:a="http://schemas.openxmlformats.org/drawingml/2006/main">
            <a:r>
              <a:t>[Sources]</a:t>
            </a:r>
          </a:p>
          <a:p xmlns:a="http://schemas.openxmlformats.org/drawingml/2006/main">
            <a:r>
              <a:t>Targeted runbook: docs/experiments/golovin-targeted-highres-precision-extension-runbook.md; configuration: config/golovin_fixed50_highres_precision_extension.yaml.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the principal final result. Green is the acceptance region, not uncertainty shading. Filled circles are the conservative one-sided 95% bootstrap upper bounds; crosses are estimated changes. All points remain within the 0–1 pp band at all six times for L1, M0 and M6, for both 262k→512k and 512k→1,024k. The purple M6 curve approaches the threshold at 60 minutes but stays inside it.</a:t>
            </a:r>
          </a:p>
          <a:p xmlns:a="http://schemas.openxmlformats.org/drawingml/2006/main">
            <a:r>
              <a:t/>
            </a:r>
          </a:p>
          <a:p xmlns:a="http://schemas.openxmlformats.org/drawingml/2006/main">
            <a:r>
              <a:t>[Sources]</a:t>
            </a:r>
          </a:p>
          <a:p xmlns:a="http://schemas.openxmlformats.org/drawingml/2006/main">
            <a:r>
              <a:t>Final practical figure and data: targeted analysis_v1/targeted_practical/targeted_diminishing_returns.png and diminishing_returns.csv.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this table to give exact numbers. These are the largest one-sided 95% upper bounds over every registered 600–3600-s time for each primary 500-bin metric and pair, not cherry-picked values. M6 at 262k to 512k is limiting at 3600 s: point change 0.570 pp, conservative upper bound 0.923 pp, therefore it clears the 1-pp rule.</a:t>
            </a:r>
          </a:p>
          <a:p xmlns:a="http://schemas.openxmlformats.org/drawingml/2006/main">
            <a:r>
              <a:t/>
            </a:r>
          </a:p>
          <a:p xmlns:a="http://schemas.openxmlformats.org/drawingml/2006/main">
            <a:r>
              <a:t>[Sources]</a:t>
            </a:r>
          </a:p>
          <a:p xmlns:a="http://schemas.openxmlformats.org/drawingml/2006/main">
            <a:r>
              <a:t>Final numerical table: targeted analysis_v1/targeted_practical/diminishing_returns.csv; decision: targeted_precision_decision.json.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diminishing-returns decision is meaningful only if the mean solution is valid. The worst 262k L1 upper confidence bound is 0.853% at 1800 s, below the 5% accuracy budget. Maximum liquid-mass drift is 1.155e-9, below the 1e-7 gate, and diagnosed mass outside 1–5000 µm is zero. The practical plateau is therefore not a plateau of an inaccurate or leaking calculation.</a:t>
            </a:r>
          </a:p>
          <a:p xmlns:a="http://schemas.openxmlformats.org/drawingml/2006/main">
            <a:r>
              <a:t/>
            </a:r>
          </a:p>
          <a:p xmlns:a="http://schemas.openxmlformats.org/drawingml/2006/main">
            <a:r>
              <a:t>[Sources]</a:t>
            </a:r>
          </a:p>
          <a:p xmlns:a="http://schemas.openxmlformats.org/drawingml/2006/main">
            <a:r>
              <a:t>Targeted analytical evidence: analysis_v1/targeted_practical/analytical_validity.csv; figure: analysis_v1/resolution/analytical_accuracy.png.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Close with scientific restraint. The work validates a reproducible, uncertainty-aware Golovin workflow. The balanced fixed-50 protocol formally selects 131k; the separate targeted practical follow-up supports 262k. Neither number transfers automatically to Long, a dynamic cloud model or another initialization. We also do not claim variance convergence; this work targets the ensemble mean and selected mean diagnostics. Every step is traceable through frozen input bundles, declared seeds, preserved raw outputs, per-member checks, bootstrap analysis and SHA-256 verification.</a:t>
            </a:r>
          </a:p>
          <a:p xmlns:a="http://schemas.openxmlformats.org/drawingml/2006/main">
            <a:r>
              <a:t/>
            </a:r>
          </a:p>
          <a:p xmlns:a="http://schemas.openxmlformats.org/drawingml/2006/main">
            <a:r>
              <a:t>[Sources]</a:t>
            </a:r>
          </a:p>
          <a:p xmlns:a="http://schemas.openxmlformats.org/drawingml/2006/main">
            <a:r>
              <a:t>Complete record: docs/results/golovin_controlled_convergence_record_2026-08-02.md; formal and targeted decision JSON files listed therein; Zmijewski et al. (2024), doi:10.5194/gmd-17-759-2024.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f458307e1f284978"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87aa1c9550824ccb" /><Relationship Type="http://schemas.openxmlformats.org/officeDocument/2006/relationships/slideLayout" Target="/ppt/slideLayouts/slideLayout1.xml" Id="R3c5aa0f5bf9f4fd0"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3c5aa0f5bf9f4fd0"/>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3c1da63b0f11425f" /><Relationship Type="http://schemas.openxmlformats.org/officeDocument/2006/relationships/notesSlide" Target="/ppt/notesSlides/notesSlide1.xml" Id="R2eb21f14eb824167"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9c110a05fbb042a2" /><Relationship Type="http://schemas.openxmlformats.org/officeDocument/2006/relationships/notesSlide" Target="/ppt/notesSlides/notesSlide2.xml" Id="Rc476b5cdd87c4137"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6367387042ff45d0" /><Relationship Type="http://schemas.openxmlformats.org/officeDocument/2006/relationships/notesSlide" Target="/ppt/notesSlides/notesSlide3.xml" Id="Rc4a909e64393486e"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b2333a7301af4df6" /><Relationship Type="http://schemas.openxmlformats.org/officeDocument/2006/relationships/notesSlide" Target="/ppt/notesSlides/notesSlide4.xml" Id="Rdaf707c4f68e40de"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2d025cd81e0c4126" /><Relationship Type="http://schemas.openxmlformats.org/officeDocument/2006/relationships/notesSlide" Target="/ppt/notesSlides/notesSlide5.xml" Id="Rf246f4093fa6458a"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a743ac7494894331" /><Relationship Type="http://schemas.openxmlformats.org/officeDocument/2006/relationships/notesSlide" Target="/ppt/notesSlides/notesSlide6.xml" Id="Re7e8b5a0feb442d3"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6c418ca94847416e" /><Relationship Type="http://schemas.openxmlformats.org/officeDocument/2006/relationships/notesSlide" Target="/ppt/notesSlides/notesSlide7.xml" Id="R6b09cedbe18c4bee"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5849b2d8bffc41d3" /><Relationship Type="http://schemas.openxmlformats.org/officeDocument/2006/relationships/notesSlide" Target="/ppt/notesSlides/notesSlide8.xml" Id="R33dfabe1a0194d90"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781a49fe28754bbb" /><Relationship Type="http://schemas.openxmlformats.org/officeDocument/2006/relationships/image" Target="/ppt/media/image.png" Id="R2d33507a26084ed0" /><Relationship Type="http://schemas.openxmlformats.org/officeDocument/2006/relationships/notesSlide" Target="/ppt/notesSlides/notesSlide9.xml" Id="R820ef2f56c4e4876"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fc37e993038c4c03" /><Relationship Type="http://schemas.openxmlformats.org/officeDocument/2006/relationships/image" Target="/ppt/media/image2.png" Id="R838017d4f0124ce0" /><Relationship Type="http://schemas.openxmlformats.org/officeDocument/2006/relationships/notesSlide" Target="/ppt/notesSlides/notesSlide10.xml" Id="R84574efef48d43fd"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8a146ab2cdbf401c" /><Relationship Type="http://schemas.openxmlformats.org/officeDocument/2006/relationships/notesSlide" Target="/ppt/notesSlides/notesSlide11.xml" Id="R08603cf2628947f8"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b8ce5113041e4c68" /><Relationship Type="http://schemas.openxmlformats.org/officeDocument/2006/relationships/image" Target="/ppt/media/image3.png" Id="R5cf90553c3334aef" /><Relationship Type="http://schemas.openxmlformats.org/officeDocument/2006/relationships/notesSlide" Target="/ppt/notesSlides/notesSlide12.xml" Id="R0cfdc3550ea94b3a"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7e6e889be58b42d8" /><Relationship Type="http://schemas.openxmlformats.org/officeDocument/2006/relationships/notesSlide" Target="/ppt/notesSlides/notesSlide13.xml" Id="Read529454bd24c77"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443c28685a4b4713" /><Relationship Type="http://schemas.openxmlformats.org/officeDocument/2006/relationships/image" Target="/ppt/media/image4.png" Id="R96ef1a891c60471e" /><Relationship Type="http://schemas.openxmlformats.org/officeDocument/2006/relationships/notesSlide" Target="/ppt/notesSlides/notesSlide14.xml" Id="R9a6e0a0875854ab5"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6570bf4971fd4861" /><Relationship Type="http://schemas.openxmlformats.org/officeDocument/2006/relationships/notesSlide" Target="/ppt/notesSlides/notesSlide15.xml" Id="Rf1b95e331b3949bc"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77A4D76E-FA27-449F-A502-C345C90D008D}"/>
              </a:ext>
            </a:extLst>
          </p:cNvPr>
          <p:cNvSpPr>
            <a:spLocks xmlns:a="http://schemas.openxmlformats.org/drawingml/2006/main" noGrp="1"/>
          </p:cNvSpPr>
          <p:nvPr/>
        </p:nvSpPr>
        <p:spPr>
          <a:xfrm xmlns:a="http://schemas.openxmlformats.org/drawingml/2006/main">
            <a:off x="438150" y="400050"/>
            <a:ext cx="2476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50" b="1" i="0">
                <a:solidFill>
                  <a:srgbClr val="1774D1"/>
                </a:solidFill>
                <a:latin typeface="Helvetica Neue"/>
                <a:ea typeface="Helvetica Neue"/>
                <a:cs typeface="Helvetica Neue"/>
              </a:defRPr>
            </a:pPr>
            <a:r>
              <a:rPr sz="1050" b="1" i="0">
                <a:solidFill>
                  <a:srgbClr val="1774D1"/>
                </a:solidFill>
                <a:latin typeface="Helvetica Neue"/>
                <a:ea typeface="Helvetica Neue"/>
                <a:cs typeface="Helvetica Neue"/>
              </a:rPr>
              <a:t>SDM / CLEO</a:t>
            </a:r>
          </a:p>
        </p:txBody>
      </p:sp>
      <p:sp>
        <p:nvSpPr>
          <p:cNvPr id="2" name="">
            <a:extLst xmlns:a="http://schemas.openxmlformats.org/drawingml/2006/main">
              <a:ext uri="{FF2B5EF4-FFF2-40B4-BE49-F238E27FC236}">
                <a16:creationId xmlns:a16="http://schemas.microsoft.com/office/drawing/2014/main" id="{CA0ADB40-D40D-42F0-8EB8-BED4F652B0B3}"/>
              </a:ext>
            </a:extLst>
          </p:cNvPr>
          <p:cNvSpPr>
            <a:spLocks xmlns:a="http://schemas.openxmlformats.org/drawingml/2006/main" noGrp="1"/>
          </p:cNvSpPr>
          <p:nvPr/>
        </p:nvSpPr>
        <p:spPr>
          <a:xfrm xmlns:a="http://schemas.openxmlformats.org/drawingml/2006/main">
            <a:off x="438150" y="1466850"/>
            <a:ext cx="7810500" cy="1619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4200" b="1" i="0">
                <a:solidFill>
                  <a:srgbClr val="141A24"/>
                </a:solidFill>
                <a:latin typeface="Helvetica Neue"/>
                <a:ea typeface="Helvetica Neue"/>
                <a:cs typeface="Helvetica Neue"/>
              </a:defRPr>
            </a:pPr>
            <a:r>
              <a:rPr sz="4200" b="1" i="0">
                <a:solidFill>
                  <a:srgbClr val="141A24"/>
                </a:solidFill>
                <a:latin typeface="Helvetica Neue"/>
                <a:ea typeface="Helvetica Neue"/>
                <a:cs typeface="Helvetica Neue"/>
              </a:rPr>
              <a:t>Controlled Golovin</a:t>
            </a:r>
          </a:p>
          <a:p xmlns:a="http://schemas.openxmlformats.org/drawingml/2006/main">
            <a:pPr algn="l">
              <a:defRPr sz="4200" b="1" i="0">
                <a:solidFill>
                  <a:srgbClr val="141A24"/>
                </a:solidFill>
                <a:latin typeface="Helvetica Neue"/>
                <a:ea typeface="Helvetica Neue"/>
                <a:cs typeface="Helvetica Neue"/>
              </a:defRPr>
            </a:pPr>
            <a:r>
              <a:rPr sz="4200" b="1" i="0">
                <a:solidFill>
                  <a:srgbClr val="141A24"/>
                </a:solidFill>
                <a:latin typeface="Helvetica Neue"/>
                <a:ea typeface="Helvetica Neue"/>
                <a:cs typeface="Helvetica Neue"/>
              </a:rPr>
              <a:t>convergence calibration</a:t>
            </a:r>
          </a:p>
        </p:txBody>
      </p:sp>
      <p:sp>
        <p:nvSpPr>
          <p:cNvPr id="3" name="">
            <a:extLst xmlns:a="http://schemas.openxmlformats.org/drawingml/2006/main">
              <a:ext uri="{FF2B5EF4-FFF2-40B4-BE49-F238E27FC236}">
                <a16:creationId xmlns:a16="http://schemas.microsoft.com/office/drawing/2014/main" id="{D424A05F-D784-42E9-B07C-3A0DA8060E8D}"/>
              </a:ext>
            </a:extLst>
          </p:cNvPr>
          <p:cNvSpPr>
            <a:spLocks xmlns:a="http://schemas.openxmlformats.org/drawingml/2006/main" noGrp="1"/>
          </p:cNvSpPr>
          <p:nvPr/>
        </p:nvSpPr>
        <p:spPr>
          <a:xfrm xmlns:a="http://schemas.openxmlformats.org/drawingml/2006/main">
            <a:off x="457200" y="3390900"/>
            <a:ext cx="7429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875" b="0" i="0">
                <a:solidFill>
                  <a:srgbClr val="556170"/>
                </a:solidFill>
                <a:latin typeface="Helvetica Neue"/>
                <a:ea typeface="Helvetica Neue"/>
                <a:cs typeface="Helvetica Neue"/>
              </a:defRPr>
            </a:pPr>
            <a:r>
              <a:rPr sz="1875" b="0" i="0">
                <a:solidFill>
                  <a:srgbClr val="556170"/>
                </a:solidFill>
                <a:latin typeface="Helvetica Neue"/>
                <a:ea typeface="Helvetica Neue"/>
                <a:cs typeface="Helvetica Neue"/>
              </a:rPr>
              <a:t>A complete 0-D collision–coalescence evidence record</a:t>
            </a:r>
          </a:p>
        </p:txBody>
      </p:sp>
      <p:cxnSp>
        <p:nvCxnSpPr>
          <p:cNvPr id="11" name=""/>
          <p:cNvCxnSpPr/>
          <p:nvPr/>
        </p:nvCxnSpPr>
        <p:spPr>
          <a:xfrm xmlns:a="http://schemas.openxmlformats.org/drawingml/2006/main">
            <a:off x="457200" y="4495800"/>
            <a:ext cx="11277600" cy="0"/>
          </a:xfrm>
          <a:prstGeom xmlns:a="http://schemas.openxmlformats.org/drawingml/2006/main" prst="straightConnector1">
            <a:avLst/>
          </a:prstGeom>
          <a:ln xmlns:a="http://schemas.openxmlformats.org/drawingml/2006/main" w="9525">
            <a:solidFill>
              <a:srgbClr val="C6CDD5"/>
            </a:solidFill>
            <a:prstDash val="solid"/>
          </a:ln>
        </p:spPr>
      </p:cxnSp>
      <p:sp>
        <p:nvSpPr>
          <p:cNvPr id="5" name="">
            <a:extLst xmlns:a="http://schemas.openxmlformats.org/drawingml/2006/main">
              <a:ext uri="{FF2B5EF4-FFF2-40B4-BE49-F238E27FC236}">
                <a16:creationId xmlns:a16="http://schemas.microsoft.com/office/drawing/2014/main" id="{C802653F-77DB-4BF8-B378-A1ED4E4B1424}"/>
              </a:ext>
            </a:extLst>
          </p:cNvPr>
          <p:cNvSpPr>
            <a:spLocks xmlns:a="http://schemas.openxmlformats.org/drawingml/2006/main" noGrp="1"/>
          </p:cNvSpPr>
          <p:nvPr/>
        </p:nvSpPr>
        <p:spPr>
          <a:xfrm xmlns:a="http://schemas.openxmlformats.org/drawingml/2006/main">
            <a:off x="457200" y="4829175"/>
            <a:ext cx="6858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875" b="1" i="0">
                <a:solidFill>
                  <a:srgbClr val="4D3C93"/>
                </a:solidFill>
                <a:latin typeface="Helvetica Neue"/>
                <a:ea typeface="Helvetica Neue"/>
                <a:cs typeface="Helvetica Neue"/>
              </a:defRPr>
            </a:pPr>
            <a:r>
              <a:rPr sz="1875" b="1" i="0">
                <a:solidFill>
                  <a:srgbClr val="4D3C93"/>
                </a:solidFill>
                <a:latin typeface="Helvetica Neue"/>
                <a:ea typeface="Helvetica Neue"/>
                <a:cs typeface="Helvetica Neue"/>
              </a:rPr>
              <a:t>Formal balanced fixed-50 result: 131,072 SDs</a:t>
            </a:r>
          </a:p>
        </p:txBody>
      </p:sp>
      <p:sp>
        <p:nvSpPr>
          <p:cNvPr id="6" name="">
            <a:extLst xmlns:a="http://schemas.openxmlformats.org/drawingml/2006/main">
              <a:ext uri="{FF2B5EF4-FFF2-40B4-BE49-F238E27FC236}">
                <a16:creationId xmlns:a16="http://schemas.microsoft.com/office/drawing/2014/main" id="{F9B6C287-3573-4EFD-B847-FCF9B196FA3F}"/>
              </a:ext>
            </a:extLst>
          </p:cNvPr>
          <p:cNvSpPr>
            <a:spLocks xmlns:a="http://schemas.openxmlformats.org/drawingml/2006/main" noGrp="1"/>
          </p:cNvSpPr>
          <p:nvPr/>
        </p:nvSpPr>
        <p:spPr>
          <a:xfrm xmlns:a="http://schemas.openxmlformats.org/drawingml/2006/main">
            <a:off x="457200" y="5257800"/>
            <a:ext cx="7524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875" b="1" i="0">
                <a:solidFill>
                  <a:srgbClr val="198754"/>
                </a:solidFill>
                <a:latin typeface="Helvetica Neue"/>
                <a:ea typeface="Helvetica Neue"/>
                <a:cs typeface="Helvetica Neue"/>
              </a:defRPr>
            </a:pPr>
            <a:r>
              <a:rPr sz="1875" b="1" i="0">
                <a:solidFill>
                  <a:srgbClr val="198754"/>
                </a:solidFill>
                <a:latin typeface="Helvetica Neue"/>
                <a:ea typeface="Helvetica Neue"/>
                <a:cs typeface="Helvetica Neue"/>
              </a:rPr>
              <a:t>Separate targeted practical follow-up: 262,144 SDs</a:t>
            </a:r>
          </a:p>
        </p:txBody>
      </p:sp>
      <p:sp>
        <p:nvSpPr>
          <p:cNvPr id="7" name="">
            <a:extLst xmlns:a="http://schemas.openxmlformats.org/drawingml/2006/main">
              <a:ext uri="{FF2B5EF4-FFF2-40B4-BE49-F238E27FC236}">
                <a16:creationId xmlns:a16="http://schemas.microsoft.com/office/drawing/2014/main" id="{033E1BD8-153B-4671-B6E5-FB7C07FA56A5}"/>
              </a:ext>
            </a:extLst>
          </p:cNvPr>
          <p:cNvSpPr>
            <a:spLocks xmlns:a="http://schemas.openxmlformats.org/drawingml/2006/main" noGrp="1"/>
          </p:cNvSpPr>
          <p:nvPr/>
        </p:nvSpPr>
        <p:spPr>
          <a:xfrm xmlns:a="http://schemas.openxmlformats.org/drawingml/2006/main">
            <a:off x="457200" y="6134100"/>
            <a:ext cx="723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50" b="0" i="0">
                <a:solidFill>
                  <a:srgbClr val="556170"/>
                </a:solidFill>
                <a:latin typeface="Helvetica Neue"/>
                <a:ea typeface="Helvetica Neue"/>
                <a:cs typeface="Helvetica Neue"/>
              </a:defRPr>
            </a:pPr>
            <a:r>
              <a:rPr sz="1050" b="0" i="0">
                <a:solidFill>
                  <a:srgbClr val="556170"/>
                </a:solidFill>
                <a:latin typeface="Helvetica Neue"/>
                <a:ea typeface="Helvetica Neue"/>
                <a:cs typeface="Helvetica Neue"/>
              </a:rPr>
              <a:t>Prepared for discussion with Dr. Clara Bayley • 02 August 2026</a:t>
            </a:r>
          </a:p>
        </p:txBody>
      </p:sp>
    </p:spTree>
    <p:extLst>
      <p:ext uri="{BB962C8B-B14F-4D97-AF65-F5344CB8AC3E}">
        <p14:creationId xmlns:p14="http://schemas.microsoft.com/office/powerpoint/2010/main" val="543075881"/>
      </p:ext>
    </p:extLst>
  </p:cSld>
</p:sld>
</file>

<file path=ppt/slides/slide2.xml><?xml version="1.0" encoding="utf-8"?>
<p:sld xmlns:p="http://schemas.openxmlformats.org/presentationml/2006/main">
  <p:cSld>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EC7EFC02-819C-4AAE-85FD-A1E2A7DB979A}"/>
              </a:ext>
            </a:extLst>
          </p:cNvPr>
          <p:cNvSpPr>
            <a:spLocks xmlns:a="http://schemas.openxmlformats.org/drawingml/2006/main" noGrp="1"/>
          </p:cNvSpPr>
          <p:nvPr/>
        </p:nvSpPr>
        <p:spPr>
          <a:xfrm xmlns:a="http://schemas.openxmlformats.org/drawingml/2006/main">
            <a:off x="400050" y="285750"/>
            <a:ext cx="7239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1" i="0">
                <a:solidFill>
                  <a:srgbClr val="1774D1"/>
                </a:solidFill>
                <a:latin typeface="Helvetica Neue"/>
                <a:ea typeface="Helvetica Neue"/>
                <a:cs typeface="Helvetica Neue"/>
              </a:defRPr>
            </a:pPr>
            <a:r>
              <a:rPr sz="900" b="1" i="0">
                <a:solidFill>
                  <a:srgbClr val="1774D1"/>
                </a:solidFill>
                <a:latin typeface="Helvetica Neue"/>
                <a:ea typeface="Helvetica Neue"/>
                <a:cs typeface="Helvetica Neue"/>
              </a:rPr>
              <a:t>GOLOVIN CONVERGENCE CALIBRATION</a:t>
            </a:r>
          </a:p>
        </p:txBody>
      </p:sp>
      <p:sp>
        <p:nvSpPr>
          <p:cNvPr id="2" name="">
            <a:extLst xmlns:a="http://schemas.openxmlformats.org/drawingml/2006/main">
              <a:ext uri="{FF2B5EF4-FFF2-40B4-BE49-F238E27FC236}">
                <a16:creationId xmlns:a16="http://schemas.microsoft.com/office/drawing/2014/main" id="{74EC890D-DD09-4DAC-9360-8585FA269019}"/>
              </a:ext>
            </a:extLst>
          </p:cNvPr>
          <p:cNvSpPr>
            <a:spLocks xmlns:a="http://schemas.openxmlformats.org/drawingml/2006/main" noGrp="1"/>
          </p:cNvSpPr>
          <p:nvPr/>
        </p:nvSpPr>
        <p:spPr>
          <a:xfrm xmlns:a="http://schemas.openxmlformats.org/drawingml/2006/main">
            <a:off x="400050" y="590550"/>
            <a:ext cx="113728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625" b="1" i="0">
                <a:solidFill>
                  <a:srgbClr val="141A24"/>
                </a:solidFill>
                <a:latin typeface="Helvetica Neue"/>
                <a:ea typeface="Helvetica Neue"/>
                <a:cs typeface="Helvetica Neue"/>
              </a:defRPr>
            </a:pPr>
            <a:r>
              <a:rPr sz="2625" b="1" i="0">
                <a:solidFill>
                  <a:srgbClr val="141A24"/>
                </a:solidFill>
                <a:latin typeface="Helvetica Neue"/>
                <a:ea typeface="Helvetica Neue"/>
                <a:cs typeface="Helvetica Neue"/>
              </a:rPr>
              <a:t>The question is numerical—not yet a cloud-physics claim</a:t>
            </a:r>
          </a:p>
        </p:txBody>
      </p:sp>
      <p:cxnSp>
        <p:nvCxnSpPr>
          <p:cNvPr id="22" name=""/>
          <p:cNvCxnSpPr/>
          <p:nvPr/>
        </p:nvCxnSpPr>
        <p:spPr>
          <a:xfrm xmlns:a="http://schemas.openxmlformats.org/drawingml/2006/main">
            <a:off x="400050" y="6343650"/>
            <a:ext cx="11391900" cy="0"/>
          </a:xfrm>
          <a:prstGeom xmlns:a="http://schemas.openxmlformats.org/drawingml/2006/main" prst="straightConnector1">
            <a:avLst/>
          </a:prstGeom>
          <a:ln xmlns:a="http://schemas.openxmlformats.org/drawingml/2006/main" w="9525">
            <a:solidFill>
              <a:srgbClr val="C6CDD5"/>
            </a:solidFill>
            <a:prstDash val="solid"/>
          </a:ln>
        </p:spPr>
      </p:cxnSp>
      <p:sp>
        <p:nvSpPr>
          <p:cNvPr id="4" name="">
            <a:extLst xmlns:a="http://schemas.openxmlformats.org/drawingml/2006/main">
              <a:ext uri="{FF2B5EF4-FFF2-40B4-BE49-F238E27FC236}">
                <a16:creationId xmlns:a16="http://schemas.microsoft.com/office/drawing/2014/main" id="{3C282060-FD89-400C-A1B8-54E787F846B7}"/>
              </a:ext>
            </a:extLst>
          </p:cNvPr>
          <p:cNvSpPr>
            <a:spLocks xmlns:a="http://schemas.openxmlformats.org/drawingml/2006/main" noGrp="1"/>
          </p:cNvSpPr>
          <p:nvPr/>
        </p:nvSpPr>
        <p:spPr>
          <a:xfrm xmlns:a="http://schemas.openxmlformats.org/drawingml/2006/main">
            <a:off x="400050" y="6457950"/>
            <a:ext cx="4095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825" b="0" i="0">
                <a:solidFill>
                  <a:srgbClr val="556170"/>
                </a:solidFill>
                <a:latin typeface="Helvetica Neue"/>
                <a:ea typeface="Helvetica Neue"/>
                <a:cs typeface="Helvetica Neue"/>
              </a:defRPr>
            </a:pPr>
            <a:r>
              <a:rPr sz="825" b="0" i="0">
                <a:solidFill>
                  <a:srgbClr val="556170"/>
                </a:solidFill>
                <a:latin typeface="Helvetica Neue"/>
                <a:ea typeface="Helvetica Neue"/>
                <a:cs typeface="Helvetica Neue"/>
              </a:rPr>
              <a:t>CLEO controlled Golovin calibration</a:t>
            </a:r>
          </a:p>
        </p:txBody>
      </p:sp>
      <p:sp>
        <p:nvSpPr>
          <p:cNvPr id="5" name="">
            <a:extLst xmlns:a="http://schemas.openxmlformats.org/drawingml/2006/main">
              <a:ext uri="{FF2B5EF4-FFF2-40B4-BE49-F238E27FC236}">
                <a16:creationId xmlns:a16="http://schemas.microsoft.com/office/drawing/2014/main" id="{5E891A3C-E887-462C-BD1A-CBA953D993A3}"/>
              </a:ext>
            </a:extLst>
          </p:cNvPr>
          <p:cNvSpPr>
            <a:spLocks xmlns:a="http://schemas.openxmlformats.org/drawingml/2006/main" noGrp="1"/>
          </p:cNvSpPr>
          <p:nvPr/>
        </p:nvSpPr>
        <p:spPr>
          <a:xfrm xmlns:a="http://schemas.openxmlformats.org/drawingml/2006/main">
            <a:off x="9191625" y="6457950"/>
            <a:ext cx="1524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825" b="0" i="0">
                <a:solidFill>
                  <a:srgbClr val="556170"/>
                </a:solidFill>
                <a:latin typeface="Helvetica Neue"/>
                <a:ea typeface="Helvetica Neue"/>
                <a:cs typeface="Helvetica Neue"/>
              </a:defRPr>
            </a:pPr>
            <a:r>
              <a:rPr sz="825" b="0" i="0">
                <a:solidFill>
                  <a:srgbClr val="556170"/>
                </a:solidFill>
                <a:latin typeface="Helvetica Neue"/>
                <a:ea typeface="Helvetica Neue"/>
                <a:cs typeface="Helvetica Neue"/>
              </a:rPr>
              <a:t>02 AUG 2026</a:t>
            </a:r>
          </a:p>
        </p:txBody>
      </p:sp>
      <p:sp>
        <p:nvSpPr>
          <p:cNvPr id="6" name="">
            <a:extLst xmlns:a="http://schemas.openxmlformats.org/drawingml/2006/main">
              <a:ext uri="{FF2B5EF4-FFF2-40B4-BE49-F238E27FC236}">
                <a16:creationId xmlns:a16="http://schemas.microsoft.com/office/drawing/2014/main" id="{5EDFD5DA-E59D-4922-8C57-2D6992E1A26D}"/>
              </a:ext>
            </a:extLst>
          </p:cNvPr>
          <p:cNvSpPr>
            <a:spLocks xmlns:a="http://schemas.openxmlformats.org/drawingml/2006/main" noGrp="1"/>
          </p:cNvSpPr>
          <p:nvPr/>
        </p:nvSpPr>
        <p:spPr>
          <a:xfrm xmlns:a="http://schemas.openxmlformats.org/drawingml/2006/main">
            <a:off x="11049000" y="6438900"/>
            <a:ext cx="7429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00" b="1" i="0">
                <a:solidFill>
                  <a:srgbClr val="141A24"/>
                </a:solidFill>
                <a:latin typeface="Helvetica Neue"/>
                <a:ea typeface="Helvetica Neue"/>
                <a:cs typeface="Helvetica Neue"/>
              </a:defRPr>
            </a:pPr>
            <a:r>
              <a:rPr sz="900" b="1" i="0">
                <a:solidFill>
                  <a:srgbClr val="141A24"/>
                </a:solidFill>
                <a:latin typeface="Helvetica Neue"/>
                <a:ea typeface="Helvetica Neue"/>
                <a:cs typeface="Helvetica Neue"/>
              </a:rPr>
              <a:t>02</a:t>
            </a:r>
          </a:p>
        </p:txBody>
      </p:sp>
      <p:sp>
        <p:nvSpPr>
          <p:cNvPr id="7" name="">
            <a:extLst xmlns:a="http://schemas.openxmlformats.org/drawingml/2006/main">
              <a:ext uri="{FF2B5EF4-FFF2-40B4-BE49-F238E27FC236}">
                <a16:creationId xmlns:a16="http://schemas.microsoft.com/office/drawing/2014/main" id="{53CDDE6F-557A-4FC2-AC63-02163A9C22A0}"/>
              </a:ext>
            </a:extLst>
          </p:cNvPr>
          <p:cNvSpPr>
            <a:spLocks xmlns:a="http://schemas.openxmlformats.org/drawingml/2006/main" noGrp="1"/>
          </p:cNvSpPr>
          <p:nvPr/>
        </p:nvSpPr>
        <p:spPr>
          <a:xfrm xmlns:a="http://schemas.openxmlformats.org/drawingml/2006/main">
            <a:off x="400050" y="1447800"/>
            <a:ext cx="6619875" cy="933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025" b="1" i="0">
                <a:solidFill>
                  <a:srgbClr val="141A24"/>
                </a:solidFill>
                <a:latin typeface="Helvetica Neue"/>
                <a:ea typeface="Helvetica Neue"/>
                <a:cs typeface="Helvetica Neue"/>
              </a:defRPr>
            </a:pPr>
            <a:r>
              <a:rPr sz="2025" b="1" i="0">
                <a:solidFill>
                  <a:srgbClr val="141A24"/>
                </a:solidFill>
                <a:latin typeface="Helvetica Neue"/>
                <a:ea typeface="Helvetica Neue"/>
                <a:cs typeface="Helvetica Neue"/>
              </a:rPr>
              <a:t>What is the smallest SD resolution beyond which another doubling does not change the chosen mean diagnostics by a material amount?</a:t>
            </a:r>
          </a:p>
        </p:txBody>
      </p:sp>
      <p:sp>
        <p:nvSpPr>
          <p:cNvPr id="8" name="">
            <a:extLst xmlns:a="http://schemas.openxmlformats.org/drawingml/2006/main">
              <a:ext uri="{FF2B5EF4-FFF2-40B4-BE49-F238E27FC236}">
                <a16:creationId xmlns:a16="http://schemas.microsoft.com/office/drawing/2014/main" id="{B4576D56-2947-4114-AD51-DB59399A0388}"/>
              </a:ext>
            </a:extLst>
          </p:cNvPr>
          <p:cNvSpPr>
            <a:spLocks xmlns:a="http://schemas.openxmlformats.org/drawingml/2006/main" noGrp="1"/>
          </p:cNvSpPr>
          <p:nvPr/>
        </p:nvSpPr>
        <p:spPr>
          <a:xfrm xmlns:a="http://schemas.openxmlformats.org/drawingml/2006/main">
            <a:off x="457200" y="2809875"/>
            <a:ext cx="190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650" b="1" i="0">
                <a:solidFill>
                  <a:srgbClr val="1774D1"/>
                </a:solidFill>
                <a:latin typeface="Helvetica Neue"/>
                <a:ea typeface="Helvetica Neue"/>
                <a:cs typeface="Helvetica Neue"/>
              </a:defRPr>
            </a:pPr>
            <a:r>
              <a:rPr sz="1650" b="1" i="0">
                <a:solidFill>
                  <a:srgbClr val="1774D1"/>
                </a:solidFill>
                <a:latin typeface="Helvetica Neue"/>
                <a:ea typeface="Helvetica Neue"/>
                <a:cs typeface="Helvetica Neue"/>
              </a:rPr>
              <a:t>•</a:t>
            </a:r>
          </a:p>
        </p:txBody>
      </p:sp>
      <p:sp>
        <p:nvSpPr>
          <p:cNvPr id="9" name="">
            <a:extLst xmlns:a="http://schemas.openxmlformats.org/drawingml/2006/main">
              <a:ext uri="{FF2B5EF4-FFF2-40B4-BE49-F238E27FC236}">
                <a16:creationId xmlns:a16="http://schemas.microsoft.com/office/drawing/2014/main" id="{415BC933-3F42-432E-A27A-CD7DD021F459}"/>
              </a:ext>
            </a:extLst>
          </p:cNvPr>
          <p:cNvSpPr>
            <a:spLocks xmlns:a="http://schemas.openxmlformats.org/drawingml/2006/main" noGrp="1"/>
          </p:cNvSpPr>
          <p:nvPr/>
        </p:nvSpPr>
        <p:spPr>
          <a:xfrm xmlns:a="http://schemas.openxmlformats.org/drawingml/2006/main">
            <a:off x="695325" y="2809875"/>
            <a:ext cx="58102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425" b="0" i="0">
                <a:solidFill>
                  <a:srgbClr val="141A24"/>
                </a:solidFill>
                <a:latin typeface="Helvetica Neue"/>
                <a:ea typeface="Helvetica Neue"/>
                <a:cs typeface="Helvetica Neue"/>
              </a:defRPr>
            </a:pPr>
            <a:r>
              <a:rPr sz="1425" b="0" i="0">
                <a:solidFill>
                  <a:srgbClr val="141A24"/>
                </a:solidFill>
                <a:latin typeface="Helvetica Neue"/>
                <a:ea typeface="Helvetica Neue"/>
                <a:cs typeface="Helvetica Neue"/>
              </a:rPr>
              <a:t>One 0-D box: no transport, no coupling, no sedimentation.</a:t>
            </a:r>
          </a:p>
        </p:txBody>
      </p:sp>
      <p:sp>
        <p:nvSpPr>
          <p:cNvPr id="10" name="">
            <a:extLst xmlns:a="http://schemas.openxmlformats.org/drawingml/2006/main">
              <a:ext uri="{FF2B5EF4-FFF2-40B4-BE49-F238E27FC236}">
                <a16:creationId xmlns:a16="http://schemas.microsoft.com/office/drawing/2014/main" id="{5E47CDC3-E5E8-40FD-AD34-0AA3F902E9F8}"/>
              </a:ext>
            </a:extLst>
          </p:cNvPr>
          <p:cNvSpPr>
            <a:spLocks xmlns:a="http://schemas.openxmlformats.org/drawingml/2006/main" noGrp="1"/>
          </p:cNvSpPr>
          <p:nvPr/>
        </p:nvSpPr>
        <p:spPr>
          <a:xfrm xmlns:a="http://schemas.openxmlformats.org/drawingml/2006/main">
            <a:off x="457200" y="3381375"/>
            <a:ext cx="190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650" b="1" i="0">
                <a:solidFill>
                  <a:srgbClr val="1774D1"/>
                </a:solidFill>
                <a:latin typeface="Helvetica Neue"/>
                <a:ea typeface="Helvetica Neue"/>
                <a:cs typeface="Helvetica Neue"/>
              </a:defRPr>
            </a:pPr>
            <a:r>
              <a:rPr sz="1650" b="1" i="0">
                <a:solidFill>
                  <a:srgbClr val="1774D1"/>
                </a:solidFill>
                <a:latin typeface="Helvetica Neue"/>
                <a:ea typeface="Helvetica Neue"/>
                <a:cs typeface="Helvetica Neue"/>
              </a:rPr>
              <a:t>•</a:t>
            </a:r>
          </a:p>
        </p:txBody>
      </p:sp>
      <p:sp>
        <p:nvSpPr>
          <p:cNvPr id="11" name="">
            <a:extLst xmlns:a="http://schemas.openxmlformats.org/drawingml/2006/main">
              <a:ext uri="{FF2B5EF4-FFF2-40B4-BE49-F238E27FC236}">
                <a16:creationId xmlns:a16="http://schemas.microsoft.com/office/drawing/2014/main" id="{2B897F40-3CC0-41B8-B803-307758EDB1D5}"/>
              </a:ext>
            </a:extLst>
          </p:cNvPr>
          <p:cNvSpPr>
            <a:spLocks xmlns:a="http://schemas.openxmlformats.org/drawingml/2006/main" noGrp="1"/>
          </p:cNvSpPr>
          <p:nvPr/>
        </p:nvSpPr>
        <p:spPr>
          <a:xfrm xmlns:a="http://schemas.openxmlformats.org/drawingml/2006/main">
            <a:off x="695325" y="3381375"/>
            <a:ext cx="58102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425" b="0" i="0">
                <a:solidFill>
                  <a:srgbClr val="141A24"/>
                </a:solidFill>
                <a:latin typeface="Helvetica Neue"/>
                <a:ea typeface="Helvetica Neue"/>
                <a:cs typeface="Helvetica Neue"/>
              </a:defRPr>
            </a:pPr>
            <a:r>
              <a:rPr sz="1425" b="0" i="0">
                <a:solidFill>
                  <a:srgbClr val="141A24"/>
                </a:solidFill>
                <a:latin typeface="Helvetica Neue"/>
                <a:ea typeface="Helvetica Neue"/>
                <a:cs typeface="Helvetica Neue"/>
              </a:rPr>
              <a:t>Collision–coalescence is the only active physical process.</a:t>
            </a:r>
          </a:p>
        </p:txBody>
      </p:sp>
      <p:sp>
        <p:nvSpPr>
          <p:cNvPr id="12" name="">
            <a:extLst xmlns:a="http://schemas.openxmlformats.org/drawingml/2006/main">
              <a:ext uri="{FF2B5EF4-FFF2-40B4-BE49-F238E27FC236}">
                <a16:creationId xmlns:a16="http://schemas.microsoft.com/office/drawing/2014/main" id="{ADDC636A-A01E-45B1-9AD2-43AEBCC30882}"/>
              </a:ext>
            </a:extLst>
          </p:cNvPr>
          <p:cNvSpPr>
            <a:spLocks xmlns:a="http://schemas.openxmlformats.org/drawingml/2006/main" noGrp="1"/>
          </p:cNvSpPr>
          <p:nvPr/>
        </p:nvSpPr>
        <p:spPr>
          <a:xfrm xmlns:a="http://schemas.openxmlformats.org/drawingml/2006/main">
            <a:off x="457200" y="3952875"/>
            <a:ext cx="190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650" b="1" i="0">
                <a:solidFill>
                  <a:srgbClr val="1774D1"/>
                </a:solidFill>
                <a:latin typeface="Helvetica Neue"/>
                <a:ea typeface="Helvetica Neue"/>
                <a:cs typeface="Helvetica Neue"/>
              </a:defRPr>
            </a:pPr>
            <a:r>
              <a:rPr sz="1650" b="1" i="0">
                <a:solidFill>
                  <a:srgbClr val="1774D1"/>
                </a:solidFill>
                <a:latin typeface="Helvetica Neue"/>
                <a:ea typeface="Helvetica Neue"/>
                <a:cs typeface="Helvetica Neue"/>
              </a:rPr>
              <a:t>•</a:t>
            </a:r>
          </a:p>
        </p:txBody>
      </p:sp>
      <p:sp>
        <p:nvSpPr>
          <p:cNvPr id="13" name="">
            <a:extLst xmlns:a="http://schemas.openxmlformats.org/drawingml/2006/main">
              <a:ext uri="{FF2B5EF4-FFF2-40B4-BE49-F238E27FC236}">
                <a16:creationId xmlns:a16="http://schemas.microsoft.com/office/drawing/2014/main" id="{BAC152EF-DA96-4253-9BBE-BEBD3881C06C}"/>
              </a:ext>
            </a:extLst>
          </p:cNvPr>
          <p:cNvSpPr>
            <a:spLocks xmlns:a="http://schemas.openxmlformats.org/drawingml/2006/main" noGrp="1"/>
          </p:cNvSpPr>
          <p:nvPr/>
        </p:nvSpPr>
        <p:spPr>
          <a:xfrm xmlns:a="http://schemas.openxmlformats.org/drawingml/2006/main">
            <a:off x="695325" y="3952875"/>
            <a:ext cx="58102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425" b="0" i="0">
                <a:solidFill>
                  <a:srgbClr val="141A24"/>
                </a:solidFill>
                <a:latin typeface="Helvetica Neue"/>
                <a:ea typeface="Helvetica Neue"/>
                <a:cs typeface="Helvetica Neue"/>
              </a:defRPr>
            </a:pPr>
            <a:r>
              <a:rPr sz="1425" b="0" i="0">
                <a:solidFill>
                  <a:srgbClr val="141A24"/>
                </a:solidFill>
                <a:latin typeface="Helvetica Neue"/>
                <a:ea typeface="Helvetica Neue"/>
                <a:cs typeface="Helvetica Neue"/>
              </a:rPr>
              <a:t>The ensemble mean is compared with an analytical Golovin reference.</a:t>
            </a:r>
          </a:p>
        </p:txBody>
      </p:sp>
      <p:sp>
        <p:nvSpPr>
          <p:cNvPr id="14" name="">
            <a:extLst xmlns:a="http://schemas.openxmlformats.org/drawingml/2006/main">
              <a:ext uri="{FF2B5EF4-FFF2-40B4-BE49-F238E27FC236}">
                <a16:creationId xmlns:a16="http://schemas.microsoft.com/office/drawing/2014/main" id="{791CCF93-3D35-4D1E-80EA-6BB757441551}"/>
              </a:ext>
            </a:extLst>
          </p:cNvPr>
          <p:cNvSpPr>
            <a:spLocks xmlns:a="http://schemas.openxmlformats.org/drawingml/2006/main" noGrp="1"/>
          </p:cNvSpPr>
          <p:nvPr/>
        </p:nvSpPr>
        <p:spPr>
          <a:xfrm xmlns:a="http://schemas.openxmlformats.org/drawingml/2006/main">
            <a:off x="7334250" y="1666875"/>
            <a:ext cx="3905250" cy="3429000"/>
          </a:xfrm>
          <a:prstGeom xmlns:a="http://schemas.openxmlformats.org/drawingml/2006/main" prst="rect">
            <a:avLst/>
          </a:prstGeom>
          <a:solidFill xmlns:a="http://schemas.openxmlformats.org/drawingml/2006/main">
            <a:srgbClr val="F6F8FA"/>
          </a:solidFill>
          <a:ln xmlns:a="http://schemas.openxmlformats.org/drawingml/2006/main" w="9525">
            <a:solidFill>
              <a:srgbClr val="C6CDD5"/>
            </a:solidFill>
            <a:prstDash val="solid"/>
          </a:ln>
        </p:spPr>
      </p:sp>
      <p:sp>
        <p:nvSpPr>
          <p:cNvPr id="15" name="">
            <a:extLst xmlns:a="http://schemas.openxmlformats.org/drawingml/2006/main">
              <a:ext uri="{FF2B5EF4-FFF2-40B4-BE49-F238E27FC236}">
                <a16:creationId xmlns:a16="http://schemas.microsoft.com/office/drawing/2014/main" id="{2D83FF4F-F1BB-45AB-BD8C-30E6C200C926}"/>
              </a:ext>
            </a:extLst>
          </p:cNvPr>
          <p:cNvSpPr>
            <a:spLocks xmlns:a="http://schemas.openxmlformats.org/drawingml/2006/main" noGrp="1"/>
          </p:cNvSpPr>
          <p:nvPr/>
        </p:nvSpPr>
        <p:spPr>
          <a:xfrm xmlns:a="http://schemas.openxmlformats.org/drawingml/2006/main">
            <a:off x="7686675" y="1952625"/>
            <a:ext cx="190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825" b="1" i="0">
                <a:solidFill>
                  <a:srgbClr val="556170"/>
                </a:solidFill>
                <a:latin typeface="Helvetica Neue"/>
                <a:ea typeface="Helvetica Neue"/>
                <a:cs typeface="Helvetica Neue"/>
              </a:defRPr>
            </a:pPr>
            <a:r>
              <a:rPr sz="825" b="1" i="0">
                <a:solidFill>
                  <a:srgbClr val="556170"/>
                </a:solidFill>
                <a:latin typeface="Helvetica Neue"/>
                <a:ea typeface="Helvetica Neue"/>
                <a:cs typeface="Helvetica Neue"/>
              </a:rPr>
              <a:t>MODELLED VOLUME</a:t>
            </a:r>
          </a:p>
        </p:txBody>
      </p:sp>
      <p:sp>
        <p:nvSpPr>
          <p:cNvPr id="16" name="">
            <a:extLst xmlns:a="http://schemas.openxmlformats.org/drawingml/2006/main">
              <a:ext uri="{FF2B5EF4-FFF2-40B4-BE49-F238E27FC236}">
                <a16:creationId xmlns:a16="http://schemas.microsoft.com/office/drawing/2014/main" id="{2CDF4F3D-FCEA-486D-8DBF-8059261F2FC5}"/>
              </a:ext>
            </a:extLst>
          </p:cNvPr>
          <p:cNvSpPr>
            <a:spLocks xmlns:a="http://schemas.openxmlformats.org/drawingml/2006/main" noGrp="1"/>
          </p:cNvSpPr>
          <p:nvPr/>
        </p:nvSpPr>
        <p:spPr>
          <a:xfrm xmlns:a="http://schemas.openxmlformats.org/drawingml/2006/main">
            <a:off x="7810500" y="2457450"/>
            <a:ext cx="2952750" cy="1666875"/>
          </a:xfrm>
          <a:prstGeom xmlns:a="http://schemas.openxmlformats.org/drawingml/2006/main" prst="rect">
            <a:avLst/>
          </a:prstGeom>
          <a:solidFill xmlns:a="http://schemas.openxmlformats.org/drawingml/2006/main">
            <a:srgbClr val="FFFFFF"/>
          </a:solidFill>
          <a:ln xmlns:a="http://schemas.openxmlformats.org/drawingml/2006/main" w="9525">
            <a:solidFill>
              <a:srgbClr val="1774D1"/>
            </a:solidFill>
            <a:prstDash val="solid"/>
          </a:ln>
        </p:spPr>
      </p:sp>
      <p:sp>
        <p:nvSpPr>
          <p:cNvPr id="17" name="">
            <a:extLst xmlns:a="http://schemas.openxmlformats.org/drawingml/2006/main">
              <a:ext uri="{FF2B5EF4-FFF2-40B4-BE49-F238E27FC236}">
                <a16:creationId xmlns:a16="http://schemas.microsoft.com/office/drawing/2014/main" id="{E9854D9D-6BCC-4090-BC70-9F2E460FC3A0}"/>
              </a:ext>
            </a:extLst>
          </p:cNvPr>
          <p:cNvSpPr>
            <a:spLocks xmlns:a="http://schemas.openxmlformats.org/drawingml/2006/main" noGrp="1"/>
          </p:cNvSpPr>
          <p:nvPr/>
        </p:nvSpPr>
        <p:spPr>
          <a:xfrm xmlns:a="http://schemas.openxmlformats.org/drawingml/2006/main">
            <a:off x="8096250" y="2781300"/>
            <a:ext cx="23812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2250" b="1" i="0">
                <a:solidFill>
                  <a:srgbClr val="141A24"/>
                </a:solidFill>
                <a:latin typeface="Helvetica Neue"/>
                <a:ea typeface="Helvetica Neue"/>
                <a:cs typeface="Helvetica Neue"/>
              </a:defRPr>
            </a:pPr>
            <a:r>
              <a:rPr sz="2250" b="1" i="0">
                <a:solidFill>
                  <a:srgbClr val="141A24"/>
                </a:solidFill>
                <a:latin typeface="Helvetica Neue"/>
                <a:ea typeface="Helvetica Neue"/>
                <a:cs typeface="Helvetica Neue"/>
              </a:rPr>
              <a:t>one 0-D</a:t>
            </a:r>
          </a:p>
          <a:p xmlns:a="http://schemas.openxmlformats.org/drawingml/2006/main">
            <a:pPr algn="ctr">
              <a:defRPr sz="2250" b="1" i="0">
                <a:solidFill>
                  <a:srgbClr val="141A24"/>
                </a:solidFill>
                <a:latin typeface="Helvetica Neue"/>
                <a:ea typeface="Helvetica Neue"/>
                <a:cs typeface="Helvetica Neue"/>
              </a:defRPr>
            </a:pPr>
            <a:r>
              <a:rPr sz="2250" b="1" i="0">
                <a:solidFill>
                  <a:srgbClr val="141A24"/>
                </a:solidFill>
                <a:latin typeface="Helvetica Neue"/>
                <a:ea typeface="Helvetica Neue"/>
                <a:cs typeface="Helvetica Neue"/>
              </a:rPr>
              <a:t>collision box</a:t>
            </a:r>
          </a:p>
        </p:txBody>
      </p:sp>
      <p:sp>
        <p:nvSpPr>
          <p:cNvPr id="18" name="">
            <a:extLst xmlns:a="http://schemas.openxmlformats.org/drawingml/2006/main">
              <a:ext uri="{FF2B5EF4-FFF2-40B4-BE49-F238E27FC236}">
                <a16:creationId xmlns:a16="http://schemas.microsoft.com/office/drawing/2014/main" id="{FFF952EC-5E2D-4023-8E9B-42D79FAEC721}"/>
              </a:ext>
            </a:extLst>
          </p:cNvPr>
          <p:cNvSpPr>
            <a:spLocks xmlns:a="http://schemas.openxmlformats.org/drawingml/2006/main" noGrp="1"/>
          </p:cNvSpPr>
          <p:nvPr/>
        </p:nvSpPr>
        <p:spPr>
          <a:xfrm xmlns:a="http://schemas.openxmlformats.org/drawingml/2006/main">
            <a:off x="7981950" y="3638550"/>
            <a:ext cx="26098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125" b="0" i="0">
                <a:solidFill>
                  <a:srgbClr val="556170"/>
                </a:solidFill>
                <a:latin typeface="Helvetica Neue"/>
                <a:ea typeface="Helvetica Neue"/>
                <a:cs typeface="Helvetica Neue"/>
              </a:defRPr>
            </a:pPr>
            <a:r>
              <a:rPr sz="1125" b="0" i="0">
                <a:solidFill>
                  <a:srgbClr val="556170"/>
                </a:solidFill>
                <a:latin typeface="Helvetica Neue"/>
                <a:ea typeface="Helvetica Neue"/>
                <a:cs typeface="Helvetica Neue"/>
              </a:rPr>
              <a:t>superdroplets collide and coalesce</a:t>
            </a:r>
          </a:p>
        </p:txBody>
      </p:sp>
      <p:sp>
        <p:nvSpPr>
          <p:cNvPr id="19" name="">
            <a:extLst xmlns:a="http://schemas.openxmlformats.org/drawingml/2006/main">
              <a:ext uri="{FF2B5EF4-FFF2-40B4-BE49-F238E27FC236}">
                <a16:creationId xmlns:a16="http://schemas.microsoft.com/office/drawing/2014/main" id="{F25E3201-3447-4D7F-91F1-D7705E104210}"/>
              </a:ext>
            </a:extLst>
          </p:cNvPr>
          <p:cNvSpPr>
            <a:spLocks xmlns:a="http://schemas.openxmlformats.org/drawingml/2006/main" noGrp="1"/>
          </p:cNvSpPr>
          <p:nvPr/>
        </p:nvSpPr>
        <p:spPr>
          <a:xfrm xmlns:a="http://schemas.openxmlformats.org/drawingml/2006/main">
            <a:off x="7620000" y="4514850"/>
            <a:ext cx="3333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050" b="0" i="0">
                <a:solidFill>
                  <a:srgbClr val="556170"/>
                </a:solidFill>
                <a:latin typeface="Helvetica Neue"/>
                <a:ea typeface="Helvetica Neue"/>
                <a:cs typeface="Helvetica Neue"/>
              </a:defRPr>
            </a:pPr>
            <a:r>
              <a:rPr sz="1050" b="0" i="0">
                <a:solidFill>
                  <a:srgbClr val="556170"/>
                </a:solidFill>
                <a:latin typeface="Helvetica Neue"/>
                <a:ea typeface="Helvetica Neue"/>
                <a:cs typeface="Helvetica Neue"/>
              </a:rPr>
              <a:t>No condensation • no dynamics • no fallout</a:t>
            </a:r>
          </a:p>
        </p:txBody>
      </p:sp>
    </p:spTree>
    <p:extLst>
      <p:ext uri="{BB962C8B-B14F-4D97-AF65-F5344CB8AC3E}">
        <p14:creationId xmlns:p14="http://schemas.microsoft.com/office/powerpoint/2010/main" val="685031609"/>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86408724-B0A5-4346-A4F7-716DCCB29D79}"/>
              </a:ext>
            </a:extLst>
          </p:cNvPr>
          <p:cNvSpPr>
            <a:spLocks xmlns:a="http://schemas.openxmlformats.org/drawingml/2006/main" noGrp="1"/>
          </p:cNvSpPr>
          <p:nvPr/>
        </p:nvSpPr>
        <p:spPr>
          <a:xfrm xmlns:a="http://schemas.openxmlformats.org/drawingml/2006/main">
            <a:off x="400050" y="285750"/>
            <a:ext cx="7239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1" i="0">
                <a:solidFill>
                  <a:srgbClr val="1774D1"/>
                </a:solidFill>
                <a:latin typeface="Helvetica Neue"/>
                <a:ea typeface="Helvetica Neue"/>
                <a:cs typeface="Helvetica Neue"/>
              </a:defRPr>
            </a:pPr>
            <a:r>
              <a:rPr sz="900" b="1" i="0">
                <a:solidFill>
                  <a:srgbClr val="1774D1"/>
                </a:solidFill>
                <a:latin typeface="Helvetica Neue"/>
                <a:ea typeface="Helvetica Neue"/>
                <a:cs typeface="Helvetica Neue"/>
              </a:rPr>
              <a:t>GOLOVIN CONVERGENCE CALIBRATION</a:t>
            </a:r>
          </a:p>
        </p:txBody>
      </p:sp>
      <p:sp>
        <p:nvSpPr>
          <p:cNvPr id="2" name="">
            <a:extLst xmlns:a="http://schemas.openxmlformats.org/drawingml/2006/main">
              <a:ext uri="{FF2B5EF4-FFF2-40B4-BE49-F238E27FC236}">
                <a16:creationId xmlns:a16="http://schemas.microsoft.com/office/drawing/2014/main" id="{4F0B7D2D-37D0-4F58-8E62-A6A9063F11D2}"/>
              </a:ext>
            </a:extLst>
          </p:cNvPr>
          <p:cNvSpPr>
            <a:spLocks xmlns:a="http://schemas.openxmlformats.org/drawingml/2006/main" noGrp="1"/>
          </p:cNvSpPr>
          <p:nvPr/>
        </p:nvSpPr>
        <p:spPr>
          <a:xfrm xmlns:a="http://schemas.openxmlformats.org/drawingml/2006/main">
            <a:off x="400050" y="590550"/>
            <a:ext cx="113728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625" b="1" i="0">
                <a:solidFill>
                  <a:srgbClr val="141A24"/>
                </a:solidFill>
                <a:latin typeface="Helvetica Neue"/>
                <a:ea typeface="Helvetica Neue"/>
                <a:cs typeface="Helvetica Neue"/>
              </a:defRPr>
            </a:pPr>
            <a:r>
              <a:rPr sz="2625" b="1" i="0">
                <a:solidFill>
                  <a:srgbClr val="141A24"/>
                </a:solidFill>
                <a:latin typeface="Helvetica Neue"/>
                <a:ea typeface="Helvetica Neue"/>
                <a:cs typeface="Helvetica Neue"/>
              </a:rPr>
              <a:t>Golovin provides a reference before the project moves to Long</a:t>
            </a:r>
          </a:p>
        </p:txBody>
      </p:sp>
      <p:cxnSp>
        <p:nvCxnSpPr>
          <p:cNvPr id="23" name=""/>
          <p:cNvCxnSpPr/>
          <p:nvPr/>
        </p:nvCxnSpPr>
        <p:spPr>
          <a:xfrm xmlns:a="http://schemas.openxmlformats.org/drawingml/2006/main">
            <a:off x="400050" y="6343650"/>
            <a:ext cx="11391900" cy="0"/>
          </a:xfrm>
          <a:prstGeom xmlns:a="http://schemas.openxmlformats.org/drawingml/2006/main" prst="straightConnector1">
            <a:avLst/>
          </a:prstGeom>
          <a:ln xmlns:a="http://schemas.openxmlformats.org/drawingml/2006/main" w="9525">
            <a:solidFill>
              <a:srgbClr val="C6CDD5"/>
            </a:solidFill>
            <a:prstDash val="solid"/>
          </a:ln>
        </p:spPr>
      </p:cxnSp>
      <p:sp>
        <p:nvSpPr>
          <p:cNvPr id="4" name="">
            <a:extLst xmlns:a="http://schemas.openxmlformats.org/drawingml/2006/main">
              <a:ext uri="{FF2B5EF4-FFF2-40B4-BE49-F238E27FC236}">
                <a16:creationId xmlns:a16="http://schemas.microsoft.com/office/drawing/2014/main" id="{36092CF5-2724-4F94-8431-1E0F8CFC6CF4}"/>
              </a:ext>
            </a:extLst>
          </p:cNvPr>
          <p:cNvSpPr>
            <a:spLocks xmlns:a="http://schemas.openxmlformats.org/drawingml/2006/main" noGrp="1"/>
          </p:cNvSpPr>
          <p:nvPr/>
        </p:nvSpPr>
        <p:spPr>
          <a:xfrm xmlns:a="http://schemas.openxmlformats.org/drawingml/2006/main">
            <a:off x="400050" y="6457950"/>
            <a:ext cx="4095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825" b="0" i="0">
                <a:solidFill>
                  <a:srgbClr val="556170"/>
                </a:solidFill>
                <a:latin typeface="Helvetica Neue"/>
                <a:ea typeface="Helvetica Neue"/>
                <a:cs typeface="Helvetica Neue"/>
              </a:defRPr>
            </a:pPr>
            <a:r>
              <a:rPr sz="825" b="0" i="0">
                <a:solidFill>
                  <a:srgbClr val="556170"/>
                </a:solidFill>
                <a:latin typeface="Helvetica Neue"/>
                <a:ea typeface="Helvetica Neue"/>
                <a:cs typeface="Helvetica Neue"/>
              </a:rPr>
              <a:t>CLEO controlled Golovin calibration</a:t>
            </a:r>
          </a:p>
        </p:txBody>
      </p:sp>
      <p:sp>
        <p:nvSpPr>
          <p:cNvPr id="5" name="">
            <a:extLst xmlns:a="http://schemas.openxmlformats.org/drawingml/2006/main">
              <a:ext uri="{FF2B5EF4-FFF2-40B4-BE49-F238E27FC236}">
                <a16:creationId xmlns:a16="http://schemas.microsoft.com/office/drawing/2014/main" id="{2B1E0B0F-A3C4-4C0A-AE41-EF2CE05B5009}"/>
              </a:ext>
            </a:extLst>
          </p:cNvPr>
          <p:cNvSpPr>
            <a:spLocks xmlns:a="http://schemas.openxmlformats.org/drawingml/2006/main" noGrp="1"/>
          </p:cNvSpPr>
          <p:nvPr/>
        </p:nvSpPr>
        <p:spPr>
          <a:xfrm xmlns:a="http://schemas.openxmlformats.org/drawingml/2006/main">
            <a:off x="9191625" y="6457950"/>
            <a:ext cx="1524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825" b="0" i="0">
                <a:solidFill>
                  <a:srgbClr val="556170"/>
                </a:solidFill>
                <a:latin typeface="Helvetica Neue"/>
                <a:ea typeface="Helvetica Neue"/>
                <a:cs typeface="Helvetica Neue"/>
              </a:defRPr>
            </a:pPr>
            <a:r>
              <a:rPr sz="825" b="0" i="0">
                <a:solidFill>
                  <a:srgbClr val="556170"/>
                </a:solidFill>
                <a:latin typeface="Helvetica Neue"/>
                <a:ea typeface="Helvetica Neue"/>
                <a:cs typeface="Helvetica Neue"/>
              </a:rPr>
              <a:t>02 AUG 2026</a:t>
            </a:r>
          </a:p>
        </p:txBody>
      </p:sp>
      <p:sp>
        <p:nvSpPr>
          <p:cNvPr id="6" name="">
            <a:extLst xmlns:a="http://schemas.openxmlformats.org/drawingml/2006/main">
              <a:ext uri="{FF2B5EF4-FFF2-40B4-BE49-F238E27FC236}">
                <a16:creationId xmlns:a16="http://schemas.microsoft.com/office/drawing/2014/main" id="{2498B39E-72DA-4713-8758-DE3A5BF8825F}"/>
              </a:ext>
            </a:extLst>
          </p:cNvPr>
          <p:cNvSpPr>
            <a:spLocks xmlns:a="http://schemas.openxmlformats.org/drawingml/2006/main" noGrp="1"/>
          </p:cNvSpPr>
          <p:nvPr/>
        </p:nvSpPr>
        <p:spPr>
          <a:xfrm xmlns:a="http://schemas.openxmlformats.org/drawingml/2006/main">
            <a:off x="11049000" y="6438900"/>
            <a:ext cx="7429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00" b="1" i="0">
                <a:solidFill>
                  <a:srgbClr val="141A24"/>
                </a:solidFill>
                <a:latin typeface="Helvetica Neue"/>
                <a:ea typeface="Helvetica Neue"/>
                <a:cs typeface="Helvetica Neue"/>
              </a:defRPr>
            </a:pPr>
            <a:r>
              <a:rPr sz="900" b="1" i="0">
                <a:solidFill>
                  <a:srgbClr val="141A24"/>
                </a:solidFill>
                <a:latin typeface="Helvetica Neue"/>
                <a:ea typeface="Helvetica Neue"/>
                <a:cs typeface="Helvetica Neue"/>
              </a:rPr>
              <a:t>03</a:t>
            </a:r>
          </a:p>
        </p:txBody>
      </p:sp>
      <p:sp>
        <p:nvSpPr>
          <p:cNvPr id="7" name="">
            <a:extLst xmlns:a="http://schemas.openxmlformats.org/drawingml/2006/main">
              <a:ext uri="{FF2B5EF4-FFF2-40B4-BE49-F238E27FC236}">
                <a16:creationId xmlns:a16="http://schemas.microsoft.com/office/drawing/2014/main" id="{A14F54D1-C4A0-49A1-8A69-2A2C9EF98859}"/>
              </a:ext>
            </a:extLst>
          </p:cNvPr>
          <p:cNvSpPr>
            <a:spLocks xmlns:a="http://schemas.openxmlformats.org/drawingml/2006/main" noGrp="1"/>
          </p:cNvSpPr>
          <p:nvPr/>
        </p:nvSpPr>
        <p:spPr>
          <a:xfrm xmlns:a="http://schemas.openxmlformats.org/drawingml/2006/main">
            <a:off x="590550" y="2000250"/>
            <a:ext cx="3009900" cy="2238375"/>
          </a:xfrm>
          <a:prstGeom xmlns:a="http://schemas.openxmlformats.org/drawingml/2006/main" prst="rect">
            <a:avLst/>
          </a:prstGeom>
          <a:solidFill xmlns:a="http://schemas.openxmlformats.org/drawingml/2006/main">
            <a:srgbClr val="F6F8FA"/>
          </a:solidFill>
          <a:ln xmlns:a="http://schemas.openxmlformats.org/drawingml/2006/main" w="9525">
            <a:solidFill>
              <a:srgbClr val="C6CDD5"/>
            </a:solidFill>
            <a:prstDash val="solid"/>
          </a:ln>
        </p:spPr>
      </p:sp>
      <p:sp>
        <p:nvSpPr>
          <p:cNvPr id="8" name="">
            <a:extLst xmlns:a="http://schemas.openxmlformats.org/drawingml/2006/main">
              <a:ext uri="{FF2B5EF4-FFF2-40B4-BE49-F238E27FC236}">
                <a16:creationId xmlns:a16="http://schemas.microsoft.com/office/drawing/2014/main" id="{6A71CCE1-5017-4B0A-96ED-9887AB654858}"/>
              </a:ext>
            </a:extLst>
          </p:cNvPr>
          <p:cNvSpPr>
            <a:spLocks xmlns:a="http://schemas.openxmlformats.org/drawingml/2006/main" noGrp="1"/>
          </p:cNvSpPr>
          <p:nvPr/>
        </p:nvSpPr>
        <p:spPr>
          <a:xfrm xmlns:a="http://schemas.openxmlformats.org/drawingml/2006/main">
            <a:off x="819150" y="2305050"/>
            <a:ext cx="255270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875" b="1" i="0">
                <a:solidFill>
                  <a:srgbClr val="141A24"/>
                </a:solidFill>
                <a:latin typeface="Helvetica Neue"/>
                <a:ea typeface="Helvetica Neue"/>
                <a:cs typeface="Helvetica Neue"/>
              </a:defRPr>
            </a:pPr>
            <a:r>
              <a:rPr sz="1875" b="1" i="0">
                <a:solidFill>
                  <a:srgbClr val="141A24"/>
                </a:solidFill>
                <a:latin typeface="Helvetica Neue"/>
                <a:ea typeface="Helvetica Neue"/>
                <a:cs typeface="Helvetica Neue"/>
              </a:rPr>
              <a:t>1. Controlled</a:t>
            </a:r>
          </a:p>
          <a:p xmlns:a="http://schemas.openxmlformats.org/drawingml/2006/main">
            <a:pPr algn="l">
              <a:defRPr sz="1875" b="1" i="0">
                <a:solidFill>
                  <a:srgbClr val="141A24"/>
                </a:solidFill>
                <a:latin typeface="Helvetica Neue"/>
                <a:ea typeface="Helvetica Neue"/>
                <a:cs typeface="Helvetica Neue"/>
              </a:defRPr>
            </a:pPr>
            <a:r>
              <a:rPr sz="1875" b="1" i="0">
                <a:solidFill>
                  <a:srgbClr val="141A24"/>
                </a:solidFill>
                <a:latin typeface="Helvetica Neue"/>
                <a:ea typeface="Helvetica Neue"/>
                <a:cs typeface="Helvetica Neue"/>
              </a:rPr>
              <a:t>starting population</a:t>
            </a:r>
          </a:p>
        </p:txBody>
      </p:sp>
      <p:sp>
        <p:nvSpPr>
          <p:cNvPr id="9" name="">
            <a:extLst xmlns:a="http://schemas.openxmlformats.org/drawingml/2006/main">
              <a:ext uri="{FF2B5EF4-FFF2-40B4-BE49-F238E27FC236}">
                <a16:creationId xmlns:a16="http://schemas.microsoft.com/office/drawing/2014/main" id="{D667AFB0-F40B-40F9-8BEC-FB553559F726}"/>
              </a:ext>
            </a:extLst>
          </p:cNvPr>
          <p:cNvSpPr>
            <a:spLocks xmlns:a="http://schemas.openxmlformats.org/drawingml/2006/main" noGrp="1"/>
          </p:cNvSpPr>
          <p:nvPr/>
        </p:nvSpPr>
        <p:spPr>
          <a:xfrm xmlns:a="http://schemas.openxmlformats.org/drawingml/2006/main">
            <a:off x="819150" y="3267075"/>
            <a:ext cx="25527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75" b="0" i="0">
                <a:solidFill>
                  <a:srgbClr val="556170"/>
                </a:solidFill>
                <a:latin typeface="Helvetica Neue"/>
                <a:ea typeface="Helvetica Neue"/>
                <a:cs typeface="Helvetica Neue"/>
              </a:defRPr>
            </a:pPr>
            <a:r>
              <a:rPr sz="1275" b="0" i="0">
                <a:solidFill>
                  <a:srgbClr val="556170"/>
                </a:solidFill>
                <a:latin typeface="Helvetica Neue"/>
                <a:ea typeface="Helvetica Neue"/>
                <a:cs typeface="Helvetica Neue"/>
              </a:rPr>
              <a:t>Known, immutable input at every resolution</a:t>
            </a:r>
          </a:p>
        </p:txBody>
      </p:sp>
      <p:cxnSp>
        <p:nvCxnSpPr>
          <p:cNvPr id="30" name=""/>
          <p:cNvCxnSpPr/>
          <p:nvPr/>
        </p:nvCxnSpPr>
        <p:spPr>
          <a:xfrm xmlns:a="http://schemas.openxmlformats.org/drawingml/2006/main">
            <a:off x="3590925" y="3105150"/>
            <a:ext cx="628650" cy="0"/>
          </a:xfrm>
          <a:prstGeom xmlns:a="http://schemas.openxmlformats.org/drawingml/2006/main" prst="straightConnector1">
            <a:avLst/>
          </a:prstGeom>
          <a:ln xmlns:a="http://schemas.openxmlformats.org/drawingml/2006/main" w="19050">
            <a:solidFill>
              <a:srgbClr val="1774D1"/>
            </a:solidFill>
            <a:prstDash val="solid"/>
          </a:ln>
        </p:spPr>
      </p:cxnSp>
      <p:sp>
        <p:nvSpPr>
          <p:cNvPr id="11" name="">
            <a:extLst xmlns:a="http://schemas.openxmlformats.org/drawingml/2006/main">
              <a:ext uri="{FF2B5EF4-FFF2-40B4-BE49-F238E27FC236}">
                <a16:creationId xmlns:a16="http://schemas.microsoft.com/office/drawing/2014/main" id="{0D5C46B6-4FD3-4630-A1B4-03486038DB1B}"/>
              </a:ext>
            </a:extLst>
          </p:cNvPr>
          <p:cNvSpPr>
            <a:spLocks xmlns:a="http://schemas.openxmlformats.org/drawingml/2006/main" noGrp="1"/>
          </p:cNvSpPr>
          <p:nvPr/>
        </p:nvSpPr>
        <p:spPr>
          <a:xfrm xmlns:a="http://schemas.openxmlformats.org/drawingml/2006/main">
            <a:off x="3686175" y="2886075"/>
            <a:ext cx="381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2250" b="1" i="0">
                <a:solidFill>
                  <a:srgbClr val="1774D1"/>
                </a:solidFill>
                <a:latin typeface="Helvetica Neue"/>
                <a:ea typeface="Helvetica Neue"/>
                <a:cs typeface="Helvetica Neue"/>
              </a:defRPr>
            </a:pPr>
            <a:r>
              <a:rPr sz="2250" b="1" i="0">
                <a:solidFill>
                  <a:srgbClr val="1774D1"/>
                </a:solidFill>
                <a:latin typeface="Helvetica Neue"/>
                <a:ea typeface="Helvetica Neue"/>
                <a:cs typeface="Helvetica Neue"/>
              </a:rPr>
              <a:t>→</a:t>
            </a:r>
          </a:p>
        </p:txBody>
      </p:sp>
      <p:sp>
        <p:nvSpPr>
          <p:cNvPr id="12" name="">
            <a:extLst xmlns:a="http://schemas.openxmlformats.org/drawingml/2006/main">
              <a:ext uri="{FF2B5EF4-FFF2-40B4-BE49-F238E27FC236}">
                <a16:creationId xmlns:a16="http://schemas.microsoft.com/office/drawing/2014/main" id="{3BFC9112-FC61-4E16-BC5E-D692699F961E}"/>
              </a:ext>
            </a:extLst>
          </p:cNvPr>
          <p:cNvSpPr>
            <a:spLocks xmlns:a="http://schemas.openxmlformats.org/drawingml/2006/main" noGrp="1"/>
          </p:cNvSpPr>
          <p:nvPr/>
        </p:nvSpPr>
        <p:spPr>
          <a:xfrm xmlns:a="http://schemas.openxmlformats.org/drawingml/2006/main">
            <a:off x="4210050" y="2000250"/>
            <a:ext cx="3009900" cy="2238375"/>
          </a:xfrm>
          <a:prstGeom xmlns:a="http://schemas.openxmlformats.org/drawingml/2006/main" prst="rect">
            <a:avLst/>
          </a:prstGeom>
          <a:solidFill xmlns:a="http://schemas.openxmlformats.org/drawingml/2006/main">
            <a:srgbClr val="F6F8FA"/>
          </a:solidFill>
          <a:ln xmlns:a="http://schemas.openxmlformats.org/drawingml/2006/main" w="9525">
            <a:solidFill>
              <a:srgbClr val="C6CDD5"/>
            </a:solidFill>
            <a:prstDash val="solid"/>
          </a:ln>
        </p:spPr>
      </p:sp>
      <p:sp>
        <p:nvSpPr>
          <p:cNvPr id="13" name="">
            <a:extLst xmlns:a="http://schemas.openxmlformats.org/drawingml/2006/main">
              <a:ext uri="{FF2B5EF4-FFF2-40B4-BE49-F238E27FC236}">
                <a16:creationId xmlns:a16="http://schemas.microsoft.com/office/drawing/2014/main" id="{92D9B3A1-2789-408F-A593-2DD257B33EE4}"/>
              </a:ext>
            </a:extLst>
          </p:cNvPr>
          <p:cNvSpPr>
            <a:spLocks xmlns:a="http://schemas.openxmlformats.org/drawingml/2006/main" noGrp="1"/>
          </p:cNvSpPr>
          <p:nvPr/>
        </p:nvSpPr>
        <p:spPr>
          <a:xfrm xmlns:a="http://schemas.openxmlformats.org/drawingml/2006/main">
            <a:off x="4438650" y="2305050"/>
            <a:ext cx="255270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875" b="1" i="0">
                <a:solidFill>
                  <a:srgbClr val="141A24"/>
                </a:solidFill>
                <a:latin typeface="Helvetica Neue"/>
                <a:ea typeface="Helvetica Neue"/>
                <a:cs typeface="Helvetica Neue"/>
              </a:defRPr>
            </a:pPr>
            <a:r>
              <a:rPr sz="1875" b="1" i="0">
                <a:solidFill>
                  <a:srgbClr val="141A24"/>
                </a:solidFill>
                <a:latin typeface="Helvetica Neue"/>
                <a:ea typeface="Helvetica Neue"/>
                <a:cs typeface="Helvetica Neue"/>
              </a:rPr>
              <a:t>2. Stochastic CLEO</a:t>
            </a:r>
          </a:p>
          <a:p xmlns:a="http://schemas.openxmlformats.org/drawingml/2006/main">
            <a:pPr algn="l">
              <a:defRPr sz="1875" b="1" i="0">
                <a:solidFill>
                  <a:srgbClr val="141A24"/>
                </a:solidFill>
                <a:latin typeface="Helvetica Neue"/>
                <a:ea typeface="Helvetica Neue"/>
                <a:cs typeface="Helvetica Neue"/>
              </a:defRPr>
            </a:pPr>
            <a:r>
              <a:rPr sz="1875" b="1" i="0">
                <a:solidFill>
                  <a:srgbClr val="141A24"/>
                </a:solidFill>
                <a:latin typeface="Helvetica Neue"/>
                <a:ea typeface="Helvetica Neue"/>
                <a:cs typeface="Helvetica Neue"/>
              </a:rPr>
              <a:t>collision algorithm</a:t>
            </a:r>
          </a:p>
        </p:txBody>
      </p:sp>
      <p:sp>
        <p:nvSpPr>
          <p:cNvPr id="14" name="">
            <a:extLst xmlns:a="http://schemas.openxmlformats.org/drawingml/2006/main">
              <a:ext uri="{FF2B5EF4-FFF2-40B4-BE49-F238E27FC236}">
                <a16:creationId xmlns:a16="http://schemas.microsoft.com/office/drawing/2014/main" id="{D104ED0B-813B-4B31-B99E-2DF87284E269}"/>
              </a:ext>
            </a:extLst>
          </p:cNvPr>
          <p:cNvSpPr>
            <a:spLocks xmlns:a="http://schemas.openxmlformats.org/drawingml/2006/main" noGrp="1"/>
          </p:cNvSpPr>
          <p:nvPr/>
        </p:nvSpPr>
        <p:spPr>
          <a:xfrm xmlns:a="http://schemas.openxmlformats.org/drawingml/2006/main">
            <a:off x="4438650" y="3267075"/>
            <a:ext cx="25527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75" b="0" i="0">
                <a:solidFill>
                  <a:srgbClr val="556170"/>
                </a:solidFill>
                <a:latin typeface="Helvetica Neue"/>
                <a:ea typeface="Helvetica Neue"/>
                <a:cs typeface="Helvetica Neue"/>
              </a:defRPr>
            </a:pPr>
            <a:r>
              <a:rPr sz="1275" b="0" i="0">
                <a:solidFill>
                  <a:srgbClr val="556170"/>
                </a:solidFill>
                <a:latin typeface="Helvetica Neue"/>
                <a:ea typeface="Helvetica Neue"/>
                <a:cs typeface="Helvetica Neue"/>
              </a:rPr>
              <a:t>Independent collision histories create an ensemble</a:t>
            </a:r>
          </a:p>
        </p:txBody>
      </p:sp>
      <p:cxnSp>
        <p:nvCxnSpPr>
          <p:cNvPr id="35" name=""/>
          <p:cNvCxnSpPr/>
          <p:nvPr/>
        </p:nvCxnSpPr>
        <p:spPr>
          <a:xfrm xmlns:a="http://schemas.openxmlformats.org/drawingml/2006/main">
            <a:off x="7210425" y="3105150"/>
            <a:ext cx="628650" cy="0"/>
          </a:xfrm>
          <a:prstGeom xmlns:a="http://schemas.openxmlformats.org/drawingml/2006/main" prst="straightConnector1">
            <a:avLst/>
          </a:prstGeom>
          <a:ln xmlns:a="http://schemas.openxmlformats.org/drawingml/2006/main" w="19050">
            <a:solidFill>
              <a:srgbClr val="1774D1"/>
            </a:solidFill>
            <a:prstDash val="solid"/>
          </a:ln>
        </p:spPr>
      </p:cxnSp>
      <p:sp>
        <p:nvSpPr>
          <p:cNvPr id="16" name="">
            <a:extLst xmlns:a="http://schemas.openxmlformats.org/drawingml/2006/main">
              <a:ext uri="{FF2B5EF4-FFF2-40B4-BE49-F238E27FC236}">
                <a16:creationId xmlns:a16="http://schemas.microsoft.com/office/drawing/2014/main" id="{6C673A6A-2A40-4A85-8A64-863C727E2DDA}"/>
              </a:ext>
            </a:extLst>
          </p:cNvPr>
          <p:cNvSpPr>
            <a:spLocks xmlns:a="http://schemas.openxmlformats.org/drawingml/2006/main" noGrp="1"/>
          </p:cNvSpPr>
          <p:nvPr/>
        </p:nvSpPr>
        <p:spPr>
          <a:xfrm xmlns:a="http://schemas.openxmlformats.org/drawingml/2006/main">
            <a:off x="7305675" y="2886075"/>
            <a:ext cx="381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2250" b="1" i="0">
                <a:solidFill>
                  <a:srgbClr val="1774D1"/>
                </a:solidFill>
                <a:latin typeface="Helvetica Neue"/>
                <a:ea typeface="Helvetica Neue"/>
                <a:cs typeface="Helvetica Neue"/>
              </a:defRPr>
            </a:pPr>
            <a:r>
              <a:rPr sz="2250" b="1" i="0">
                <a:solidFill>
                  <a:srgbClr val="1774D1"/>
                </a:solidFill>
                <a:latin typeface="Helvetica Neue"/>
                <a:ea typeface="Helvetica Neue"/>
                <a:cs typeface="Helvetica Neue"/>
              </a:rPr>
              <a:t>→</a:t>
            </a:r>
          </a:p>
        </p:txBody>
      </p:sp>
      <p:sp>
        <p:nvSpPr>
          <p:cNvPr id="17" name="">
            <a:extLst xmlns:a="http://schemas.openxmlformats.org/drawingml/2006/main">
              <a:ext uri="{FF2B5EF4-FFF2-40B4-BE49-F238E27FC236}">
                <a16:creationId xmlns:a16="http://schemas.microsoft.com/office/drawing/2014/main" id="{4BF87791-ED51-4F10-BE58-35442FC95E0B}"/>
              </a:ext>
            </a:extLst>
          </p:cNvPr>
          <p:cNvSpPr>
            <a:spLocks xmlns:a="http://schemas.openxmlformats.org/drawingml/2006/main" noGrp="1"/>
          </p:cNvSpPr>
          <p:nvPr/>
        </p:nvSpPr>
        <p:spPr>
          <a:xfrm xmlns:a="http://schemas.openxmlformats.org/drawingml/2006/main">
            <a:off x="7829550" y="2000250"/>
            <a:ext cx="3009900" cy="2238375"/>
          </a:xfrm>
          <a:prstGeom xmlns:a="http://schemas.openxmlformats.org/drawingml/2006/main" prst="rect">
            <a:avLst/>
          </a:prstGeom>
          <a:solidFill xmlns:a="http://schemas.openxmlformats.org/drawingml/2006/main">
            <a:srgbClr val="E8F2FF"/>
          </a:solidFill>
          <a:ln xmlns:a="http://schemas.openxmlformats.org/drawingml/2006/main" w="9525">
            <a:solidFill>
              <a:srgbClr val="C6CDD5"/>
            </a:solidFill>
            <a:prstDash val="solid"/>
          </a:ln>
        </p:spPr>
      </p:sp>
      <p:sp>
        <p:nvSpPr>
          <p:cNvPr id="18" name="">
            <a:extLst xmlns:a="http://schemas.openxmlformats.org/drawingml/2006/main">
              <a:ext uri="{FF2B5EF4-FFF2-40B4-BE49-F238E27FC236}">
                <a16:creationId xmlns:a16="http://schemas.microsoft.com/office/drawing/2014/main" id="{B6D06984-74D7-4400-B91D-92D0842E5B71}"/>
              </a:ext>
            </a:extLst>
          </p:cNvPr>
          <p:cNvSpPr>
            <a:spLocks xmlns:a="http://schemas.openxmlformats.org/drawingml/2006/main" noGrp="1"/>
          </p:cNvSpPr>
          <p:nvPr/>
        </p:nvSpPr>
        <p:spPr>
          <a:xfrm xmlns:a="http://schemas.openxmlformats.org/drawingml/2006/main">
            <a:off x="8058150" y="2305050"/>
            <a:ext cx="255270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875" b="1" i="0">
                <a:solidFill>
                  <a:srgbClr val="141A24"/>
                </a:solidFill>
                <a:latin typeface="Helvetica Neue"/>
                <a:ea typeface="Helvetica Neue"/>
                <a:cs typeface="Helvetica Neue"/>
              </a:defRPr>
            </a:pPr>
            <a:r>
              <a:rPr sz="1875" b="1" i="0">
                <a:solidFill>
                  <a:srgbClr val="141A24"/>
                </a:solidFill>
                <a:latin typeface="Helvetica Neue"/>
                <a:ea typeface="Helvetica Neue"/>
                <a:cs typeface="Helvetica Neue"/>
              </a:rPr>
              <a:t>3. Analytical</a:t>
            </a:r>
          </a:p>
          <a:p xmlns:a="http://schemas.openxmlformats.org/drawingml/2006/main">
            <a:pPr algn="l">
              <a:defRPr sz="1875" b="1" i="0">
                <a:solidFill>
                  <a:srgbClr val="141A24"/>
                </a:solidFill>
                <a:latin typeface="Helvetica Neue"/>
                <a:ea typeface="Helvetica Neue"/>
                <a:cs typeface="Helvetica Neue"/>
              </a:defRPr>
            </a:pPr>
            <a:r>
              <a:rPr sz="1875" b="1" i="0">
                <a:solidFill>
                  <a:srgbClr val="141A24"/>
                </a:solidFill>
                <a:latin typeface="Helvetica Neue"/>
                <a:ea typeface="Helvetica Neue"/>
                <a:cs typeface="Helvetica Neue"/>
              </a:rPr>
              <a:t>mean reference</a:t>
            </a:r>
          </a:p>
        </p:txBody>
      </p:sp>
      <p:sp>
        <p:nvSpPr>
          <p:cNvPr id="19" name="">
            <a:extLst xmlns:a="http://schemas.openxmlformats.org/drawingml/2006/main">
              <a:ext uri="{FF2B5EF4-FFF2-40B4-BE49-F238E27FC236}">
                <a16:creationId xmlns:a16="http://schemas.microsoft.com/office/drawing/2014/main" id="{5D1AFEBA-A7A7-4531-BE93-95B52DEF6787}"/>
              </a:ext>
            </a:extLst>
          </p:cNvPr>
          <p:cNvSpPr>
            <a:spLocks xmlns:a="http://schemas.openxmlformats.org/drawingml/2006/main" noGrp="1"/>
          </p:cNvSpPr>
          <p:nvPr/>
        </p:nvSpPr>
        <p:spPr>
          <a:xfrm xmlns:a="http://schemas.openxmlformats.org/drawingml/2006/main">
            <a:off x="8058150" y="3267075"/>
            <a:ext cx="25527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75" b="0" i="0">
                <a:solidFill>
                  <a:srgbClr val="556170"/>
                </a:solidFill>
                <a:latin typeface="Helvetica Neue"/>
                <a:ea typeface="Helvetica Neue"/>
                <a:cs typeface="Helvetica Neue"/>
              </a:defRPr>
            </a:pPr>
            <a:r>
              <a:rPr sz="1275" b="0" i="0">
                <a:solidFill>
                  <a:srgbClr val="556170"/>
                </a:solidFill>
                <a:latin typeface="Helvetica Neue"/>
                <a:ea typeface="Helvetica Neue"/>
                <a:cs typeface="Helvetica Neue"/>
              </a:rPr>
              <a:t>Direct check of the ensemble-mean distribution</a:t>
            </a:r>
          </a:p>
        </p:txBody>
      </p:sp>
      <p:sp>
        <p:nvSpPr>
          <p:cNvPr id="20" name="">
            <a:extLst xmlns:a="http://schemas.openxmlformats.org/drawingml/2006/main">
              <a:ext uri="{FF2B5EF4-FFF2-40B4-BE49-F238E27FC236}">
                <a16:creationId xmlns:a16="http://schemas.microsoft.com/office/drawing/2014/main" id="{B877D482-EE1A-480C-8E8C-5FD4B2F5AC46}"/>
              </a:ext>
            </a:extLst>
          </p:cNvPr>
          <p:cNvSpPr>
            <a:spLocks xmlns:a="http://schemas.openxmlformats.org/drawingml/2006/main" noGrp="1"/>
          </p:cNvSpPr>
          <p:nvPr/>
        </p:nvSpPr>
        <p:spPr>
          <a:xfrm xmlns:a="http://schemas.openxmlformats.org/drawingml/2006/main">
            <a:off x="590550" y="4810125"/>
            <a:ext cx="103822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650" b="1" i="0">
                <a:solidFill>
                  <a:srgbClr val="4D3C93"/>
                </a:solidFill>
                <a:latin typeface="Helvetica Neue"/>
                <a:ea typeface="Helvetica Neue"/>
                <a:cs typeface="Helvetica Neue"/>
              </a:defRPr>
            </a:pPr>
            <a:r>
              <a:rPr sz="1650" b="1" i="0">
                <a:solidFill>
                  <a:srgbClr val="4D3C93"/>
                </a:solidFill>
                <a:latin typeface="Helvetica Neue"/>
                <a:ea typeface="Helvetica Neue"/>
                <a:cs typeface="Helvetica Neue"/>
              </a:rPr>
              <a:t>This makes Golovin an implementation-and-method calibration. Long must have its own physical setup and convergence decision.</a:t>
            </a:r>
          </a:p>
        </p:txBody>
      </p:sp>
    </p:spTree>
    <p:extLst>
      <p:ext uri="{BB962C8B-B14F-4D97-AF65-F5344CB8AC3E}">
        <p14:creationId xmlns:p14="http://schemas.microsoft.com/office/powerpoint/2010/main" val="1704798937"/>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sp>
        <p:nvSpPr>
          <p:cNvPr id="36" name="">
            <a:extLst xmlns:a="http://schemas.openxmlformats.org/drawingml/2006/main">
              <a:ext uri="{FF2B5EF4-FFF2-40B4-BE49-F238E27FC236}">
                <a16:creationId xmlns:a16="http://schemas.microsoft.com/office/drawing/2014/main" id="{27C739E3-4152-4D0C-BEBC-2A975100034F}"/>
              </a:ext>
            </a:extLst>
          </p:cNvPr>
          <p:cNvSpPr>
            <a:spLocks xmlns:a="http://schemas.openxmlformats.org/drawingml/2006/main" noGrp="1"/>
          </p:cNvSpPr>
          <p:nvPr/>
        </p:nvSpPr>
        <p:spPr>
          <a:xfrm xmlns:a="http://schemas.openxmlformats.org/drawingml/2006/main">
            <a:off x="400050" y="285750"/>
            <a:ext cx="7239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1" i="0">
                <a:solidFill>
                  <a:srgbClr val="1774D1"/>
                </a:solidFill>
                <a:latin typeface="Helvetica Neue"/>
                <a:ea typeface="Helvetica Neue"/>
                <a:cs typeface="Helvetica Neue"/>
              </a:defRPr>
            </a:pPr>
            <a:r>
              <a:rPr sz="900" b="1" i="0">
                <a:solidFill>
                  <a:srgbClr val="1774D1"/>
                </a:solidFill>
                <a:latin typeface="Helvetica Neue"/>
                <a:ea typeface="Helvetica Neue"/>
                <a:cs typeface="Helvetica Neue"/>
              </a:rPr>
              <a:t>GOLOVIN CONVERGENCE CALIBRATION</a:t>
            </a:r>
          </a:p>
        </p:txBody>
      </p:sp>
      <p:sp>
        <p:nvSpPr>
          <p:cNvPr id="2" name="">
            <a:extLst xmlns:a="http://schemas.openxmlformats.org/drawingml/2006/main">
              <a:ext uri="{FF2B5EF4-FFF2-40B4-BE49-F238E27FC236}">
                <a16:creationId xmlns:a16="http://schemas.microsoft.com/office/drawing/2014/main" id="{0F902CBC-28CF-4992-A210-34A844CA5E41}"/>
              </a:ext>
            </a:extLst>
          </p:cNvPr>
          <p:cNvSpPr>
            <a:spLocks xmlns:a="http://schemas.openxmlformats.org/drawingml/2006/main" noGrp="1"/>
          </p:cNvSpPr>
          <p:nvPr/>
        </p:nvSpPr>
        <p:spPr>
          <a:xfrm xmlns:a="http://schemas.openxmlformats.org/drawingml/2006/main">
            <a:off x="400050" y="590550"/>
            <a:ext cx="113728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625" b="1" i="0">
                <a:solidFill>
                  <a:srgbClr val="141A24"/>
                </a:solidFill>
                <a:latin typeface="Helvetica Neue"/>
                <a:ea typeface="Helvetica Neue"/>
                <a:cs typeface="Helvetica Neue"/>
              </a:defRPr>
            </a:pPr>
            <a:r>
              <a:rPr sz="2625" b="1" i="0">
                <a:solidFill>
                  <a:srgbClr val="141A24"/>
                </a:solidFill>
                <a:latin typeface="Helvetica Neue"/>
                <a:ea typeface="Helvetica Neue"/>
                <a:cs typeface="Helvetica Neue"/>
              </a:rPr>
              <a:t>The model setup is fixed across the convergence ladder</a:t>
            </a:r>
          </a:p>
        </p:txBody>
      </p:sp>
      <p:cxnSp>
        <p:nvCxnSpPr>
          <p:cNvPr id="38" name=""/>
          <p:cNvCxnSpPr/>
          <p:nvPr/>
        </p:nvCxnSpPr>
        <p:spPr>
          <a:xfrm xmlns:a="http://schemas.openxmlformats.org/drawingml/2006/main">
            <a:off x="400050" y="6343650"/>
            <a:ext cx="11391900" cy="0"/>
          </a:xfrm>
          <a:prstGeom xmlns:a="http://schemas.openxmlformats.org/drawingml/2006/main" prst="straightConnector1">
            <a:avLst/>
          </a:prstGeom>
          <a:ln xmlns:a="http://schemas.openxmlformats.org/drawingml/2006/main" w="9525">
            <a:solidFill>
              <a:srgbClr val="C6CDD5"/>
            </a:solidFill>
            <a:prstDash val="solid"/>
          </a:ln>
        </p:spPr>
      </p:cxnSp>
      <p:sp>
        <p:nvSpPr>
          <p:cNvPr id="4" name="">
            <a:extLst xmlns:a="http://schemas.openxmlformats.org/drawingml/2006/main">
              <a:ext uri="{FF2B5EF4-FFF2-40B4-BE49-F238E27FC236}">
                <a16:creationId xmlns:a16="http://schemas.microsoft.com/office/drawing/2014/main" id="{C3587B36-F7A7-4A59-A3B1-A38332928EFB}"/>
              </a:ext>
            </a:extLst>
          </p:cNvPr>
          <p:cNvSpPr>
            <a:spLocks xmlns:a="http://schemas.openxmlformats.org/drawingml/2006/main" noGrp="1"/>
          </p:cNvSpPr>
          <p:nvPr/>
        </p:nvSpPr>
        <p:spPr>
          <a:xfrm xmlns:a="http://schemas.openxmlformats.org/drawingml/2006/main">
            <a:off x="400050" y="6457950"/>
            <a:ext cx="4095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825" b="0" i="0">
                <a:solidFill>
                  <a:srgbClr val="556170"/>
                </a:solidFill>
                <a:latin typeface="Helvetica Neue"/>
                <a:ea typeface="Helvetica Neue"/>
                <a:cs typeface="Helvetica Neue"/>
              </a:defRPr>
            </a:pPr>
            <a:r>
              <a:rPr sz="825" b="0" i="0">
                <a:solidFill>
                  <a:srgbClr val="556170"/>
                </a:solidFill>
                <a:latin typeface="Helvetica Neue"/>
                <a:ea typeface="Helvetica Neue"/>
                <a:cs typeface="Helvetica Neue"/>
              </a:rPr>
              <a:t>CLEO controlled Golovin calibration</a:t>
            </a:r>
          </a:p>
        </p:txBody>
      </p:sp>
      <p:sp>
        <p:nvSpPr>
          <p:cNvPr id="5" name="">
            <a:extLst xmlns:a="http://schemas.openxmlformats.org/drawingml/2006/main">
              <a:ext uri="{FF2B5EF4-FFF2-40B4-BE49-F238E27FC236}">
                <a16:creationId xmlns:a16="http://schemas.microsoft.com/office/drawing/2014/main" id="{C5C90F37-C459-4EAD-B9E7-A4DA52BA2346}"/>
              </a:ext>
            </a:extLst>
          </p:cNvPr>
          <p:cNvSpPr>
            <a:spLocks xmlns:a="http://schemas.openxmlformats.org/drawingml/2006/main" noGrp="1"/>
          </p:cNvSpPr>
          <p:nvPr/>
        </p:nvSpPr>
        <p:spPr>
          <a:xfrm xmlns:a="http://schemas.openxmlformats.org/drawingml/2006/main">
            <a:off x="9191625" y="6457950"/>
            <a:ext cx="1524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825" b="0" i="0">
                <a:solidFill>
                  <a:srgbClr val="556170"/>
                </a:solidFill>
                <a:latin typeface="Helvetica Neue"/>
                <a:ea typeface="Helvetica Neue"/>
                <a:cs typeface="Helvetica Neue"/>
              </a:defRPr>
            </a:pPr>
            <a:r>
              <a:rPr sz="825" b="0" i="0">
                <a:solidFill>
                  <a:srgbClr val="556170"/>
                </a:solidFill>
                <a:latin typeface="Helvetica Neue"/>
                <a:ea typeface="Helvetica Neue"/>
                <a:cs typeface="Helvetica Neue"/>
              </a:rPr>
              <a:t>02 AUG 2026</a:t>
            </a:r>
          </a:p>
        </p:txBody>
      </p:sp>
      <p:sp>
        <p:nvSpPr>
          <p:cNvPr id="6" name="">
            <a:extLst xmlns:a="http://schemas.openxmlformats.org/drawingml/2006/main">
              <a:ext uri="{FF2B5EF4-FFF2-40B4-BE49-F238E27FC236}">
                <a16:creationId xmlns:a16="http://schemas.microsoft.com/office/drawing/2014/main" id="{A79BF55D-73BF-4D66-A7CC-6C99FD7F306B}"/>
              </a:ext>
            </a:extLst>
          </p:cNvPr>
          <p:cNvSpPr>
            <a:spLocks xmlns:a="http://schemas.openxmlformats.org/drawingml/2006/main" noGrp="1"/>
          </p:cNvSpPr>
          <p:nvPr/>
        </p:nvSpPr>
        <p:spPr>
          <a:xfrm xmlns:a="http://schemas.openxmlformats.org/drawingml/2006/main">
            <a:off x="11049000" y="6438900"/>
            <a:ext cx="7429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00" b="1" i="0">
                <a:solidFill>
                  <a:srgbClr val="141A24"/>
                </a:solidFill>
                <a:latin typeface="Helvetica Neue"/>
                <a:ea typeface="Helvetica Neue"/>
                <a:cs typeface="Helvetica Neue"/>
              </a:defRPr>
            </a:pPr>
            <a:r>
              <a:rPr sz="900" b="1" i="0">
                <a:solidFill>
                  <a:srgbClr val="141A24"/>
                </a:solidFill>
                <a:latin typeface="Helvetica Neue"/>
                <a:ea typeface="Helvetica Neue"/>
                <a:cs typeface="Helvetica Neue"/>
              </a:rPr>
              <a:t>04</a:t>
            </a:r>
          </a:p>
        </p:txBody>
      </p:sp>
      <p:sp>
        <p:nvSpPr>
          <p:cNvPr id="7" name="">
            <a:extLst xmlns:a="http://schemas.openxmlformats.org/drawingml/2006/main">
              <a:ext uri="{FF2B5EF4-FFF2-40B4-BE49-F238E27FC236}">
                <a16:creationId xmlns:a16="http://schemas.microsoft.com/office/drawing/2014/main" id="{30154304-801C-4153-8D01-4B695B2BD8B7}"/>
              </a:ext>
            </a:extLst>
          </p:cNvPr>
          <p:cNvSpPr>
            <a:spLocks xmlns:a="http://schemas.openxmlformats.org/drawingml/2006/main" noGrp="1"/>
          </p:cNvSpPr>
          <p:nvPr/>
        </p:nvSpPr>
        <p:spPr>
          <a:xfrm xmlns:a="http://schemas.openxmlformats.org/drawingml/2006/main">
            <a:off x="514350" y="1476375"/>
            <a:ext cx="2952750" cy="457200"/>
          </a:xfrm>
          <a:prstGeom xmlns:a="http://schemas.openxmlformats.org/drawingml/2006/main" prst="rect">
            <a:avLst/>
          </a:prstGeom>
          <a:solidFill xmlns:a="http://schemas.openxmlformats.org/drawingml/2006/main">
            <a:srgbClr val="F6F8FA"/>
          </a:solidFill>
          <a:ln xmlns:a="http://schemas.openxmlformats.org/drawingml/2006/main" w="9525">
            <a:solidFill>
              <a:srgbClr val="C6CDD5"/>
            </a:solidFill>
            <a:prstDash val="solid"/>
          </a:ln>
        </p:spPr>
      </p:sp>
      <p:sp>
        <p:nvSpPr>
          <p:cNvPr id="8" name="">
            <a:extLst xmlns:a="http://schemas.openxmlformats.org/drawingml/2006/main">
              <a:ext uri="{FF2B5EF4-FFF2-40B4-BE49-F238E27FC236}">
                <a16:creationId xmlns:a16="http://schemas.microsoft.com/office/drawing/2014/main" id="{8196DAB2-A6A3-4B98-B8CB-21512250D538}"/>
              </a:ext>
            </a:extLst>
          </p:cNvPr>
          <p:cNvSpPr>
            <a:spLocks xmlns:a="http://schemas.openxmlformats.org/drawingml/2006/main" noGrp="1"/>
          </p:cNvSpPr>
          <p:nvPr/>
        </p:nvSpPr>
        <p:spPr>
          <a:xfrm xmlns:a="http://schemas.openxmlformats.org/drawingml/2006/main">
            <a:off x="3476625" y="1476375"/>
            <a:ext cx="7334250" cy="457200"/>
          </a:xfrm>
          <a:prstGeom xmlns:a="http://schemas.openxmlformats.org/drawingml/2006/main" prst="rect">
            <a:avLst/>
          </a:prstGeom>
          <a:solidFill xmlns:a="http://schemas.openxmlformats.org/drawingml/2006/main">
            <a:srgbClr val="F6F8FA"/>
          </a:solidFill>
          <a:ln xmlns:a="http://schemas.openxmlformats.org/drawingml/2006/main" w="9525">
            <a:solidFill>
              <a:srgbClr val="C6CDD5"/>
            </a:solidFill>
            <a:prstDash val="solid"/>
          </a:ln>
        </p:spPr>
      </p:sp>
      <p:sp>
        <p:nvSpPr>
          <p:cNvPr id="9" name="">
            <a:extLst xmlns:a="http://schemas.openxmlformats.org/drawingml/2006/main">
              <a:ext uri="{FF2B5EF4-FFF2-40B4-BE49-F238E27FC236}">
                <a16:creationId xmlns:a16="http://schemas.microsoft.com/office/drawing/2014/main" id="{BD2DC146-83FC-48A0-9099-8C24AED7AD2A}"/>
              </a:ext>
            </a:extLst>
          </p:cNvPr>
          <p:cNvSpPr>
            <a:spLocks xmlns:a="http://schemas.openxmlformats.org/drawingml/2006/main" noGrp="1"/>
          </p:cNvSpPr>
          <p:nvPr/>
        </p:nvSpPr>
        <p:spPr>
          <a:xfrm xmlns:a="http://schemas.openxmlformats.org/drawingml/2006/main">
            <a:off x="685800" y="1581150"/>
            <a:ext cx="2476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350" b="1" i="0">
                <a:solidFill>
                  <a:srgbClr val="141A24"/>
                </a:solidFill>
                <a:latin typeface="Helvetica Neue"/>
                <a:ea typeface="Helvetica Neue"/>
                <a:cs typeface="Helvetica Neue"/>
              </a:defRPr>
            </a:pPr>
            <a:r>
              <a:rPr sz="1350" b="1" i="0">
                <a:solidFill>
                  <a:srgbClr val="141A24"/>
                </a:solidFill>
                <a:latin typeface="Helvetica Neue"/>
                <a:ea typeface="Helvetica Neue"/>
                <a:cs typeface="Helvetica Neue"/>
              </a:rPr>
              <a:t>Kernel</a:t>
            </a:r>
          </a:p>
        </p:txBody>
      </p:sp>
      <p:sp>
        <p:nvSpPr>
          <p:cNvPr id="10" name="">
            <a:extLst xmlns:a="http://schemas.openxmlformats.org/drawingml/2006/main">
              <a:ext uri="{FF2B5EF4-FFF2-40B4-BE49-F238E27FC236}">
                <a16:creationId xmlns:a16="http://schemas.microsoft.com/office/drawing/2014/main" id="{1FD40D8E-54E8-4D41-96E0-70A1C8CE4E46}"/>
              </a:ext>
            </a:extLst>
          </p:cNvPr>
          <p:cNvSpPr>
            <a:spLocks xmlns:a="http://schemas.openxmlformats.org/drawingml/2006/main" noGrp="1"/>
          </p:cNvSpPr>
          <p:nvPr/>
        </p:nvSpPr>
        <p:spPr>
          <a:xfrm xmlns:a="http://schemas.openxmlformats.org/drawingml/2006/main">
            <a:off x="3714750" y="1581150"/>
            <a:ext cx="666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350" b="0" i="0">
                <a:solidFill>
                  <a:srgbClr val="141A24"/>
                </a:solidFill>
                <a:latin typeface="Helvetica Neue"/>
                <a:ea typeface="Helvetica Neue"/>
                <a:cs typeface="Helvetica Neue"/>
              </a:defRPr>
            </a:pPr>
            <a:r>
              <a:rPr sz="1350" b="0" i="0">
                <a:solidFill>
                  <a:srgbClr val="141A24"/>
                </a:solidFill>
                <a:latin typeface="Helvetica Neue"/>
                <a:ea typeface="Helvetica Neue"/>
                <a:cs typeface="Helvetica Neue"/>
              </a:rPr>
              <a:t>Golovin collision–coalescence</a:t>
            </a:r>
          </a:p>
        </p:txBody>
      </p:sp>
      <p:sp>
        <p:nvSpPr>
          <p:cNvPr id="11" name="">
            <a:extLst xmlns:a="http://schemas.openxmlformats.org/drawingml/2006/main">
              <a:ext uri="{FF2B5EF4-FFF2-40B4-BE49-F238E27FC236}">
                <a16:creationId xmlns:a16="http://schemas.microsoft.com/office/drawing/2014/main" id="{C1FA5D9B-546D-49F3-BDEE-23A1060A44D1}"/>
              </a:ext>
            </a:extLst>
          </p:cNvPr>
          <p:cNvSpPr>
            <a:spLocks xmlns:a="http://schemas.openxmlformats.org/drawingml/2006/main" noGrp="1"/>
          </p:cNvSpPr>
          <p:nvPr/>
        </p:nvSpPr>
        <p:spPr>
          <a:xfrm xmlns:a="http://schemas.openxmlformats.org/drawingml/2006/main">
            <a:off x="514350" y="2028825"/>
            <a:ext cx="2952750" cy="457200"/>
          </a:xfrm>
          <a:prstGeom xmlns:a="http://schemas.openxmlformats.org/drawingml/2006/main" prst="rect">
            <a:avLst/>
          </a:prstGeom>
          <a:solidFill xmlns:a="http://schemas.openxmlformats.org/drawingml/2006/main">
            <a:srgbClr val="FFFFFF"/>
          </a:solidFill>
          <a:ln xmlns:a="http://schemas.openxmlformats.org/drawingml/2006/main" w="9525">
            <a:solidFill>
              <a:srgbClr val="C6CDD5"/>
            </a:solidFill>
            <a:prstDash val="solid"/>
          </a:ln>
        </p:spPr>
      </p:sp>
      <p:sp>
        <p:nvSpPr>
          <p:cNvPr id="12" name="">
            <a:extLst xmlns:a="http://schemas.openxmlformats.org/drawingml/2006/main">
              <a:ext uri="{FF2B5EF4-FFF2-40B4-BE49-F238E27FC236}">
                <a16:creationId xmlns:a16="http://schemas.microsoft.com/office/drawing/2014/main" id="{BA5AA944-3D9A-4976-AA10-951480C426C4}"/>
              </a:ext>
            </a:extLst>
          </p:cNvPr>
          <p:cNvSpPr>
            <a:spLocks xmlns:a="http://schemas.openxmlformats.org/drawingml/2006/main" noGrp="1"/>
          </p:cNvSpPr>
          <p:nvPr/>
        </p:nvSpPr>
        <p:spPr>
          <a:xfrm xmlns:a="http://schemas.openxmlformats.org/drawingml/2006/main">
            <a:off x="3476625" y="2028825"/>
            <a:ext cx="7334250" cy="457200"/>
          </a:xfrm>
          <a:prstGeom xmlns:a="http://schemas.openxmlformats.org/drawingml/2006/main" prst="rect">
            <a:avLst/>
          </a:prstGeom>
          <a:solidFill xmlns:a="http://schemas.openxmlformats.org/drawingml/2006/main">
            <a:srgbClr val="FFFFFF"/>
          </a:solidFill>
          <a:ln xmlns:a="http://schemas.openxmlformats.org/drawingml/2006/main" w="9525">
            <a:solidFill>
              <a:srgbClr val="C6CDD5"/>
            </a:solidFill>
            <a:prstDash val="solid"/>
          </a:ln>
        </p:spPr>
      </p:sp>
      <p:sp>
        <p:nvSpPr>
          <p:cNvPr id="13" name="">
            <a:extLst xmlns:a="http://schemas.openxmlformats.org/drawingml/2006/main">
              <a:ext uri="{FF2B5EF4-FFF2-40B4-BE49-F238E27FC236}">
                <a16:creationId xmlns:a16="http://schemas.microsoft.com/office/drawing/2014/main" id="{5B9DCE22-2501-458A-B51F-CBAA509AED70}"/>
              </a:ext>
            </a:extLst>
          </p:cNvPr>
          <p:cNvSpPr>
            <a:spLocks xmlns:a="http://schemas.openxmlformats.org/drawingml/2006/main" noGrp="1"/>
          </p:cNvSpPr>
          <p:nvPr/>
        </p:nvSpPr>
        <p:spPr>
          <a:xfrm xmlns:a="http://schemas.openxmlformats.org/drawingml/2006/main">
            <a:off x="685800" y="2133600"/>
            <a:ext cx="2476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350" b="1" i="0">
                <a:solidFill>
                  <a:srgbClr val="141A24"/>
                </a:solidFill>
                <a:latin typeface="Helvetica Neue"/>
                <a:ea typeface="Helvetica Neue"/>
                <a:cs typeface="Helvetica Neue"/>
              </a:defRPr>
            </a:pPr>
            <a:r>
              <a:rPr sz="1350" b="1" i="0">
                <a:solidFill>
                  <a:srgbClr val="141A24"/>
                </a:solidFill>
                <a:latin typeface="Helvetica Neue"/>
                <a:ea typeface="Helvetica Neue"/>
                <a:cs typeface="Helvetica Neue"/>
              </a:rPr>
              <a:t>Collision step</a:t>
            </a:r>
          </a:p>
        </p:txBody>
      </p:sp>
      <p:sp>
        <p:nvSpPr>
          <p:cNvPr id="14" name="">
            <a:extLst xmlns:a="http://schemas.openxmlformats.org/drawingml/2006/main">
              <a:ext uri="{FF2B5EF4-FFF2-40B4-BE49-F238E27FC236}">
                <a16:creationId xmlns:a16="http://schemas.microsoft.com/office/drawing/2014/main" id="{FF7DC93F-FFD2-44E9-BB43-7FA88596A664}"/>
              </a:ext>
            </a:extLst>
          </p:cNvPr>
          <p:cNvSpPr>
            <a:spLocks xmlns:a="http://schemas.openxmlformats.org/drawingml/2006/main" noGrp="1"/>
          </p:cNvSpPr>
          <p:nvPr/>
        </p:nvSpPr>
        <p:spPr>
          <a:xfrm xmlns:a="http://schemas.openxmlformats.org/drawingml/2006/main">
            <a:off x="3714750" y="2133600"/>
            <a:ext cx="666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350" b="0" i="0">
                <a:solidFill>
                  <a:srgbClr val="141A24"/>
                </a:solidFill>
                <a:latin typeface="Helvetica Neue"/>
                <a:ea typeface="Helvetica Neue"/>
                <a:cs typeface="Helvetica Neue"/>
              </a:defRPr>
            </a:pPr>
            <a:r>
              <a:rPr sz="1350" b="0" i="0">
                <a:solidFill>
                  <a:srgbClr val="141A24"/>
                </a:solidFill>
                <a:latin typeface="Helvetica Neue"/>
                <a:ea typeface="Helvetica Neue"/>
                <a:cs typeface="Helvetica Neue"/>
              </a:rPr>
              <a:t>0.1 s</a:t>
            </a:r>
          </a:p>
        </p:txBody>
      </p:sp>
      <p:sp>
        <p:nvSpPr>
          <p:cNvPr id="15" name="">
            <a:extLst xmlns:a="http://schemas.openxmlformats.org/drawingml/2006/main">
              <a:ext uri="{FF2B5EF4-FFF2-40B4-BE49-F238E27FC236}">
                <a16:creationId xmlns:a16="http://schemas.microsoft.com/office/drawing/2014/main" id="{3EBF21FC-C286-4065-A4C7-A9D2D980B874}"/>
              </a:ext>
            </a:extLst>
          </p:cNvPr>
          <p:cNvSpPr>
            <a:spLocks xmlns:a="http://schemas.openxmlformats.org/drawingml/2006/main" noGrp="1"/>
          </p:cNvSpPr>
          <p:nvPr/>
        </p:nvSpPr>
        <p:spPr>
          <a:xfrm xmlns:a="http://schemas.openxmlformats.org/drawingml/2006/main">
            <a:off x="514350" y="2581275"/>
            <a:ext cx="2952750" cy="457200"/>
          </a:xfrm>
          <a:prstGeom xmlns:a="http://schemas.openxmlformats.org/drawingml/2006/main" prst="rect">
            <a:avLst/>
          </a:prstGeom>
          <a:solidFill xmlns:a="http://schemas.openxmlformats.org/drawingml/2006/main">
            <a:srgbClr val="F6F8FA"/>
          </a:solidFill>
          <a:ln xmlns:a="http://schemas.openxmlformats.org/drawingml/2006/main" w="9525">
            <a:solidFill>
              <a:srgbClr val="C6CDD5"/>
            </a:solidFill>
            <a:prstDash val="solid"/>
          </a:ln>
        </p:spPr>
      </p:sp>
      <p:sp>
        <p:nvSpPr>
          <p:cNvPr id="16" name="">
            <a:extLst xmlns:a="http://schemas.openxmlformats.org/drawingml/2006/main">
              <a:ext uri="{FF2B5EF4-FFF2-40B4-BE49-F238E27FC236}">
                <a16:creationId xmlns:a16="http://schemas.microsoft.com/office/drawing/2014/main" id="{DA60443D-D4D2-405F-BC5C-BBB25DFB4C74}"/>
              </a:ext>
            </a:extLst>
          </p:cNvPr>
          <p:cNvSpPr>
            <a:spLocks xmlns:a="http://schemas.openxmlformats.org/drawingml/2006/main" noGrp="1"/>
          </p:cNvSpPr>
          <p:nvPr/>
        </p:nvSpPr>
        <p:spPr>
          <a:xfrm xmlns:a="http://schemas.openxmlformats.org/drawingml/2006/main">
            <a:off x="3476625" y="2581275"/>
            <a:ext cx="7334250" cy="457200"/>
          </a:xfrm>
          <a:prstGeom xmlns:a="http://schemas.openxmlformats.org/drawingml/2006/main" prst="rect">
            <a:avLst/>
          </a:prstGeom>
          <a:solidFill xmlns:a="http://schemas.openxmlformats.org/drawingml/2006/main">
            <a:srgbClr val="F6F8FA"/>
          </a:solidFill>
          <a:ln xmlns:a="http://schemas.openxmlformats.org/drawingml/2006/main" w="9525">
            <a:solidFill>
              <a:srgbClr val="C6CDD5"/>
            </a:solidFill>
            <a:prstDash val="solid"/>
          </a:ln>
        </p:spPr>
      </p:sp>
      <p:sp>
        <p:nvSpPr>
          <p:cNvPr id="17" name="">
            <a:extLst xmlns:a="http://schemas.openxmlformats.org/drawingml/2006/main">
              <a:ext uri="{FF2B5EF4-FFF2-40B4-BE49-F238E27FC236}">
                <a16:creationId xmlns:a16="http://schemas.microsoft.com/office/drawing/2014/main" id="{9231B0C1-2133-4C19-810C-4FD2B78FE542}"/>
              </a:ext>
            </a:extLst>
          </p:cNvPr>
          <p:cNvSpPr>
            <a:spLocks xmlns:a="http://schemas.openxmlformats.org/drawingml/2006/main" noGrp="1"/>
          </p:cNvSpPr>
          <p:nvPr/>
        </p:nvSpPr>
        <p:spPr>
          <a:xfrm xmlns:a="http://schemas.openxmlformats.org/drawingml/2006/main">
            <a:off x="685800" y="2686050"/>
            <a:ext cx="2476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350" b="1" i="0">
                <a:solidFill>
                  <a:srgbClr val="141A24"/>
                </a:solidFill>
                <a:latin typeface="Helvetica Neue"/>
                <a:ea typeface="Helvetica Neue"/>
                <a:cs typeface="Helvetica Neue"/>
              </a:defRPr>
            </a:pPr>
            <a:r>
              <a:rPr sz="1350" b="1" i="0">
                <a:solidFill>
                  <a:srgbClr val="141A24"/>
                </a:solidFill>
                <a:latin typeface="Helvetica Neue"/>
                <a:ea typeface="Helvetica Neue"/>
                <a:cs typeface="Helvetica Neue"/>
              </a:rPr>
              <a:t>Integration</a:t>
            </a:r>
          </a:p>
        </p:txBody>
      </p:sp>
      <p:sp>
        <p:nvSpPr>
          <p:cNvPr id="18" name="">
            <a:extLst xmlns:a="http://schemas.openxmlformats.org/drawingml/2006/main">
              <a:ext uri="{FF2B5EF4-FFF2-40B4-BE49-F238E27FC236}">
                <a16:creationId xmlns:a16="http://schemas.microsoft.com/office/drawing/2014/main" id="{23B00F8F-07C7-4158-90D6-2627C06BC8D7}"/>
              </a:ext>
            </a:extLst>
          </p:cNvPr>
          <p:cNvSpPr>
            <a:spLocks xmlns:a="http://schemas.openxmlformats.org/drawingml/2006/main" noGrp="1"/>
          </p:cNvSpPr>
          <p:nvPr/>
        </p:nvSpPr>
        <p:spPr>
          <a:xfrm xmlns:a="http://schemas.openxmlformats.org/drawingml/2006/main">
            <a:off x="3714750" y="2686050"/>
            <a:ext cx="666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350" b="0" i="0">
                <a:solidFill>
                  <a:srgbClr val="141A24"/>
                </a:solidFill>
                <a:latin typeface="Helvetica Neue"/>
                <a:ea typeface="Helvetica Neue"/>
                <a:cs typeface="Helvetica Neue"/>
              </a:defRPr>
            </a:pPr>
            <a:r>
              <a:rPr sz="1350" b="0" i="0">
                <a:solidFill>
                  <a:srgbClr val="141A24"/>
                </a:solidFill>
                <a:latin typeface="Helvetica Neue"/>
                <a:ea typeface="Helvetica Neue"/>
                <a:cs typeface="Helvetica Neue"/>
              </a:rPr>
              <a:t>0–3600 s (60 min)</a:t>
            </a:r>
          </a:p>
        </p:txBody>
      </p:sp>
      <p:sp>
        <p:nvSpPr>
          <p:cNvPr id="19" name="">
            <a:extLst xmlns:a="http://schemas.openxmlformats.org/drawingml/2006/main">
              <a:ext uri="{FF2B5EF4-FFF2-40B4-BE49-F238E27FC236}">
                <a16:creationId xmlns:a16="http://schemas.microsoft.com/office/drawing/2014/main" id="{BE873BE3-B09C-41FD-AB1F-E2BB7739EFF1}"/>
              </a:ext>
            </a:extLst>
          </p:cNvPr>
          <p:cNvSpPr>
            <a:spLocks xmlns:a="http://schemas.openxmlformats.org/drawingml/2006/main" noGrp="1"/>
          </p:cNvSpPr>
          <p:nvPr/>
        </p:nvSpPr>
        <p:spPr>
          <a:xfrm xmlns:a="http://schemas.openxmlformats.org/drawingml/2006/main">
            <a:off x="514350" y="3133725"/>
            <a:ext cx="2952750" cy="457200"/>
          </a:xfrm>
          <a:prstGeom xmlns:a="http://schemas.openxmlformats.org/drawingml/2006/main" prst="rect">
            <a:avLst/>
          </a:prstGeom>
          <a:solidFill xmlns:a="http://schemas.openxmlformats.org/drawingml/2006/main">
            <a:srgbClr val="FFFFFF"/>
          </a:solidFill>
          <a:ln xmlns:a="http://schemas.openxmlformats.org/drawingml/2006/main" w="9525">
            <a:solidFill>
              <a:srgbClr val="C6CDD5"/>
            </a:solidFill>
            <a:prstDash val="solid"/>
          </a:ln>
        </p:spPr>
      </p:sp>
      <p:sp>
        <p:nvSpPr>
          <p:cNvPr id="20" name="">
            <a:extLst xmlns:a="http://schemas.openxmlformats.org/drawingml/2006/main">
              <a:ext uri="{FF2B5EF4-FFF2-40B4-BE49-F238E27FC236}">
                <a16:creationId xmlns:a16="http://schemas.microsoft.com/office/drawing/2014/main" id="{2BB58700-FC04-4AC7-B1C8-3789853A7C72}"/>
              </a:ext>
            </a:extLst>
          </p:cNvPr>
          <p:cNvSpPr>
            <a:spLocks xmlns:a="http://schemas.openxmlformats.org/drawingml/2006/main" noGrp="1"/>
          </p:cNvSpPr>
          <p:nvPr/>
        </p:nvSpPr>
        <p:spPr>
          <a:xfrm xmlns:a="http://schemas.openxmlformats.org/drawingml/2006/main">
            <a:off x="3476625" y="3133725"/>
            <a:ext cx="7334250" cy="457200"/>
          </a:xfrm>
          <a:prstGeom xmlns:a="http://schemas.openxmlformats.org/drawingml/2006/main" prst="rect">
            <a:avLst/>
          </a:prstGeom>
          <a:solidFill xmlns:a="http://schemas.openxmlformats.org/drawingml/2006/main">
            <a:srgbClr val="FFFFFF"/>
          </a:solidFill>
          <a:ln xmlns:a="http://schemas.openxmlformats.org/drawingml/2006/main" w="9525">
            <a:solidFill>
              <a:srgbClr val="C6CDD5"/>
            </a:solidFill>
            <a:prstDash val="solid"/>
          </a:ln>
        </p:spPr>
      </p:sp>
      <p:sp>
        <p:nvSpPr>
          <p:cNvPr id="21" name="">
            <a:extLst xmlns:a="http://schemas.openxmlformats.org/drawingml/2006/main">
              <a:ext uri="{FF2B5EF4-FFF2-40B4-BE49-F238E27FC236}">
                <a16:creationId xmlns:a16="http://schemas.microsoft.com/office/drawing/2014/main" id="{400F446B-67B5-4A04-B84D-D84D1B3840D3}"/>
              </a:ext>
            </a:extLst>
          </p:cNvPr>
          <p:cNvSpPr>
            <a:spLocks xmlns:a="http://schemas.openxmlformats.org/drawingml/2006/main" noGrp="1"/>
          </p:cNvSpPr>
          <p:nvPr/>
        </p:nvSpPr>
        <p:spPr>
          <a:xfrm xmlns:a="http://schemas.openxmlformats.org/drawingml/2006/main">
            <a:off x="685800" y="3238500"/>
            <a:ext cx="2476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350" b="1" i="0">
                <a:solidFill>
                  <a:srgbClr val="141A24"/>
                </a:solidFill>
                <a:latin typeface="Helvetica Neue"/>
                <a:ea typeface="Helvetica Neue"/>
                <a:cs typeface="Helvetica Neue"/>
              </a:defRPr>
            </a:pPr>
            <a:r>
              <a:rPr sz="1350" b="1" i="0">
                <a:solidFill>
                  <a:srgbClr val="141A24"/>
                </a:solidFill>
                <a:latin typeface="Helvetica Neue"/>
                <a:ea typeface="Helvetica Neue"/>
                <a:cs typeface="Helvetica Neue"/>
              </a:rPr>
              <a:t>Output / decisions</a:t>
            </a:r>
          </a:p>
        </p:txBody>
      </p:sp>
      <p:sp>
        <p:nvSpPr>
          <p:cNvPr id="22" name="">
            <a:extLst xmlns:a="http://schemas.openxmlformats.org/drawingml/2006/main">
              <a:ext uri="{FF2B5EF4-FFF2-40B4-BE49-F238E27FC236}">
                <a16:creationId xmlns:a16="http://schemas.microsoft.com/office/drawing/2014/main" id="{B16CA0B4-72A2-44AE-AFC3-261252BD3050}"/>
              </a:ext>
            </a:extLst>
          </p:cNvPr>
          <p:cNvSpPr>
            <a:spLocks xmlns:a="http://schemas.openxmlformats.org/drawingml/2006/main" noGrp="1"/>
          </p:cNvSpPr>
          <p:nvPr/>
        </p:nvSpPr>
        <p:spPr>
          <a:xfrm xmlns:a="http://schemas.openxmlformats.org/drawingml/2006/main">
            <a:off x="3714750" y="3238500"/>
            <a:ext cx="666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350" b="0" i="0">
                <a:solidFill>
                  <a:srgbClr val="141A24"/>
                </a:solidFill>
                <a:latin typeface="Helvetica Neue"/>
                <a:ea typeface="Helvetica Neue"/>
                <a:cs typeface="Helvetica Neue"/>
              </a:defRPr>
            </a:pPr>
            <a:r>
              <a:rPr sz="1350" b="0" i="0">
                <a:solidFill>
                  <a:srgbClr val="141A24"/>
                </a:solidFill>
                <a:latin typeface="Helvetica Neue"/>
                <a:ea typeface="Helvetica Neue"/>
                <a:cs typeface="Helvetica Neue"/>
              </a:rPr>
              <a:t>every 600 s: 600 … 3600 s</a:t>
            </a:r>
          </a:p>
        </p:txBody>
      </p:sp>
      <p:sp>
        <p:nvSpPr>
          <p:cNvPr id="23" name="">
            <a:extLst xmlns:a="http://schemas.openxmlformats.org/drawingml/2006/main">
              <a:ext uri="{FF2B5EF4-FFF2-40B4-BE49-F238E27FC236}">
                <a16:creationId xmlns:a16="http://schemas.microsoft.com/office/drawing/2014/main" id="{24ABFF64-2CAD-4BFB-9807-B6166AC1CFF2}"/>
              </a:ext>
            </a:extLst>
          </p:cNvPr>
          <p:cNvSpPr>
            <a:spLocks xmlns:a="http://schemas.openxmlformats.org/drawingml/2006/main" noGrp="1"/>
          </p:cNvSpPr>
          <p:nvPr/>
        </p:nvSpPr>
        <p:spPr>
          <a:xfrm xmlns:a="http://schemas.openxmlformats.org/drawingml/2006/main">
            <a:off x="514350" y="3686175"/>
            <a:ext cx="2952750" cy="457200"/>
          </a:xfrm>
          <a:prstGeom xmlns:a="http://schemas.openxmlformats.org/drawingml/2006/main" prst="rect">
            <a:avLst/>
          </a:prstGeom>
          <a:solidFill xmlns:a="http://schemas.openxmlformats.org/drawingml/2006/main">
            <a:srgbClr val="F6F8FA"/>
          </a:solidFill>
          <a:ln xmlns:a="http://schemas.openxmlformats.org/drawingml/2006/main" w="9525">
            <a:solidFill>
              <a:srgbClr val="C6CDD5"/>
            </a:solidFill>
            <a:prstDash val="solid"/>
          </a:ln>
        </p:spPr>
      </p:sp>
      <p:sp>
        <p:nvSpPr>
          <p:cNvPr id="24" name="">
            <a:extLst xmlns:a="http://schemas.openxmlformats.org/drawingml/2006/main">
              <a:ext uri="{FF2B5EF4-FFF2-40B4-BE49-F238E27FC236}">
                <a16:creationId xmlns:a16="http://schemas.microsoft.com/office/drawing/2014/main" id="{FDE37285-9E44-4042-B16E-67DAA3DBD44C}"/>
              </a:ext>
            </a:extLst>
          </p:cNvPr>
          <p:cNvSpPr>
            <a:spLocks xmlns:a="http://schemas.openxmlformats.org/drawingml/2006/main" noGrp="1"/>
          </p:cNvSpPr>
          <p:nvPr/>
        </p:nvSpPr>
        <p:spPr>
          <a:xfrm xmlns:a="http://schemas.openxmlformats.org/drawingml/2006/main">
            <a:off x="3476625" y="3686175"/>
            <a:ext cx="7334250" cy="457200"/>
          </a:xfrm>
          <a:prstGeom xmlns:a="http://schemas.openxmlformats.org/drawingml/2006/main" prst="rect">
            <a:avLst/>
          </a:prstGeom>
          <a:solidFill xmlns:a="http://schemas.openxmlformats.org/drawingml/2006/main">
            <a:srgbClr val="F6F8FA"/>
          </a:solidFill>
          <a:ln xmlns:a="http://schemas.openxmlformats.org/drawingml/2006/main" w="9525">
            <a:solidFill>
              <a:srgbClr val="C6CDD5"/>
            </a:solidFill>
            <a:prstDash val="solid"/>
          </a:ln>
        </p:spPr>
      </p:sp>
      <p:sp>
        <p:nvSpPr>
          <p:cNvPr id="25" name="">
            <a:extLst xmlns:a="http://schemas.openxmlformats.org/drawingml/2006/main">
              <a:ext uri="{FF2B5EF4-FFF2-40B4-BE49-F238E27FC236}">
                <a16:creationId xmlns:a16="http://schemas.microsoft.com/office/drawing/2014/main" id="{D54DA44D-8E77-4650-A85A-468A25084CAB}"/>
              </a:ext>
            </a:extLst>
          </p:cNvPr>
          <p:cNvSpPr>
            <a:spLocks xmlns:a="http://schemas.openxmlformats.org/drawingml/2006/main" noGrp="1"/>
          </p:cNvSpPr>
          <p:nvPr/>
        </p:nvSpPr>
        <p:spPr>
          <a:xfrm xmlns:a="http://schemas.openxmlformats.org/drawingml/2006/main">
            <a:off x="685800" y="3790950"/>
            <a:ext cx="2476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350" b="1" i="0">
                <a:solidFill>
                  <a:srgbClr val="141A24"/>
                </a:solidFill>
                <a:latin typeface="Helvetica Neue"/>
                <a:ea typeface="Helvetica Neue"/>
                <a:cs typeface="Helvetica Neue"/>
              </a:defRPr>
            </a:pPr>
            <a:r>
              <a:rPr sz="1350" b="1" i="0">
                <a:solidFill>
                  <a:srgbClr val="141A24"/>
                </a:solidFill>
                <a:latin typeface="Helvetica Neue"/>
                <a:ea typeface="Helvetica Neue"/>
                <a:cs typeface="Helvetica Neue"/>
              </a:rPr>
              <a:t>Primary DSD diagnostic</a:t>
            </a:r>
          </a:p>
        </p:txBody>
      </p:sp>
      <p:sp>
        <p:nvSpPr>
          <p:cNvPr id="26" name="">
            <a:extLst xmlns:a="http://schemas.openxmlformats.org/drawingml/2006/main">
              <a:ext uri="{FF2B5EF4-FFF2-40B4-BE49-F238E27FC236}">
                <a16:creationId xmlns:a16="http://schemas.microsoft.com/office/drawing/2014/main" id="{F4F46FE1-9941-4C48-A97B-005994B9E5E8}"/>
              </a:ext>
            </a:extLst>
          </p:cNvPr>
          <p:cNvSpPr>
            <a:spLocks xmlns:a="http://schemas.openxmlformats.org/drawingml/2006/main" noGrp="1"/>
          </p:cNvSpPr>
          <p:nvPr/>
        </p:nvSpPr>
        <p:spPr>
          <a:xfrm xmlns:a="http://schemas.openxmlformats.org/drawingml/2006/main">
            <a:off x="3714750" y="3790950"/>
            <a:ext cx="666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350" b="0" i="0">
                <a:solidFill>
                  <a:srgbClr val="141A24"/>
                </a:solidFill>
                <a:latin typeface="Helvetica Neue"/>
                <a:ea typeface="Helvetica Neue"/>
                <a:cs typeface="Helvetica Neue"/>
              </a:defRPr>
            </a:pPr>
            <a:r>
              <a:rPr sz="1350" b="0" i="0">
                <a:solidFill>
                  <a:srgbClr val="141A24"/>
                </a:solidFill>
                <a:latin typeface="Helvetica Neue"/>
                <a:ea typeface="Helvetica Neue"/>
                <a:cs typeface="Helvetica Neue"/>
              </a:rPr>
              <a:t>500 common log-radius bins</a:t>
            </a:r>
          </a:p>
        </p:txBody>
      </p:sp>
      <p:sp>
        <p:nvSpPr>
          <p:cNvPr id="27" name="">
            <a:extLst xmlns:a="http://schemas.openxmlformats.org/drawingml/2006/main">
              <a:ext uri="{FF2B5EF4-FFF2-40B4-BE49-F238E27FC236}">
                <a16:creationId xmlns:a16="http://schemas.microsoft.com/office/drawing/2014/main" id="{D62FDBA0-2354-492D-82DC-CB263F720CA8}"/>
              </a:ext>
            </a:extLst>
          </p:cNvPr>
          <p:cNvSpPr>
            <a:spLocks xmlns:a="http://schemas.openxmlformats.org/drawingml/2006/main" noGrp="1"/>
          </p:cNvSpPr>
          <p:nvPr/>
        </p:nvSpPr>
        <p:spPr>
          <a:xfrm xmlns:a="http://schemas.openxmlformats.org/drawingml/2006/main">
            <a:off x="514350" y="4238625"/>
            <a:ext cx="2952750" cy="457200"/>
          </a:xfrm>
          <a:prstGeom xmlns:a="http://schemas.openxmlformats.org/drawingml/2006/main" prst="rect">
            <a:avLst/>
          </a:prstGeom>
          <a:solidFill xmlns:a="http://schemas.openxmlformats.org/drawingml/2006/main">
            <a:srgbClr val="FFFFFF"/>
          </a:solidFill>
          <a:ln xmlns:a="http://schemas.openxmlformats.org/drawingml/2006/main" w="9525">
            <a:solidFill>
              <a:srgbClr val="C6CDD5"/>
            </a:solidFill>
            <a:prstDash val="solid"/>
          </a:ln>
        </p:spPr>
      </p:sp>
      <p:sp>
        <p:nvSpPr>
          <p:cNvPr id="28" name="">
            <a:extLst xmlns:a="http://schemas.openxmlformats.org/drawingml/2006/main">
              <a:ext uri="{FF2B5EF4-FFF2-40B4-BE49-F238E27FC236}">
                <a16:creationId xmlns:a16="http://schemas.microsoft.com/office/drawing/2014/main" id="{FD4F4FF4-8125-4DCE-9013-274AF5EBA8C8}"/>
              </a:ext>
            </a:extLst>
          </p:cNvPr>
          <p:cNvSpPr>
            <a:spLocks xmlns:a="http://schemas.openxmlformats.org/drawingml/2006/main" noGrp="1"/>
          </p:cNvSpPr>
          <p:nvPr/>
        </p:nvSpPr>
        <p:spPr>
          <a:xfrm xmlns:a="http://schemas.openxmlformats.org/drawingml/2006/main">
            <a:off x="3476625" y="4238625"/>
            <a:ext cx="7334250" cy="457200"/>
          </a:xfrm>
          <a:prstGeom xmlns:a="http://schemas.openxmlformats.org/drawingml/2006/main" prst="rect">
            <a:avLst/>
          </a:prstGeom>
          <a:solidFill xmlns:a="http://schemas.openxmlformats.org/drawingml/2006/main">
            <a:srgbClr val="FFFFFF"/>
          </a:solidFill>
          <a:ln xmlns:a="http://schemas.openxmlformats.org/drawingml/2006/main" w="9525">
            <a:solidFill>
              <a:srgbClr val="C6CDD5"/>
            </a:solidFill>
            <a:prstDash val="solid"/>
          </a:ln>
        </p:spPr>
      </p:sp>
      <p:sp>
        <p:nvSpPr>
          <p:cNvPr id="29" name="">
            <a:extLst xmlns:a="http://schemas.openxmlformats.org/drawingml/2006/main">
              <a:ext uri="{FF2B5EF4-FFF2-40B4-BE49-F238E27FC236}">
                <a16:creationId xmlns:a16="http://schemas.microsoft.com/office/drawing/2014/main" id="{9DDDAFFB-7FBF-41F6-8DAD-7564235E7CF8}"/>
              </a:ext>
            </a:extLst>
          </p:cNvPr>
          <p:cNvSpPr>
            <a:spLocks xmlns:a="http://schemas.openxmlformats.org/drawingml/2006/main" noGrp="1"/>
          </p:cNvSpPr>
          <p:nvPr/>
        </p:nvSpPr>
        <p:spPr>
          <a:xfrm xmlns:a="http://schemas.openxmlformats.org/drawingml/2006/main">
            <a:off x="685800" y="4343400"/>
            <a:ext cx="2476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350" b="1" i="0">
                <a:solidFill>
                  <a:srgbClr val="141A24"/>
                </a:solidFill>
                <a:latin typeface="Helvetica Neue"/>
                <a:ea typeface="Helvetica Neue"/>
                <a:cs typeface="Helvetica Neue"/>
              </a:defRPr>
            </a:pPr>
            <a:r>
              <a:rPr sz="1350" b="1" i="0">
                <a:solidFill>
                  <a:srgbClr val="141A24"/>
                </a:solidFill>
                <a:latin typeface="Helvetica Neue"/>
                <a:ea typeface="Helvetica Neue"/>
                <a:cs typeface="Helvetica Neue"/>
              </a:rPr>
              <a:t>Sensitivity grids</a:t>
            </a:r>
          </a:p>
        </p:txBody>
      </p:sp>
      <p:sp>
        <p:nvSpPr>
          <p:cNvPr id="30" name="">
            <a:extLst xmlns:a="http://schemas.openxmlformats.org/drawingml/2006/main">
              <a:ext uri="{FF2B5EF4-FFF2-40B4-BE49-F238E27FC236}">
                <a16:creationId xmlns:a16="http://schemas.microsoft.com/office/drawing/2014/main" id="{1FE0EFB0-7870-4F63-A1B0-99162F671057}"/>
              </a:ext>
            </a:extLst>
          </p:cNvPr>
          <p:cNvSpPr>
            <a:spLocks xmlns:a="http://schemas.openxmlformats.org/drawingml/2006/main" noGrp="1"/>
          </p:cNvSpPr>
          <p:nvPr/>
        </p:nvSpPr>
        <p:spPr>
          <a:xfrm xmlns:a="http://schemas.openxmlformats.org/drawingml/2006/main">
            <a:off x="3714750" y="4343400"/>
            <a:ext cx="666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350" b="0" i="0">
                <a:solidFill>
                  <a:srgbClr val="141A24"/>
                </a:solidFill>
                <a:latin typeface="Helvetica Neue"/>
                <a:ea typeface="Helvetica Neue"/>
                <a:cs typeface="Helvetica Neue"/>
              </a:defRPr>
            </a:pPr>
            <a:r>
              <a:rPr sz="1350" b="0" i="0">
                <a:solidFill>
                  <a:srgbClr val="141A24"/>
                </a:solidFill>
                <a:latin typeface="Helvetica Neue"/>
                <a:ea typeface="Helvetica Neue"/>
                <a:cs typeface="Helvetica Neue"/>
              </a:rPr>
              <a:t>250 and 1000 bins</a:t>
            </a:r>
          </a:p>
        </p:txBody>
      </p:sp>
      <p:sp>
        <p:nvSpPr>
          <p:cNvPr id="31" name="">
            <a:extLst xmlns:a="http://schemas.openxmlformats.org/drawingml/2006/main">
              <a:ext uri="{FF2B5EF4-FFF2-40B4-BE49-F238E27FC236}">
                <a16:creationId xmlns:a16="http://schemas.microsoft.com/office/drawing/2014/main" id="{E7C5DA36-D0B0-4621-BD5E-8698782A8BF4}"/>
              </a:ext>
            </a:extLst>
          </p:cNvPr>
          <p:cNvSpPr>
            <a:spLocks xmlns:a="http://schemas.openxmlformats.org/drawingml/2006/main" noGrp="1"/>
          </p:cNvSpPr>
          <p:nvPr/>
        </p:nvSpPr>
        <p:spPr>
          <a:xfrm xmlns:a="http://schemas.openxmlformats.org/drawingml/2006/main">
            <a:off x="514350" y="4791075"/>
            <a:ext cx="2952750" cy="457200"/>
          </a:xfrm>
          <a:prstGeom xmlns:a="http://schemas.openxmlformats.org/drawingml/2006/main" prst="rect">
            <a:avLst/>
          </a:prstGeom>
          <a:solidFill xmlns:a="http://schemas.openxmlformats.org/drawingml/2006/main">
            <a:srgbClr val="F6F8FA"/>
          </a:solidFill>
          <a:ln xmlns:a="http://schemas.openxmlformats.org/drawingml/2006/main" w="9525">
            <a:solidFill>
              <a:srgbClr val="C6CDD5"/>
            </a:solidFill>
            <a:prstDash val="solid"/>
          </a:ln>
        </p:spPr>
      </p:sp>
      <p:sp>
        <p:nvSpPr>
          <p:cNvPr id="32" name="">
            <a:extLst xmlns:a="http://schemas.openxmlformats.org/drawingml/2006/main">
              <a:ext uri="{FF2B5EF4-FFF2-40B4-BE49-F238E27FC236}">
                <a16:creationId xmlns:a16="http://schemas.microsoft.com/office/drawing/2014/main" id="{B926079A-E7DE-45B3-BE32-C4BC927D6425}"/>
              </a:ext>
            </a:extLst>
          </p:cNvPr>
          <p:cNvSpPr>
            <a:spLocks xmlns:a="http://schemas.openxmlformats.org/drawingml/2006/main" noGrp="1"/>
          </p:cNvSpPr>
          <p:nvPr/>
        </p:nvSpPr>
        <p:spPr>
          <a:xfrm xmlns:a="http://schemas.openxmlformats.org/drawingml/2006/main">
            <a:off x="3476625" y="4791075"/>
            <a:ext cx="7334250" cy="457200"/>
          </a:xfrm>
          <a:prstGeom xmlns:a="http://schemas.openxmlformats.org/drawingml/2006/main" prst="rect">
            <a:avLst/>
          </a:prstGeom>
          <a:solidFill xmlns:a="http://schemas.openxmlformats.org/drawingml/2006/main">
            <a:srgbClr val="F6F8FA"/>
          </a:solidFill>
          <a:ln xmlns:a="http://schemas.openxmlformats.org/drawingml/2006/main" w="9525">
            <a:solidFill>
              <a:srgbClr val="C6CDD5"/>
            </a:solidFill>
            <a:prstDash val="solid"/>
          </a:ln>
        </p:spPr>
      </p:sp>
      <p:sp>
        <p:nvSpPr>
          <p:cNvPr id="33" name="">
            <a:extLst xmlns:a="http://schemas.openxmlformats.org/drawingml/2006/main">
              <a:ext uri="{FF2B5EF4-FFF2-40B4-BE49-F238E27FC236}">
                <a16:creationId xmlns:a16="http://schemas.microsoft.com/office/drawing/2014/main" id="{82551DFF-CCA0-4451-B3D3-7E9E12AAE0E4}"/>
              </a:ext>
            </a:extLst>
          </p:cNvPr>
          <p:cNvSpPr>
            <a:spLocks xmlns:a="http://schemas.openxmlformats.org/drawingml/2006/main" noGrp="1"/>
          </p:cNvSpPr>
          <p:nvPr/>
        </p:nvSpPr>
        <p:spPr>
          <a:xfrm xmlns:a="http://schemas.openxmlformats.org/drawingml/2006/main">
            <a:off x="685800" y="4895850"/>
            <a:ext cx="2476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350" b="1" i="0">
                <a:solidFill>
                  <a:srgbClr val="141A24"/>
                </a:solidFill>
                <a:latin typeface="Helvetica Neue"/>
                <a:ea typeface="Helvetica Neue"/>
                <a:cs typeface="Helvetica Neue"/>
              </a:defRPr>
            </a:pPr>
            <a:r>
              <a:rPr sz="1350" b="1" i="0">
                <a:solidFill>
                  <a:srgbClr val="141A24"/>
                </a:solidFill>
                <a:latin typeface="Helvetica Neue"/>
                <a:ea typeface="Helvetica Neue"/>
                <a:cs typeface="Helvetica Neue"/>
              </a:rPr>
              <a:t>Diagnostic radius</a:t>
            </a:r>
          </a:p>
        </p:txBody>
      </p:sp>
      <p:sp>
        <p:nvSpPr>
          <p:cNvPr id="34" name="">
            <a:extLst xmlns:a="http://schemas.openxmlformats.org/drawingml/2006/main">
              <a:ext uri="{FF2B5EF4-FFF2-40B4-BE49-F238E27FC236}">
                <a16:creationId xmlns:a16="http://schemas.microsoft.com/office/drawing/2014/main" id="{5373DF8A-A8E2-40F5-8158-5DD79988D262}"/>
              </a:ext>
            </a:extLst>
          </p:cNvPr>
          <p:cNvSpPr>
            <a:spLocks xmlns:a="http://schemas.openxmlformats.org/drawingml/2006/main" noGrp="1"/>
          </p:cNvSpPr>
          <p:nvPr/>
        </p:nvSpPr>
        <p:spPr>
          <a:xfrm xmlns:a="http://schemas.openxmlformats.org/drawingml/2006/main">
            <a:off x="3714750" y="4895850"/>
            <a:ext cx="666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350" b="0" i="0">
                <a:solidFill>
                  <a:srgbClr val="141A24"/>
                </a:solidFill>
                <a:latin typeface="Helvetica Neue"/>
                <a:ea typeface="Helvetica Neue"/>
                <a:cs typeface="Helvetica Neue"/>
              </a:defRPr>
            </a:pPr>
            <a:r>
              <a:rPr sz="1350" b="0" i="0">
                <a:solidFill>
                  <a:srgbClr val="141A24"/>
                </a:solidFill>
                <a:latin typeface="Helvetica Neue"/>
                <a:ea typeface="Helvetica Neue"/>
                <a:cs typeface="Helvetica Neue"/>
              </a:rPr>
              <a:t>1–5000 µm</a:t>
            </a:r>
          </a:p>
        </p:txBody>
      </p:sp>
      <p:sp>
        <p:nvSpPr>
          <p:cNvPr id="35" name="">
            <a:extLst xmlns:a="http://schemas.openxmlformats.org/drawingml/2006/main">
              <a:ext uri="{FF2B5EF4-FFF2-40B4-BE49-F238E27FC236}">
                <a16:creationId xmlns:a16="http://schemas.microsoft.com/office/drawing/2014/main" id="{89C49E1D-07EC-428F-9B82-C1534B288E20}"/>
              </a:ext>
            </a:extLst>
          </p:cNvPr>
          <p:cNvSpPr>
            <a:spLocks xmlns:a="http://schemas.openxmlformats.org/drawingml/2006/main" noGrp="1"/>
          </p:cNvSpPr>
          <p:nvPr/>
        </p:nvSpPr>
        <p:spPr>
          <a:xfrm xmlns:a="http://schemas.openxmlformats.org/drawingml/2006/main">
            <a:off x="514350" y="5619750"/>
            <a:ext cx="10001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350" b="0" i="1">
                <a:solidFill>
                  <a:srgbClr val="556170"/>
                </a:solidFill>
                <a:latin typeface="Helvetica Neue"/>
                <a:ea typeface="Helvetica Neue"/>
                <a:cs typeface="Helvetica Neue"/>
              </a:defRPr>
            </a:pPr>
            <a:r>
              <a:rPr sz="1350" b="0" i="1">
                <a:solidFill>
                  <a:srgbClr val="556170"/>
                </a:solidFill>
                <a:latin typeface="Helvetica Neue"/>
                <a:ea typeface="Helvetica Neue"/>
                <a:cs typeface="Helvetica Neue"/>
              </a:rPr>
              <a:t>The 3600-s horizon is a registered test window—not a physical hard stop in the literature.</a:t>
            </a:r>
          </a:p>
        </p:txBody>
      </p:sp>
    </p:spTree>
    <p:extLst>
      <p:ext uri="{BB962C8B-B14F-4D97-AF65-F5344CB8AC3E}">
        <p14:creationId xmlns:p14="http://schemas.microsoft.com/office/powerpoint/2010/main" val="760660415"/>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sp>
        <p:nvSpPr>
          <p:cNvPr id="24" name="">
            <a:extLst xmlns:a="http://schemas.openxmlformats.org/drawingml/2006/main">
              <a:ext uri="{FF2B5EF4-FFF2-40B4-BE49-F238E27FC236}">
                <a16:creationId xmlns:a16="http://schemas.microsoft.com/office/drawing/2014/main" id="{2D475A48-08E6-4BC4-AD23-FE224A581D32}"/>
              </a:ext>
            </a:extLst>
          </p:cNvPr>
          <p:cNvSpPr>
            <a:spLocks xmlns:a="http://schemas.openxmlformats.org/drawingml/2006/main" noGrp="1"/>
          </p:cNvSpPr>
          <p:nvPr/>
        </p:nvSpPr>
        <p:spPr>
          <a:xfrm xmlns:a="http://schemas.openxmlformats.org/drawingml/2006/main">
            <a:off x="400050" y="285750"/>
            <a:ext cx="7239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1" i="0">
                <a:solidFill>
                  <a:srgbClr val="1774D1"/>
                </a:solidFill>
                <a:latin typeface="Helvetica Neue"/>
                <a:ea typeface="Helvetica Neue"/>
                <a:cs typeface="Helvetica Neue"/>
              </a:defRPr>
            </a:pPr>
            <a:r>
              <a:rPr sz="900" b="1" i="0">
                <a:solidFill>
                  <a:srgbClr val="1774D1"/>
                </a:solidFill>
                <a:latin typeface="Helvetica Neue"/>
                <a:ea typeface="Helvetica Neue"/>
                <a:cs typeface="Helvetica Neue"/>
              </a:rPr>
              <a:t>GOLOVIN CONVERGENCE CALIBRATION</a:t>
            </a:r>
          </a:p>
        </p:txBody>
      </p:sp>
      <p:sp>
        <p:nvSpPr>
          <p:cNvPr id="2" name="">
            <a:extLst xmlns:a="http://schemas.openxmlformats.org/drawingml/2006/main">
              <a:ext uri="{FF2B5EF4-FFF2-40B4-BE49-F238E27FC236}">
                <a16:creationId xmlns:a16="http://schemas.microsoft.com/office/drawing/2014/main" id="{82036F0C-1E46-4894-8AED-219E667C9BFB}"/>
              </a:ext>
            </a:extLst>
          </p:cNvPr>
          <p:cNvSpPr>
            <a:spLocks xmlns:a="http://schemas.openxmlformats.org/drawingml/2006/main" noGrp="1"/>
          </p:cNvSpPr>
          <p:nvPr/>
        </p:nvSpPr>
        <p:spPr>
          <a:xfrm xmlns:a="http://schemas.openxmlformats.org/drawingml/2006/main">
            <a:off x="400050" y="590550"/>
            <a:ext cx="113728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625" b="1" i="0">
                <a:solidFill>
                  <a:srgbClr val="141A24"/>
                </a:solidFill>
                <a:latin typeface="Helvetica Neue"/>
                <a:ea typeface="Helvetica Neue"/>
                <a:cs typeface="Helvetica Neue"/>
              </a:defRPr>
            </a:pPr>
            <a:r>
              <a:rPr sz="2625" b="1" i="0">
                <a:solidFill>
                  <a:srgbClr val="141A24"/>
                </a:solidFill>
                <a:latin typeface="Helvetica Neue"/>
                <a:ea typeface="Helvetica Neue"/>
                <a:cs typeface="Helvetica Neue"/>
              </a:rPr>
              <a:t>Frozen inputs isolate collision randomness from initial-sampling noise</a:t>
            </a:r>
          </a:p>
        </p:txBody>
      </p:sp>
      <p:cxnSp>
        <p:nvCxnSpPr>
          <p:cNvPr id="26" name=""/>
          <p:cNvCxnSpPr/>
          <p:nvPr/>
        </p:nvCxnSpPr>
        <p:spPr>
          <a:xfrm xmlns:a="http://schemas.openxmlformats.org/drawingml/2006/main">
            <a:off x="400050" y="6343650"/>
            <a:ext cx="11391900" cy="0"/>
          </a:xfrm>
          <a:prstGeom xmlns:a="http://schemas.openxmlformats.org/drawingml/2006/main" prst="straightConnector1">
            <a:avLst/>
          </a:prstGeom>
          <a:ln xmlns:a="http://schemas.openxmlformats.org/drawingml/2006/main" w="9525">
            <a:solidFill>
              <a:srgbClr val="C6CDD5"/>
            </a:solidFill>
            <a:prstDash val="solid"/>
          </a:ln>
        </p:spPr>
      </p:cxnSp>
      <p:sp>
        <p:nvSpPr>
          <p:cNvPr id="4" name="">
            <a:extLst xmlns:a="http://schemas.openxmlformats.org/drawingml/2006/main">
              <a:ext uri="{FF2B5EF4-FFF2-40B4-BE49-F238E27FC236}">
                <a16:creationId xmlns:a16="http://schemas.microsoft.com/office/drawing/2014/main" id="{940E756A-3D6A-4B1E-A0BE-23F11AD55A61}"/>
              </a:ext>
            </a:extLst>
          </p:cNvPr>
          <p:cNvSpPr>
            <a:spLocks xmlns:a="http://schemas.openxmlformats.org/drawingml/2006/main" noGrp="1"/>
          </p:cNvSpPr>
          <p:nvPr/>
        </p:nvSpPr>
        <p:spPr>
          <a:xfrm xmlns:a="http://schemas.openxmlformats.org/drawingml/2006/main">
            <a:off x="400050" y="6457950"/>
            <a:ext cx="4095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825" b="0" i="0">
                <a:solidFill>
                  <a:srgbClr val="556170"/>
                </a:solidFill>
                <a:latin typeface="Helvetica Neue"/>
                <a:ea typeface="Helvetica Neue"/>
                <a:cs typeface="Helvetica Neue"/>
              </a:defRPr>
            </a:pPr>
            <a:r>
              <a:rPr sz="825" b="0" i="0">
                <a:solidFill>
                  <a:srgbClr val="556170"/>
                </a:solidFill>
                <a:latin typeface="Helvetica Neue"/>
                <a:ea typeface="Helvetica Neue"/>
                <a:cs typeface="Helvetica Neue"/>
              </a:rPr>
              <a:t>CLEO controlled Golovin calibration</a:t>
            </a:r>
          </a:p>
        </p:txBody>
      </p:sp>
      <p:sp>
        <p:nvSpPr>
          <p:cNvPr id="5" name="">
            <a:extLst xmlns:a="http://schemas.openxmlformats.org/drawingml/2006/main">
              <a:ext uri="{FF2B5EF4-FFF2-40B4-BE49-F238E27FC236}">
                <a16:creationId xmlns:a16="http://schemas.microsoft.com/office/drawing/2014/main" id="{A9DE4AAF-15EE-4117-9EC8-ACF3AB2B0FE4}"/>
              </a:ext>
            </a:extLst>
          </p:cNvPr>
          <p:cNvSpPr>
            <a:spLocks xmlns:a="http://schemas.openxmlformats.org/drawingml/2006/main" noGrp="1"/>
          </p:cNvSpPr>
          <p:nvPr/>
        </p:nvSpPr>
        <p:spPr>
          <a:xfrm xmlns:a="http://schemas.openxmlformats.org/drawingml/2006/main">
            <a:off x="9191625" y="6457950"/>
            <a:ext cx="1524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825" b="0" i="0">
                <a:solidFill>
                  <a:srgbClr val="556170"/>
                </a:solidFill>
                <a:latin typeface="Helvetica Neue"/>
                <a:ea typeface="Helvetica Neue"/>
                <a:cs typeface="Helvetica Neue"/>
              </a:defRPr>
            </a:pPr>
            <a:r>
              <a:rPr sz="825" b="0" i="0">
                <a:solidFill>
                  <a:srgbClr val="556170"/>
                </a:solidFill>
                <a:latin typeface="Helvetica Neue"/>
                <a:ea typeface="Helvetica Neue"/>
                <a:cs typeface="Helvetica Neue"/>
              </a:rPr>
              <a:t>02 AUG 2026</a:t>
            </a:r>
          </a:p>
        </p:txBody>
      </p:sp>
      <p:sp>
        <p:nvSpPr>
          <p:cNvPr id="6" name="">
            <a:extLst xmlns:a="http://schemas.openxmlformats.org/drawingml/2006/main">
              <a:ext uri="{FF2B5EF4-FFF2-40B4-BE49-F238E27FC236}">
                <a16:creationId xmlns:a16="http://schemas.microsoft.com/office/drawing/2014/main" id="{D3B1DB1A-26B2-4660-99C1-B04F61523EF3}"/>
              </a:ext>
            </a:extLst>
          </p:cNvPr>
          <p:cNvSpPr>
            <a:spLocks xmlns:a="http://schemas.openxmlformats.org/drawingml/2006/main" noGrp="1"/>
          </p:cNvSpPr>
          <p:nvPr/>
        </p:nvSpPr>
        <p:spPr>
          <a:xfrm xmlns:a="http://schemas.openxmlformats.org/drawingml/2006/main">
            <a:off x="11049000" y="6438900"/>
            <a:ext cx="7429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00" b="1" i="0">
                <a:solidFill>
                  <a:srgbClr val="141A24"/>
                </a:solidFill>
                <a:latin typeface="Helvetica Neue"/>
                <a:ea typeface="Helvetica Neue"/>
                <a:cs typeface="Helvetica Neue"/>
              </a:defRPr>
            </a:pPr>
            <a:r>
              <a:rPr sz="900" b="1" i="0">
                <a:solidFill>
                  <a:srgbClr val="141A24"/>
                </a:solidFill>
                <a:latin typeface="Helvetica Neue"/>
                <a:ea typeface="Helvetica Neue"/>
                <a:cs typeface="Helvetica Neue"/>
              </a:rPr>
              <a:t>05</a:t>
            </a:r>
          </a:p>
        </p:txBody>
      </p:sp>
      <p:sp>
        <p:nvSpPr>
          <p:cNvPr id="7" name="">
            <a:extLst xmlns:a="http://schemas.openxmlformats.org/drawingml/2006/main">
              <a:ext uri="{FF2B5EF4-FFF2-40B4-BE49-F238E27FC236}">
                <a16:creationId xmlns:a16="http://schemas.microsoft.com/office/drawing/2014/main" id="{AAE3C374-2EF1-4E10-B6C3-1E9E23D7CE03}"/>
              </a:ext>
            </a:extLst>
          </p:cNvPr>
          <p:cNvSpPr>
            <a:spLocks xmlns:a="http://schemas.openxmlformats.org/drawingml/2006/main" noGrp="1"/>
          </p:cNvSpPr>
          <p:nvPr/>
        </p:nvSpPr>
        <p:spPr>
          <a:xfrm xmlns:a="http://schemas.openxmlformats.org/drawingml/2006/main">
            <a:off x="552450" y="1714500"/>
            <a:ext cx="3171825" cy="2552700"/>
          </a:xfrm>
          <a:prstGeom xmlns:a="http://schemas.openxmlformats.org/drawingml/2006/main" prst="rect">
            <a:avLst/>
          </a:prstGeom>
          <a:solidFill xmlns:a="http://schemas.openxmlformats.org/drawingml/2006/main">
            <a:srgbClr val="E8F2FF"/>
          </a:solidFill>
          <a:ln xmlns:a="http://schemas.openxmlformats.org/drawingml/2006/main" w="9525">
            <a:solidFill>
              <a:srgbClr val="1774D1"/>
            </a:solidFill>
            <a:prstDash val="solid"/>
          </a:ln>
        </p:spPr>
      </p:sp>
      <p:sp>
        <p:nvSpPr>
          <p:cNvPr id="8" name="">
            <a:extLst xmlns:a="http://schemas.openxmlformats.org/drawingml/2006/main">
              <a:ext uri="{FF2B5EF4-FFF2-40B4-BE49-F238E27FC236}">
                <a16:creationId xmlns:a16="http://schemas.microsoft.com/office/drawing/2014/main" id="{D5B7CBEB-3943-40BB-B97F-033EBC5EFD22}"/>
              </a:ext>
            </a:extLst>
          </p:cNvPr>
          <p:cNvSpPr>
            <a:spLocks xmlns:a="http://schemas.openxmlformats.org/drawingml/2006/main" noGrp="1"/>
          </p:cNvSpPr>
          <p:nvPr/>
        </p:nvSpPr>
        <p:spPr>
          <a:xfrm xmlns:a="http://schemas.openxmlformats.org/drawingml/2006/main">
            <a:off x="800100" y="2000250"/>
            <a:ext cx="1143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825" b="1" i="0">
                <a:solidFill>
                  <a:srgbClr val="1774D1"/>
                </a:solidFill>
                <a:latin typeface="Helvetica Neue"/>
                <a:ea typeface="Helvetica Neue"/>
                <a:cs typeface="Helvetica Neue"/>
              </a:defRPr>
            </a:pPr>
            <a:r>
              <a:rPr sz="825" b="1" i="0">
                <a:solidFill>
                  <a:srgbClr val="1774D1"/>
                </a:solidFill>
                <a:latin typeface="Helvetica Neue"/>
                <a:ea typeface="Helvetica Neue"/>
                <a:cs typeface="Helvetica Neue"/>
              </a:rPr>
              <a:t>STEP 1</a:t>
            </a:r>
          </a:p>
        </p:txBody>
      </p:sp>
      <p:sp>
        <p:nvSpPr>
          <p:cNvPr id="9" name="">
            <a:extLst xmlns:a="http://schemas.openxmlformats.org/drawingml/2006/main">
              <a:ext uri="{FF2B5EF4-FFF2-40B4-BE49-F238E27FC236}">
                <a16:creationId xmlns:a16="http://schemas.microsoft.com/office/drawing/2014/main" id="{E2EB92CE-3F09-4D67-935F-5074EED9FDF9}"/>
              </a:ext>
            </a:extLst>
          </p:cNvPr>
          <p:cNvSpPr>
            <a:spLocks xmlns:a="http://schemas.openxmlformats.org/drawingml/2006/main" noGrp="1"/>
          </p:cNvSpPr>
          <p:nvPr/>
        </p:nvSpPr>
        <p:spPr>
          <a:xfrm xmlns:a="http://schemas.openxmlformats.org/drawingml/2006/main">
            <a:off x="800100" y="2390775"/>
            <a:ext cx="2476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100" b="1" i="0">
                <a:solidFill>
                  <a:srgbClr val="141A24"/>
                </a:solidFill>
                <a:latin typeface="Helvetica Neue"/>
                <a:ea typeface="Helvetica Neue"/>
                <a:cs typeface="Helvetica Neue"/>
              </a:defRPr>
            </a:pPr>
            <a:r>
              <a:rPr sz="2100" b="1" i="0">
                <a:solidFill>
                  <a:srgbClr val="141A24"/>
                </a:solidFill>
                <a:latin typeface="Helvetica Neue"/>
                <a:ea typeface="Helvetica Neue"/>
                <a:cs typeface="Helvetica Neue"/>
              </a:rPr>
              <a:t>One controlled</a:t>
            </a:r>
          </a:p>
          <a:p xmlns:a="http://schemas.openxmlformats.org/drawingml/2006/main">
            <a:pPr algn="l">
              <a:defRPr sz="2100" b="1" i="0">
                <a:solidFill>
                  <a:srgbClr val="141A24"/>
                </a:solidFill>
                <a:latin typeface="Helvetica Neue"/>
                <a:ea typeface="Helvetica Neue"/>
                <a:cs typeface="Helvetica Neue"/>
              </a:defRPr>
            </a:pPr>
            <a:r>
              <a:rPr sz="2100" b="1" i="0">
                <a:solidFill>
                  <a:srgbClr val="141A24"/>
                </a:solidFill>
                <a:latin typeface="Helvetica Neue"/>
                <a:ea typeface="Helvetica Neue"/>
                <a:cs typeface="Helvetica Neue"/>
              </a:rPr>
              <a:t>initial population</a:t>
            </a:r>
          </a:p>
        </p:txBody>
      </p:sp>
      <p:sp>
        <p:nvSpPr>
          <p:cNvPr id="10" name="">
            <a:extLst xmlns:a="http://schemas.openxmlformats.org/drawingml/2006/main">
              <a:ext uri="{FF2B5EF4-FFF2-40B4-BE49-F238E27FC236}">
                <a16:creationId xmlns:a16="http://schemas.microsoft.com/office/drawing/2014/main" id="{06E3528A-62D7-4C05-B909-30BCC56474C3}"/>
              </a:ext>
            </a:extLst>
          </p:cNvPr>
          <p:cNvSpPr>
            <a:spLocks xmlns:a="http://schemas.openxmlformats.org/drawingml/2006/main" noGrp="1"/>
          </p:cNvSpPr>
          <p:nvPr/>
        </p:nvSpPr>
        <p:spPr>
          <a:xfrm xmlns:a="http://schemas.openxmlformats.org/drawingml/2006/main">
            <a:off x="800100" y="3333750"/>
            <a:ext cx="24765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75" b="0" i="0">
                <a:solidFill>
                  <a:srgbClr val="556170"/>
                </a:solidFill>
                <a:latin typeface="Helvetica Neue"/>
                <a:ea typeface="Helvetica Neue"/>
                <a:cs typeface="Helvetica Neue"/>
              </a:defRPr>
            </a:pPr>
            <a:r>
              <a:rPr sz="1275" b="0" i="0">
                <a:solidFill>
                  <a:srgbClr val="556170"/>
                </a:solidFill>
                <a:latin typeface="Helvetica Neue"/>
                <a:ea typeface="Helvetica Neue"/>
                <a:cs typeface="Helvetica Neue"/>
              </a:rPr>
              <a:t>Exponential-in-volume DSD, conditioned to 1–75 µm; deterministic multiplicities; immutable binary.</a:t>
            </a:r>
          </a:p>
        </p:txBody>
      </p:sp>
      <p:cxnSp>
        <p:nvCxnSpPr>
          <p:cNvPr id="34" name=""/>
          <p:cNvCxnSpPr/>
          <p:nvPr/>
        </p:nvCxnSpPr>
        <p:spPr>
          <a:xfrm xmlns:a="http://schemas.openxmlformats.org/drawingml/2006/main">
            <a:off x="3733800" y="2981325"/>
            <a:ext cx="1066800" cy="0"/>
          </a:xfrm>
          <a:prstGeom xmlns:a="http://schemas.openxmlformats.org/drawingml/2006/main" prst="straightConnector1">
            <a:avLst/>
          </a:prstGeom>
          <a:ln xmlns:a="http://schemas.openxmlformats.org/drawingml/2006/main" w="19050">
            <a:solidFill>
              <a:srgbClr val="1774D1"/>
            </a:solidFill>
            <a:prstDash val="solid"/>
          </a:ln>
        </p:spPr>
      </p:cxnSp>
      <p:sp>
        <p:nvSpPr>
          <p:cNvPr id="12" name="">
            <a:extLst xmlns:a="http://schemas.openxmlformats.org/drawingml/2006/main">
              <a:ext uri="{FF2B5EF4-FFF2-40B4-BE49-F238E27FC236}">
                <a16:creationId xmlns:a16="http://schemas.microsoft.com/office/drawing/2014/main" id="{D146B073-59F1-4A1A-A945-5D1EBFE34827}"/>
              </a:ext>
            </a:extLst>
          </p:cNvPr>
          <p:cNvSpPr>
            <a:spLocks xmlns:a="http://schemas.openxmlformats.org/drawingml/2006/main" noGrp="1"/>
          </p:cNvSpPr>
          <p:nvPr/>
        </p:nvSpPr>
        <p:spPr>
          <a:xfrm xmlns:a="http://schemas.openxmlformats.org/drawingml/2006/main">
            <a:off x="4076700" y="2714625"/>
            <a:ext cx="381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2250" b="1" i="0">
                <a:solidFill>
                  <a:srgbClr val="1774D1"/>
                </a:solidFill>
                <a:latin typeface="Helvetica Neue"/>
                <a:ea typeface="Helvetica Neue"/>
                <a:cs typeface="Helvetica Neue"/>
              </a:defRPr>
            </a:pPr>
            <a:r>
              <a:rPr sz="2250" b="1" i="0">
                <a:solidFill>
                  <a:srgbClr val="1774D1"/>
                </a:solidFill>
                <a:latin typeface="Helvetica Neue"/>
                <a:ea typeface="Helvetica Neue"/>
                <a:cs typeface="Helvetica Neue"/>
              </a:rPr>
              <a:t>→</a:t>
            </a:r>
          </a:p>
        </p:txBody>
      </p:sp>
      <p:sp>
        <p:nvSpPr>
          <p:cNvPr id="13" name="">
            <a:extLst xmlns:a="http://schemas.openxmlformats.org/drawingml/2006/main">
              <a:ext uri="{FF2B5EF4-FFF2-40B4-BE49-F238E27FC236}">
                <a16:creationId xmlns:a16="http://schemas.microsoft.com/office/drawing/2014/main" id="{F8979E8D-F5D9-4634-AC3D-BDA257DB9A50}"/>
              </a:ext>
            </a:extLst>
          </p:cNvPr>
          <p:cNvSpPr>
            <a:spLocks xmlns:a="http://schemas.openxmlformats.org/drawingml/2006/main" noGrp="1"/>
          </p:cNvSpPr>
          <p:nvPr/>
        </p:nvSpPr>
        <p:spPr>
          <a:xfrm xmlns:a="http://schemas.openxmlformats.org/drawingml/2006/main">
            <a:off x="4810125" y="1714500"/>
            <a:ext cx="3171825" cy="2552700"/>
          </a:xfrm>
          <a:prstGeom xmlns:a="http://schemas.openxmlformats.org/drawingml/2006/main" prst="rect">
            <a:avLst/>
          </a:prstGeom>
          <a:solidFill xmlns:a="http://schemas.openxmlformats.org/drawingml/2006/main">
            <a:srgbClr val="F6F8FA"/>
          </a:solidFill>
          <a:ln xmlns:a="http://schemas.openxmlformats.org/drawingml/2006/main" w="9525">
            <a:solidFill>
              <a:srgbClr val="C6CDD5"/>
            </a:solidFill>
            <a:prstDash val="solid"/>
          </a:ln>
        </p:spPr>
      </p:sp>
      <p:sp>
        <p:nvSpPr>
          <p:cNvPr id="14" name="">
            <a:extLst xmlns:a="http://schemas.openxmlformats.org/drawingml/2006/main">
              <a:ext uri="{FF2B5EF4-FFF2-40B4-BE49-F238E27FC236}">
                <a16:creationId xmlns:a16="http://schemas.microsoft.com/office/drawing/2014/main" id="{B996B98C-5CA2-4B3E-83B7-1F7429DF4CC5}"/>
              </a:ext>
            </a:extLst>
          </p:cNvPr>
          <p:cNvSpPr>
            <a:spLocks xmlns:a="http://schemas.openxmlformats.org/drawingml/2006/main" noGrp="1"/>
          </p:cNvSpPr>
          <p:nvPr/>
        </p:nvSpPr>
        <p:spPr>
          <a:xfrm xmlns:a="http://schemas.openxmlformats.org/drawingml/2006/main">
            <a:off x="5057775" y="2000250"/>
            <a:ext cx="1143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825" b="1" i="0">
                <a:solidFill>
                  <a:srgbClr val="1774D1"/>
                </a:solidFill>
                <a:latin typeface="Helvetica Neue"/>
                <a:ea typeface="Helvetica Neue"/>
                <a:cs typeface="Helvetica Neue"/>
              </a:defRPr>
            </a:pPr>
            <a:r>
              <a:rPr sz="825" b="1" i="0">
                <a:solidFill>
                  <a:srgbClr val="1774D1"/>
                </a:solidFill>
                <a:latin typeface="Helvetica Neue"/>
                <a:ea typeface="Helvetica Neue"/>
                <a:cs typeface="Helvetica Neue"/>
              </a:rPr>
              <a:t>STEP 2</a:t>
            </a:r>
          </a:p>
        </p:txBody>
      </p:sp>
      <p:sp>
        <p:nvSpPr>
          <p:cNvPr id="15" name="">
            <a:extLst xmlns:a="http://schemas.openxmlformats.org/drawingml/2006/main">
              <a:ext uri="{FF2B5EF4-FFF2-40B4-BE49-F238E27FC236}">
                <a16:creationId xmlns:a16="http://schemas.microsoft.com/office/drawing/2014/main" id="{A9B5035E-908C-47E4-B48C-9878D0380B85}"/>
              </a:ext>
            </a:extLst>
          </p:cNvPr>
          <p:cNvSpPr>
            <a:spLocks xmlns:a="http://schemas.openxmlformats.org/drawingml/2006/main" noGrp="1"/>
          </p:cNvSpPr>
          <p:nvPr/>
        </p:nvSpPr>
        <p:spPr>
          <a:xfrm xmlns:a="http://schemas.openxmlformats.org/drawingml/2006/main">
            <a:off x="5057775" y="2390775"/>
            <a:ext cx="2476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100" b="1" i="0">
                <a:solidFill>
                  <a:srgbClr val="141A24"/>
                </a:solidFill>
                <a:latin typeface="Helvetica Neue"/>
                <a:ea typeface="Helvetica Neue"/>
                <a:cs typeface="Helvetica Neue"/>
              </a:defRPr>
            </a:pPr>
            <a:r>
              <a:rPr sz="2100" b="1" i="0">
                <a:solidFill>
                  <a:srgbClr val="141A24"/>
                </a:solidFill>
                <a:latin typeface="Helvetica Neue"/>
                <a:ea typeface="Helvetica Neue"/>
                <a:cs typeface="Helvetica Neue"/>
              </a:rPr>
              <a:t>Independent</a:t>
            </a:r>
          </a:p>
          <a:p xmlns:a="http://schemas.openxmlformats.org/drawingml/2006/main">
            <a:pPr algn="l">
              <a:defRPr sz="2100" b="1" i="0">
                <a:solidFill>
                  <a:srgbClr val="141A24"/>
                </a:solidFill>
                <a:latin typeface="Helvetica Neue"/>
                <a:ea typeface="Helvetica Neue"/>
                <a:cs typeface="Helvetica Neue"/>
              </a:defRPr>
            </a:pPr>
            <a:r>
              <a:rPr sz="2100" b="1" i="0">
                <a:solidFill>
                  <a:srgbClr val="141A24"/>
                </a:solidFill>
                <a:latin typeface="Helvetica Neue"/>
                <a:ea typeface="Helvetica Neue"/>
                <a:cs typeface="Helvetica Neue"/>
              </a:rPr>
              <a:t>collision seeds</a:t>
            </a:r>
          </a:p>
        </p:txBody>
      </p:sp>
      <p:sp>
        <p:nvSpPr>
          <p:cNvPr id="16" name="">
            <a:extLst xmlns:a="http://schemas.openxmlformats.org/drawingml/2006/main">
              <a:ext uri="{FF2B5EF4-FFF2-40B4-BE49-F238E27FC236}">
                <a16:creationId xmlns:a16="http://schemas.microsoft.com/office/drawing/2014/main" id="{F8B3D143-4350-47CD-8628-EB67326037DC}"/>
              </a:ext>
            </a:extLst>
          </p:cNvPr>
          <p:cNvSpPr>
            <a:spLocks xmlns:a="http://schemas.openxmlformats.org/drawingml/2006/main" noGrp="1"/>
          </p:cNvSpPr>
          <p:nvPr/>
        </p:nvSpPr>
        <p:spPr>
          <a:xfrm xmlns:a="http://schemas.openxmlformats.org/drawingml/2006/main">
            <a:off x="5057775" y="3333750"/>
            <a:ext cx="24765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75" b="0" i="0">
                <a:solidFill>
                  <a:srgbClr val="556170"/>
                </a:solidFill>
                <a:latin typeface="Helvetica Neue"/>
                <a:ea typeface="Helvetica Neue"/>
                <a:cs typeface="Helvetica Neue"/>
              </a:defRPr>
            </a:pPr>
            <a:r>
              <a:rPr sz="1275" b="0" i="0">
                <a:solidFill>
                  <a:srgbClr val="556170"/>
                </a:solidFill>
                <a:latin typeface="Helvetica Neue"/>
                <a:ea typeface="Helvetica Neue"/>
                <a:cs typeface="Helvetica Neue"/>
              </a:rPr>
              <a:t>Every member starts from identical bytes at its resolution, then uses a distinct RNG stream for collisions.</a:t>
            </a:r>
          </a:p>
        </p:txBody>
      </p:sp>
      <p:cxnSp>
        <p:nvCxnSpPr>
          <p:cNvPr id="40" name=""/>
          <p:cNvCxnSpPr/>
          <p:nvPr/>
        </p:nvCxnSpPr>
        <p:spPr>
          <a:xfrm xmlns:a="http://schemas.openxmlformats.org/drawingml/2006/main">
            <a:off x="7991475" y="2981325"/>
            <a:ext cx="1066800" cy="0"/>
          </a:xfrm>
          <a:prstGeom xmlns:a="http://schemas.openxmlformats.org/drawingml/2006/main" prst="straightConnector1">
            <a:avLst/>
          </a:prstGeom>
          <a:ln xmlns:a="http://schemas.openxmlformats.org/drawingml/2006/main" w="19050">
            <a:solidFill>
              <a:srgbClr val="1774D1"/>
            </a:solidFill>
            <a:prstDash val="solid"/>
          </a:ln>
        </p:spPr>
      </p:cxnSp>
      <p:sp>
        <p:nvSpPr>
          <p:cNvPr id="18" name="">
            <a:extLst xmlns:a="http://schemas.openxmlformats.org/drawingml/2006/main">
              <a:ext uri="{FF2B5EF4-FFF2-40B4-BE49-F238E27FC236}">
                <a16:creationId xmlns:a16="http://schemas.microsoft.com/office/drawing/2014/main" id="{6E24325E-542B-4C97-B1BC-A3B923ED0AC3}"/>
              </a:ext>
            </a:extLst>
          </p:cNvPr>
          <p:cNvSpPr>
            <a:spLocks xmlns:a="http://schemas.openxmlformats.org/drawingml/2006/main" noGrp="1"/>
          </p:cNvSpPr>
          <p:nvPr/>
        </p:nvSpPr>
        <p:spPr>
          <a:xfrm xmlns:a="http://schemas.openxmlformats.org/drawingml/2006/main">
            <a:off x="8334375" y="2714625"/>
            <a:ext cx="381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2250" b="1" i="0">
                <a:solidFill>
                  <a:srgbClr val="1774D1"/>
                </a:solidFill>
                <a:latin typeface="Helvetica Neue"/>
                <a:ea typeface="Helvetica Neue"/>
                <a:cs typeface="Helvetica Neue"/>
              </a:defRPr>
            </a:pPr>
            <a:r>
              <a:rPr sz="2250" b="1" i="0">
                <a:solidFill>
                  <a:srgbClr val="1774D1"/>
                </a:solidFill>
                <a:latin typeface="Helvetica Neue"/>
                <a:ea typeface="Helvetica Neue"/>
                <a:cs typeface="Helvetica Neue"/>
              </a:rPr>
              <a:t>→</a:t>
            </a:r>
          </a:p>
        </p:txBody>
      </p:sp>
      <p:sp>
        <p:nvSpPr>
          <p:cNvPr id="19" name="">
            <a:extLst xmlns:a="http://schemas.openxmlformats.org/drawingml/2006/main">
              <a:ext uri="{FF2B5EF4-FFF2-40B4-BE49-F238E27FC236}">
                <a16:creationId xmlns:a16="http://schemas.microsoft.com/office/drawing/2014/main" id="{BE7B28FC-4F4B-4311-B6B7-3E8DC7FD08C6}"/>
              </a:ext>
            </a:extLst>
          </p:cNvPr>
          <p:cNvSpPr>
            <a:spLocks xmlns:a="http://schemas.openxmlformats.org/drawingml/2006/main" noGrp="1"/>
          </p:cNvSpPr>
          <p:nvPr/>
        </p:nvSpPr>
        <p:spPr>
          <a:xfrm xmlns:a="http://schemas.openxmlformats.org/drawingml/2006/main">
            <a:off x="9067800" y="1714500"/>
            <a:ext cx="2476500" cy="2552700"/>
          </a:xfrm>
          <a:prstGeom xmlns:a="http://schemas.openxmlformats.org/drawingml/2006/main" prst="rect">
            <a:avLst/>
          </a:prstGeom>
          <a:solidFill xmlns:a="http://schemas.openxmlformats.org/drawingml/2006/main">
            <a:srgbClr val="E8F5EC"/>
          </a:solidFill>
          <a:ln xmlns:a="http://schemas.openxmlformats.org/drawingml/2006/main" w="9525">
            <a:solidFill>
              <a:srgbClr val="198754"/>
            </a:solidFill>
            <a:prstDash val="solid"/>
          </a:ln>
        </p:spPr>
      </p:sp>
      <p:sp>
        <p:nvSpPr>
          <p:cNvPr id="20" name="">
            <a:extLst xmlns:a="http://schemas.openxmlformats.org/drawingml/2006/main">
              <a:ext uri="{FF2B5EF4-FFF2-40B4-BE49-F238E27FC236}">
                <a16:creationId xmlns:a16="http://schemas.microsoft.com/office/drawing/2014/main" id="{436F5217-F546-4735-94E4-F01491F151F0}"/>
              </a:ext>
            </a:extLst>
          </p:cNvPr>
          <p:cNvSpPr>
            <a:spLocks xmlns:a="http://schemas.openxmlformats.org/drawingml/2006/main" noGrp="1"/>
          </p:cNvSpPr>
          <p:nvPr/>
        </p:nvSpPr>
        <p:spPr>
          <a:xfrm xmlns:a="http://schemas.openxmlformats.org/drawingml/2006/main">
            <a:off x="9315450" y="2000250"/>
            <a:ext cx="1143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825" b="1" i="0">
                <a:solidFill>
                  <a:srgbClr val="198754"/>
                </a:solidFill>
                <a:latin typeface="Helvetica Neue"/>
                <a:ea typeface="Helvetica Neue"/>
                <a:cs typeface="Helvetica Neue"/>
              </a:defRPr>
            </a:pPr>
            <a:r>
              <a:rPr sz="825" b="1" i="0">
                <a:solidFill>
                  <a:srgbClr val="198754"/>
                </a:solidFill>
                <a:latin typeface="Helvetica Neue"/>
                <a:ea typeface="Helvetica Neue"/>
                <a:cs typeface="Helvetica Neue"/>
              </a:rPr>
              <a:t>STEP 3</a:t>
            </a:r>
          </a:p>
        </p:txBody>
      </p:sp>
      <p:sp>
        <p:nvSpPr>
          <p:cNvPr id="21" name="">
            <a:extLst xmlns:a="http://schemas.openxmlformats.org/drawingml/2006/main">
              <a:ext uri="{FF2B5EF4-FFF2-40B4-BE49-F238E27FC236}">
                <a16:creationId xmlns:a16="http://schemas.microsoft.com/office/drawing/2014/main" id="{56A80854-6EE5-47C7-B37B-8E7D1943867A}"/>
              </a:ext>
            </a:extLst>
          </p:cNvPr>
          <p:cNvSpPr>
            <a:spLocks xmlns:a="http://schemas.openxmlformats.org/drawingml/2006/main" noGrp="1"/>
          </p:cNvSpPr>
          <p:nvPr/>
        </p:nvSpPr>
        <p:spPr>
          <a:xfrm xmlns:a="http://schemas.openxmlformats.org/drawingml/2006/main">
            <a:off x="9315450" y="2390775"/>
            <a:ext cx="20002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725" b="1" i="0">
                <a:solidFill>
                  <a:srgbClr val="141A24"/>
                </a:solidFill>
                <a:latin typeface="Helvetica Neue"/>
                <a:ea typeface="Helvetica Neue"/>
                <a:cs typeface="Helvetica Neue"/>
              </a:defRPr>
            </a:pPr>
            <a:r>
              <a:rPr sz="1725" b="1" i="0">
                <a:solidFill>
                  <a:srgbClr val="141A24"/>
                </a:solidFill>
                <a:latin typeface="Helvetica Neue"/>
                <a:ea typeface="Helvetica Neue"/>
                <a:cs typeface="Helvetica Neue"/>
              </a:rPr>
              <a:t>Ensemble mean</a:t>
            </a:r>
          </a:p>
          <a:p xmlns:a="http://schemas.openxmlformats.org/drawingml/2006/main">
            <a:pPr algn="l">
              <a:defRPr sz="1725" b="1" i="0">
                <a:solidFill>
                  <a:srgbClr val="141A24"/>
                </a:solidFill>
                <a:latin typeface="Helvetica Neue"/>
                <a:ea typeface="Helvetica Neue"/>
                <a:cs typeface="Helvetica Neue"/>
              </a:defRPr>
            </a:pPr>
            <a:r>
              <a:rPr sz="1725" b="1" i="0">
                <a:solidFill>
                  <a:srgbClr val="141A24"/>
                </a:solidFill>
                <a:latin typeface="Helvetica Neue"/>
                <a:ea typeface="Helvetica Neue"/>
                <a:cs typeface="Helvetica Neue"/>
              </a:rPr>
              <a:t>&amp; uncertainty</a:t>
            </a:r>
          </a:p>
        </p:txBody>
      </p:sp>
      <p:sp>
        <p:nvSpPr>
          <p:cNvPr id="22" name="">
            <a:extLst xmlns:a="http://schemas.openxmlformats.org/drawingml/2006/main">
              <a:ext uri="{FF2B5EF4-FFF2-40B4-BE49-F238E27FC236}">
                <a16:creationId xmlns:a16="http://schemas.microsoft.com/office/drawing/2014/main" id="{B64FAAB0-7A6B-4492-900C-2815C4E6E013}"/>
              </a:ext>
            </a:extLst>
          </p:cNvPr>
          <p:cNvSpPr>
            <a:spLocks xmlns:a="http://schemas.openxmlformats.org/drawingml/2006/main" noGrp="1"/>
          </p:cNvSpPr>
          <p:nvPr/>
        </p:nvSpPr>
        <p:spPr>
          <a:xfrm xmlns:a="http://schemas.openxmlformats.org/drawingml/2006/main">
            <a:off x="9315450" y="3371850"/>
            <a:ext cx="20002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00" b="0" i="0">
                <a:solidFill>
                  <a:srgbClr val="556170"/>
                </a:solidFill>
                <a:latin typeface="Helvetica Neue"/>
                <a:ea typeface="Helvetica Neue"/>
                <a:cs typeface="Helvetica Neue"/>
              </a:defRPr>
            </a:pPr>
            <a:r>
              <a:rPr sz="1200" b="0" i="0">
                <a:solidFill>
                  <a:srgbClr val="556170"/>
                </a:solidFill>
                <a:latin typeface="Helvetica Neue"/>
                <a:ea typeface="Helvetica Neue"/>
                <a:cs typeface="Helvetica Neue"/>
              </a:rPr>
              <a:t>The remaining spread is collision-history variability conditional on the fixed start.</a:t>
            </a:r>
          </a:p>
        </p:txBody>
      </p:sp>
      <p:sp>
        <p:nvSpPr>
          <p:cNvPr id="23" name="">
            <a:extLst xmlns:a="http://schemas.openxmlformats.org/drawingml/2006/main">
              <a:ext uri="{FF2B5EF4-FFF2-40B4-BE49-F238E27FC236}">
                <a16:creationId xmlns:a16="http://schemas.microsoft.com/office/drawing/2014/main" id="{9AF4A98F-4C02-474C-A8F2-54575E19A6E9}"/>
              </a:ext>
            </a:extLst>
          </p:cNvPr>
          <p:cNvSpPr>
            <a:spLocks xmlns:a="http://schemas.openxmlformats.org/drawingml/2006/main" noGrp="1"/>
          </p:cNvSpPr>
          <p:nvPr/>
        </p:nvSpPr>
        <p:spPr>
          <a:xfrm xmlns:a="http://schemas.openxmlformats.org/drawingml/2006/main">
            <a:off x="552450" y="4953000"/>
            <a:ext cx="10477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650" b="1" i="0">
                <a:solidFill>
                  <a:srgbClr val="4D3C93"/>
                </a:solidFill>
                <a:latin typeface="Helvetica Neue"/>
                <a:ea typeface="Helvetica Neue"/>
                <a:cs typeface="Helvetica Neue"/>
              </a:defRPr>
            </a:pPr>
            <a:r>
              <a:rPr sz="1650" b="1" i="0">
                <a:solidFill>
                  <a:srgbClr val="4D3C93"/>
                </a:solidFill>
                <a:latin typeface="Helvetica Neue"/>
                <a:ea typeface="Helvetica Neue"/>
                <a:cs typeface="Helvetica Neue"/>
              </a:rPr>
              <a:t>Different resolutions are independent ensembles—not paired trajectories.</a:t>
            </a:r>
          </a:p>
        </p:txBody>
      </p:sp>
    </p:spTree>
    <p:extLst>
      <p:ext uri="{BB962C8B-B14F-4D97-AF65-F5344CB8AC3E}">
        <p14:creationId xmlns:p14="http://schemas.microsoft.com/office/powerpoint/2010/main" val="1988945787"/>
      </p:ext>
    </p:extLst>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77C73278-F0D9-4709-9554-3FF368553BC4}"/>
              </a:ext>
            </a:extLst>
          </p:cNvPr>
          <p:cNvSpPr>
            <a:spLocks xmlns:a="http://schemas.openxmlformats.org/drawingml/2006/main" noGrp="1"/>
          </p:cNvSpPr>
          <p:nvPr/>
        </p:nvSpPr>
        <p:spPr>
          <a:xfrm xmlns:a="http://schemas.openxmlformats.org/drawingml/2006/main">
            <a:off x="400050" y="285750"/>
            <a:ext cx="7239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1" i="0">
                <a:solidFill>
                  <a:srgbClr val="1774D1"/>
                </a:solidFill>
                <a:latin typeface="Helvetica Neue"/>
                <a:ea typeface="Helvetica Neue"/>
                <a:cs typeface="Helvetica Neue"/>
              </a:defRPr>
            </a:pPr>
            <a:r>
              <a:rPr sz="900" b="1" i="0">
                <a:solidFill>
                  <a:srgbClr val="1774D1"/>
                </a:solidFill>
                <a:latin typeface="Helvetica Neue"/>
                <a:ea typeface="Helvetica Neue"/>
                <a:cs typeface="Helvetica Neue"/>
              </a:rPr>
              <a:t>GOLOVIN CONVERGENCE CALIBRATION</a:t>
            </a:r>
          </a:p>
        </p:txBody>
      </p:sp>
      <p:sp>
        <p:nvSpPr>
          <p:cNvPr id="2" name="">
            <a:extLst xmlns:a="http://schemas.openxmlformats.org/drawingml/2006/main">
              <a:ext uri="{FF2B5EF4-FFF2-40B4-BE49-F238E27FC236}">
                <a16:creationId xmlns:a16="http://schemas.microsoft.com/office/drawing/2014/main" id="{3596EAFD-2E64-4B62-9D40-EB365F62CC34}"/>
              </a:ext>
            </a:extLst>
          </p:cNvPr>
          <p:cNvSpPr>
            <a:spLocks xmlns:a="http://schemas.openxmlformats.org/drawingml/2006/main" noGrp="1"/>
          </p:cNvSpPr>
          <p:nvPr/>
        </p:nvSpPr>
        <p:spPr>
          <a:xfrm xmlns:a="http://schemas.openxmlformats.org/drawingml/2006/main">
            <a:off x="400050" y="590550"/>
            <a:ext cx="113728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625" b="1" i="0">
                <a:solidFill>
                  <a:srgbClr val="141A24"/>
                </a:solidFill>
                <a:latin typeface="Helvetica Neue"/>
                <a:ea typeface="Helvetica Neue"/>
                <a:cs typeface="Helvetica Neue"/>
              </a:defRPr>
            </a:pPr>
            <a:r>
              <a:rPr sz="2625" b="1" i="0">
                <a:solidFill>
                  <a:srgbClr val="141A24"/>
                </a:solidFill>
                <a:latin typeface="Helvetica Neue"/>
                <a:ea typeface="Helvetica Neue"/>
                <a:cs typeface="Helvetica Neue"/>
              </a:rPr>
              <a:t>Three primary diagnostics test different parts of the outcome</a:t>
            </a:r>
          </a:p>
        </p:txBody>
      </p:sp>
      <p:cxnSp>
        <p:nvCxnSpPr>
          <p:cNvPr id="22" name=""/>
          <p:cNvCxnSpPr/>
          <p:nvPr/>
        </p:nvCxnSpPr>
        <p:spPr>
          <a:xfrm xmlns:a="http://schemas.openxmlformats.org/drawingml/2006/main">
            <a:off x="400050" y="6343650"/>
            <a:ext cx="11391900" cy="0"/>
          </a:xfrm>
          <a:prstGeom xmlns:a="http://schemas.openxmlformats.org/drawingml/2006/main" prst="straightConnector1">
            <a:avLst/>
          </a:prstGeom>
          <a:ln xmlns:a="http://schemas.openxmlformats.org/drawingml/2006/main" w="9525">
            <a:solidFill>
              <a:srgbClr val="C6CDD5"/>
            </a:solidFill>
            <a:prstDash val="solid"/>
          </a:ln>
        </p:spPr>
      </p:cxnSp>
      <p:sp>
        <p:nvSpPr>
          <p:cNvPr id="4" name="">
            <a:extLst xmlns:a="http://schemas.openxmlformats.org/drawingml/2006/main">
              <a:ext uri="{FF2B5EF4-FFF2-40B4-BE49-F238E27FC236}">
                <a16:creationId xmlns:a16="http://schemas.microsoft.com/office/drawing/2014/main" id="{FCDEA232-82DD-41A4-A59A-8E1027F3192F}"/>
              </a:ext>
            </a:extLst>
          </p:cNvPr>
          <p:cNvSpPr>
            <a:spLocks xmlns:a="http://schemas.openxmlformats.org/drawingml/2006/main" noGrp="1"/>
          </p:cNvSpPr>
          <p:nvPr/>
        </p:nvSpPr>
        <p:spPr>
          <a:xfrm xmlns:a="http://schemas.openxmlformats.org/drawingml/2006/main">
            <a:off x="400050" y="6457950"/>
            <a:ext cx="4095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825" b="0" i="0">
                <a:solidFill>
                  <a:srgbClr val="556170"/>
                </a:solidFill>
                <a:latin typeface="Helvetica Neue"/>
                <a:ea typeface="Helvetica Neue"/>
                <a:cs typeface="Helvetica Neue"/>
              </a:defRPr>
            </a:pPr>
            <a:r>
              <a:rPr sz="825" b="0" i="0">
                <a:solidFill>
                  <a:srgbClr val="556170"/>
                </a:solidFill>
                <a:latin typeface="Helvetica Neue"/>
                <a:ea typeface="Helvetica Neue"/>
                <a:cs typeface="Helvetica Neue"/>
              </a:rPr>
              <a:t>CLEO controlled Golovin calibration</a:t>
            </a:r>
          </a:p>
        </p:txBody>
      </p:sp>
      <p:sp>
        <p:nvSpPr>
          <p:cNvPr id="5" name="">
            <a:extLst xmlns:a="http://schemas.openxmlformats.org/drawingml/2006/main">
              <a:ext uri="{FF2B5EF4-FFF2-40B4-BE49-F238E27FC236}">
                <a16:creationId xmlns:a16="http://schemas.microsoft.com/office/drawing/2014/main" id="{6E55044D-B5CA-4542-BC77-9B28978AF735}"/>
              </a:ext>
            </a:extLst>
          </p:cNvPr>
          <p:cNvSpPr>
            <a:spLocks xmlns:a="http://schemas.openxmlformats.org/drawingml/2006/main" noGrp="1"/>
          </p:cNvSpPr>
          <p:nvPr/>
        </p:nvSpPr>
        <p:spPr>
          <a:xfrm xmlns:a="http://schemas.openxmlformats.org/drawingml/2006/main">
            <a:off x="9191625" y="6457950"/>
            <a:ext cx="1524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825" b="0" i="0">
                <a:solidFill>
                  <a:srgbClr val="556170"/>
                </a:solidFill>
                <a:latin typeface="Helvetica Neue"/>
                <a:ea typeface="Helvetica Neue"/>
                <a:cs typeface="Helvetica Neue"/>
              </a:defRPr>
            </a:pPr>
            <a:r>
              <a:rPr sz="825" b="0" i="0">
                <a:solidFill>
                  <a:srgbClr val="556170"/>
                </a:solidFill>
                <a:latin typeface="Helvetica Neue"/>
                <a:ea typeface="Helvetica Neue"/>
                <a:cs typeface="Helvetica Neue"/>
              </a:rPr>
              <a:t>02 AUG 2026</a:t>
            </a:r>
          </a:p>
        </p:txBody>
      </p:sp>
      <p:sp>
        <p:nvSpPr>
          <p:cNvPr id="6" name="">
            <a:extLst xmlns:a="http://schemas.openxmlformats.org/drawingml/2006/main">
              <a:ext uri="{FF2B5EF4-FFF2-40B4-BE49-F238E27FC236}">
                <a16:creationId xmlns:a16="http://schemas.microsoft.com/office/drawing/2014/main" id="{D82A9488-478B-4D56-AC0E-C1E47F4AC29C}"/>
              </a:ext>
            </a:extLst>
          </p:cNvPr>
          <p:cNvSpPr>
            <a:spLocks xmlns:a="http://schemas.openxmlformats.org/drawingml/2006/main" noGrp="1"/>
          </p:cNvSpPr>
          <p:nvPr/>
        </p:nvSpPr>
        <p:spPr>
          <a:xfrm xmlns:a="http://schemas.openxmlformats.org/drawingml/2006/main">
            <a:off x="11049000" y="6438900"/>
            <a:ext cx="7429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00" b="1" i="0">
                <a:solidFill>
                  <a:srgbClr val="141A24"/>
                </a:solidFill>
                <a:latin typeface="Helvetica Neue"/>
                <a:ea typeface="Helvetica Neue"/>
                <a:cs typeface="Helvetica Neue"/>
              </a:defRPr>
            </a:pPr>
            <a:r>
              <a:rPr sz="900" b="1" i="0">
                <a:solidFill>
                  <a:srgbClr val="141A24"/>
                </a:solidFill>
                <a:latin typeface="Helvetica Neue"/>
                <a:ea typeface="Helvetica Neue"/>
                <a:cs typeface="Helvetica Neue"/>
              </a:rPr>
              <a:t>06</a:t>
            </a:r>
          </a:p>
        </p:txBody>
      </p:sp>
      <p:sp>
        <p:nvSpPr>
          <p:cNvPr id="7" name="">
            <a:extLst xmlns:a="http://schemas.openxmlformats.org/drawingml/2006/main">
              <a:ext uri="{FF2B5EF4-FFF2-40B4-BE49-F238E27FC236}">
                <a16:creationId xmlns:a16="http://schemas.microsoft.com/office/drawing/2014/main" id="{2BAAD2BC-52EC-47EA-96CE-38A2CEB344DA}"/>
              </a:ext>
            </a:extLst>
          </p:cNvPr>
          <p:cNvSpPr>
            <a:spLocks xmlns:a="http://schemas.openxmlformats.org/drawingml/2006/main" noGrp="1"/>
          </p:cNvSpPr>
          <p:nvPr/>
        </p:nvSpPr>
        <p:spPr>
          <a:xfrm xmlns:a="http://schemas.openxmlformats.org/drawingml/2006/main">
            <a:off x="495300" y="1809750"/>
            <a:ext cx="3371850" cy="2895600"/>
          </a:xfrm>
          <a:prstGeom xmlns:a="http://schemas.openxmlformats.org/drawingml/2006/main" prst="rect">
            <a:avLst/>
          </a:prstGeom>
          <a:solidFill xmlns:a="http://schemas.openxmlformats.org/drawingml/2006/main">
            <a:srgbClr val="E8F2FF"/>
          </a:solidFill>
          <a:ln xmlns:a="http://schemas.openxmlformats.org/drawingml/2006/main" w="9525">
            <a:solidFill>
              <a:srgbClr val="1774D1"/>
            </a:solidFill>
            <a:prstDash val="solid"/>
          </a:ln>
        </p:spPr>
      </p:sp>
      <p:sp>
        <p:nvSpPr>
          <p:cNvPr id="8" name="">
            <a:extLst xmlns:a="http://schemas.openxmlformats.org/drawingml/2006/main">
              <a:ext uri="{FF2B5EF4-FFF2-40B4-BE49-F238E27FC236}">
                <a16:creationId xmlns:a16="http://schemas.microsoft.com/office/drawing/2014/main" id="{603896E3-2D00-4CC0-81F5-6F0DF105B273}"/>
              </a:ext>
            </a:extLst>
          </p:cNvPr>
          <p:cNvSpPr>
            <a:spLocks xmlns:a="http://schemas.openxmlformats.org/drawingml/2006/main" noGrp="1"/>
          </p:cNvSpPr>
          <p:nvPr/>
        </p:nvSpPr>
        <p:spPr>
          <a:xfrm xmlns:a="http://schemas.openxmlformats.org/drawingml/2006/main">
            <a:off x="742950" y="2095500"/>
            <a:ext cx="2762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325" b="1" i="0">
                <a:solidFill>
                  <a:srgbClr val="1774D1"/>
                </a:solidFill>
                <a:latin typeface="Helvetica Neue"/>
                <a:ea typeface="Helvetica Neue"/>
                <a:cs typeface="Helvetica Neue"/>
              </a:defRPr>
            </a:pPr>
            <a:r>
              <a:rPr sz="2325" b="1" i="0">
                <a:solidFill>
                  <a:srgbClr val="1774D1"/>
                </a:solidFill>
                <a:latin typeface="Helvetica Neue"/>
                <a:ea typeface="Helvetica Neue"/>
                <a:cs typeface="Helvetica Neue"/>
              </a:rPr>
              <a:t>Distribution L1</a:t>
            </a:r>
          </a:p>
        </p:txBody>
      </p:sp>
      <p:sp>
        <p:nvSpPr>
          <p:cNvPr id="9" name="">
            <a:extLst xmlns:a="http://schemas.openxmlformats.org/drawingml/2006/main">
              <a:ext uri="{FF2B5EF4-FFF2-40B4-BE49-F238E27FC236}">
                <a16:creationId xmlns:a16="http://schemas.microsoft.com/office/drawing/2014/main" id="{2FFAFAD2-6E8A-4E19-8AE7-D8CED5793F21}"/>
              </a:ext>
            </a:extLst>
          </p:cNvPr>
          <p:cNvSpPr>
            <a:spLocks xmlns:a="http://schemas.openxmlformats.org/drawingml/2006/main" noGrp="1"/>
          </p:cNvSpPr>
          <p:nvPr/>
        </p:nvSpPr>
        <p:spPr>
          <a:xfrm xmlns:a="http://schemas.openxmlformats.org/drawingml/2006/main">
            <a:off x="742950" y="2714625"/>
            <a:ext cx="2762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00" b="1" i="0">
                <a:solidFill>
                  <a:srgbClr val="141A24"/>
                </a:solidFill>
                <a:latin typeface="Helvetica Neue"/>
                <a:ea typeface="Helvetica Neue"/>
                <a:cs typeface="Helvetica Neue"/>
              </a:defRPr>
            </a:pPr>
            <a:r>
              <a:rPr sz="1500" b="1" i="0">
                <a:solidFill>
                  <a:srgbClr val="141A24"/>
                </a:solidFill>
                <a:latin typeface="Helvetica Neue"/>
                <a:ea typeface="Helvetica Neue"/>
                <a:cs typeface="Helvetica Neue"/>
              </a:rPr>
              <a:t>Whole DSD agreement</a:t>
            </a:r>
          </a:p>
        </p:txBody>
      </p:sp>
      <p:sp>
        <p:nvSpPr>
          <p:cNvPr id="10" name="">
            <a:extLst xmlns:a="http://schemas.openxmlformats.org/drawingml/2006/main">
              <a:ext uri="{FF2B5EF4-FFF2-40B4-BE49-F238E27FC236}">
                <a16:creationId xmlns:a16="http://schemas.microsoft.com/office/drawing/2014/main" id="{5D64F35D-4DA7-424C-A4D0-5332FB58F149}"/>
              </a:ext>
            </a:extLst>
          </p:cNvPr>
          <p:cNvSpPr>
            <a:spLocks xmlns:a="http://schemas.openxmlformats.org/drawingml/2006/main" noGrp="1"/>
          </p:cNvSpPr>
          <p:nvPr/>
        </p:nvSpPr>
        <p:spPr>
          <a:xfrm xmlns:a="http://schemas.openxmlformats.org/drawingml/2006/main">
            <a:off x="742950" y="3276600"/>
            <a:ext cx="2762250" cy="933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350" b="0" i="0">
                <a:solidFill>
                  <a:srgbClr val="556170"/>
                </a:solidFill>
                <a:latin typeface="Helvetica Neue"/>
                <a:ea typeface="Helvetica Neue"/>
                <a:cs typeface="Helvetica Neue"/>
              </a:defRPr>
            </a:pPr>
            <a:r>
              <a:rPr sz="1350" b="0" i="0">
                <a:solidFill>
                  <a:srgbClr val="556170"/>
                </a:solidFill>
                <a:latin typeface="Helvetica Neue"/>
                <a:ea typeface="Helvetica Neue"/>
                <a:cs typeface="Helvetica Neue"/>
              </a:rPr>
              <a:t>Relative L1 of the ensemble-mean binned mass distribution versus the analytical DSD.</a:t>
            </a:r>
          </a:p>
        </p:txBody>
      </p:sp>
      <p:sp>
        <p:nvSpPr>
          <p:cNvPr id="11" name="">
            <a:extLst xmlns:a="http://schemas.openxmlformats.org/drawingml/2006/main">
              <a:ext uri="{FF2B5EF4-FFF2-40B4-BE49-F238E27FC236}">
                <a16:creationId xmlns:a16="http://schemas.microsoft.com/office/drawing/2014/main" id="{75672D78-F4F1-4A4B-A021-4058612569AB}"/>
              </a:ext>
            </a:extLst>
          </p:cNvPr>
          <p:cNvSpPr>
            <a:spLocks xmlns:a="http://schemas.openxmlformats.org/drawingml/2006/main" noGrp="1"/>
          </p:cNvSpPr>
          <p:nvPr/>
        </p:nvSpPr>
        <p:spPr>
          <a:xfrm xmlns:a="http://schemas.openxmlformats.org/drawingml/2006/main">
            <a:off x="4286250" y="1809750"/>
            <a:ext cx="3371850" cy="2895600"/>
          </a:xfrm>
          <a:prstGeom xmlns:a="http://schemas.openxmlformats.org/drawingml/2006/main" prst="rect">
            <a:avLst/>
          </a:prstGeom>
          <a:solidFill xmlns:a="http://schemas.openxmlformats.org/drawingml/2006/main">
            <a:srgbClr val="F6F8FA"/>
          </a:solidFill>
          <a:ln xmlns:a="http://schemas.openxmlformats.org/drawingml/2006/main" w="9525">
            <a:solidFill>
              <a:srgbClr val="141A24"/>
            </a:solidFill>
            <a:prstDash val="solid"/>
          </a:ln>
        </p:spPr>
      </p:sp>
      <p:sp>
        <p:nvSpPr>
          <p:cNvPr id="12" name="">
            <a:extLst xmlns:a="http://schemas.openxmlformats.org/drawingml/2006/main">
              <a:ext uri="{FF2B5EF4-FFF2-40B4-BE49-F238E27FC236}">
                <a16:creationId xmlns:a16="http://schemas.microsoft.com/office/drawing/2014/main" id="{3015A425-F098-43DC-BC6D-2DD3BE190072}"/>
              </a:ext>
            </a:extLst>
          </p:cNvPr>
          <p:cNvSpPr>
            <a:spLocks xmlns:a="http://schemas.openxmlformats.org/drawingml/2006/main" noGrp="1"/>
          </p:cNvSpPr>
          <p:nvPr/>
        </p:nvSpPr>
        <p:spPr>
          <a:xfrm xmlns:a="http://schemas.openxmlformats.org/drawingml/2006/main">
            <a:off x="4533900" y="2095500"/>
            <a:ext cx="2762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325" b="1" i="0">
                <a:solidFill>
                  <a:srgbClr val="141A24"/>
                </a:solidFill>
                <a:latin typeface="Helvetica Neue"/>
                <a:ea typeface="Helvetica Neue"/>
                <a:cs typeface="Helvetica Neue"/>
              </a:defRPr>
            </a:pPr>
            <a:r>
              <a:rPr sz="2325" b="1" i="0">
                <a:solidFill>
                  <a:srgbClr val="141A24"/>
                </a:solidFill>
                <a:latin typeface="Helvetica Neue"/>
                <a:ea typeface="Helvetica Neue"/>
                <a:cs typeface="Helvetica Neue"/>
              </a:rPr>
              <a:t>M₀</a:t>
            </a:r>
          </a:p>
        </p:txBody>
      </p:sp>
      <p:sp>
        <p:nvSpPr>
          <p:cNvPr id="13" name="">
            <a:extLst xmlns:a="http://schemas.openxmlformats.org/drawingml/2006/main">
              <a:ext uri="{FF2B5EF4-FFF2-40B4-BE49-F238E27FC236}">
                <a16:creationId xmlns:a16="http://schemas.microsoft.com/office/drawing/2014/main" id="{AD8861EE-2FA7-4419-9783-6AACFF3A987E}"/>
              </a:ext>
            </a:extLst>
          </p:cNvPr>
          <p:cNvSpPr>
            <a:spLocks xmlns:a="http://schemas.openxmlformats.org/drawingml/2006/main" noGrp="1"/>
          </p:cNvSpPr>
          <p:nvPr/>
        </p:nvSpPr>
        <p:spPr>
          <a:xfrm xmlns:a="http://schemas.openxmlformats.org/drawingml/2006/main">
            <a:off x="4533900" y="2714625"/>
            <a:ext cx="2762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00" b="1" i="0">
                <a:solidFill>
                  <a:srgbClr val="141A24"/>
                </a:solidFill>
                <a:latin typeface="Helvetica Neue"/>
                <a:ea typeface="Helvetica Neue"/>
                <a:cs typeface="Helvetica Neue"/>
              </a:defRPr>
            </a:pPr>
            <a:r>
              <a:rPr sz="1500" b="1" i="0">
                <a:solidFill>
                  <a:srgbClr val="141A24"/>
                </a:solidFill>
                <a:latin typeface="Helvetica Neue"/>
                <a:ea typeface="Helvetica Neue"/>
                <a:cs typeface="Helvetica Neue"/>
              </a:rPr>
              <a:t>Population bulk</a:t>
            </a:r>
          </a:p>
        </p:txBody>
      </p:sp>
      <p:sp>
        <p:nvSpPr>
          <p:cNvPr id="14" name="">
            <a:extLst xmlns:a="http://schemas.openxmlformats.org/drawingml/2006/main">
              <a:ext uri="{FF2B5EF4-FFF2-40B4-BE49-F238E27FC236}">
                <a16:creationId xmlns:a16="http://schemas.microsoft.com/office/drawing/2014/main" id="{02A250A8-BE19-4E8D-92EC-EB3577E20253}"/>
              </a:ext>
            </a:extLst>
          </p:cNvPr>
          <p:cNvSpPr>
            <a:spLocks xmlns:a="http://schemas.openxmlformats.org/drawingml/2006/main" noGrp="1"/>
          </p:cNvSpPr>
          <p:nvPr/>
        </p:nvSpPr>
        <p:spPr>
          <a:xfrm xmlns:a="http://schemas.openxmlformats.org/drawingml/2006/main">
            <a:off x="4533900" y="3276600"/>
            <a:ext cx="2762250" cy="933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350" b="0" i="0">
                <a:solidFill>
                  <a:srgbClr val="556170"/>
                </a:solidFill>
                <a:latin typeface="Helvetica Neue"/>
                <a:ea typeface="Helvetica Neue"/>
                <a:cs typeface="Helvetica Neue"/>
              </a:defRPr>
            </a:pPr>
            <a:r>
              <a:rPr sz="1350" b="0" i="0">
                <a:solidFill>
                  <a:srgbClr val="556170"/>
                </a:solidFill>
                <a:latin typeface="Helvetica Neue"/>
                <a:ea typeface="Helvetica Neue"/>
                <a:cs typeface="Helvetica Neue"/>
              </a:rPr>
              <a:t>Number concentration. A low-order quantity that can stabilise before the detailed DSD.</a:t>
            </a:r>
          </a:p>
        </p:txBody>
      </p:sp>
      <p:sp>
        <p:nvSpPr>
          <p:cNvPr id="15" name="">
            <a:extLst xmlns:a="http://schemas.openxmlformats.org/drawingml/2006/main">
              <a:ext uri="{FF2B5EF4-FFF2-40B4-BE49-F238E27FC236}">
                <a16:creationId xmlns:a16="http://schemas.microsoft.com/office/drawing/2014/main" id="{D09AA72E-F398-4901-8B2A-11E4D37DF0CA}"/>
              </a:ext>
            </a:extLst>
          </p:cNvPr>
          <p:cNvSpPr>
            <a:spLocks xmlns:a="http://schemas.openxmlformats.org/drawingml/2006/main" noGrp="1"/>
          </p:cNvSpPr>
          <p:nvPr/>
        </p:nvSpPr>
        <p:spPr>
          <a:xfrm xmlns:a="http://schemas.openxmlformats.org/drawingml/2006/main">
            <a:off x="8077200" y="1809750"/>
            <a:ext cx="3371850" cy="2895600"/>
          </a:xfrm>
          <a:prstGeom xmlns:a="http://schemas.openxmlformats.org/drawingml/2006/main" prst="rect">
            <a:avLst/>
          </a:prstGeom>
          <a:solidFill xmlns:a="http://schemas.openxmlformats.org/drawingml/2006/main">
            <a:srgbClr val="E8F5EC"/>
          </a:solidFill>
          <a:ln xmlns:a="http://schemas.openxmlformats.org/drawingml/2006/main" w="9525">
            <a:solidFill>
              <a:srgbClr val="198754"/>
            </a:solidFill>
            <a:prstDash val="solid"/>
          </a:ln>
        </p:spPr>
      </p:sp>
      <p:sp>
        <p:nvSpPr>
          <p:cNvPr id="16" name="">
            <a:extLst xmlns:a="http://schemas.openxmlformats.org/drawingml/2006/main">
              <a:ext uri="{FF2B5EF4-FFF2-40B4-BE49-F238E27FC236}">
                <a16:creationId xmlns:a16="http://schemas.microsoft.com/office/drawing/2014/main" id="{9AA895A0-D8B7-4E93-BAB3-2B30AEDE6E8F}"/>
              </a:ext>
            </a:extLst>
          </p:cNvPr>
          <p:cNvSpPr>
            <a:spLocks xmlns:a="http://schemas.openxmlformats.org/drawingml/2006/main" noGrp="1"/>
          </p:cNvSpPr>
          <p:nvPr/>
        </p:nvSpPr>
        <p:spPr>
          <a:xfrm xmlns:a="http://schemas.openxmlformats.org/drawingml/2006/main">
            <a:off x="8324850" y="2095500"/>
            <a:ext cx="2762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325" b="1" i="0">
                <a:solidFill>
                  <a:srgbClr val="198754"/>
                </a:solidFill>
                <a:latin typeface="Helvetica Neue"/>
                <a:ea typeface="Helvetica Neue"/>
                <a:cs typeface="Helvetica Neue"/>
              </a:defRPr>
            </a:pPr>
            <a:r>
              <a:rPr sz="2325" b="1" i="0">
                <a:solidFill>
                  <a:srgbClr val="198754"/>
                </a:solidFill>
                <a:latin typeface="Helvetica Neue"/>
                <a:ea typeface="Helvetica Neue"/>
                <a:cs typeface="Helvetica Neue"/>
              </a:rPr>
              <a:t>M₆</a:t>
            </a:r>
          </a:p>
        </p:txBody>
      </p:sp>
      <p:sp>
        <p:nvSpPr>
          <p:cNvPr id="17" name="">
            <a:extLst xmlns:a="http://schemas.openxmlformats.org/drawingml/2006/main">
              <a:ext uri="{FF2B5EF4-FFF2-40B4-BE49-F238E27FC236}">
                <a16:creationId xmlns:a16="http://schemas.microsoft.com/office/drawing/2014/main" id="{4F24BB9F-EF7B-4BC5-82D9-8CBEA61BCF33}"/>
              </a:ext>
            </a:extLst>
          </p:cNvPr>
          <p:cNvSpPr>
            <a:spLocks xmlns:a="http://schemas.openxmlformats.org/drawingml/2006/main" noGrp="1"/>
          </p:cNvSpPr>
          <p:nvPr/>
        </p:nvSpPr>
        <p:spPr>
          <a:xfrm xmlns:a="http://schemas.openxmlformats.org/drawingml/2006/main">
            <a:off x="8324850" y="2714625"/>
            <a:ext cx="2762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00" b="1" i="0">
                <a:solidFill>
                  <a:srgbClr val="141A24"/>
                </a:solidFill>
                <a:latin typeface="Helvetica Neue"/>
                <a:ea typeface="Helvetica Neue"/>
                <a:cs typeface="Helvetica Neue"/>
              </a:defRPr>
            </a:pPr>
            <a:r>
              <a:rPr sz="1500" b="1" i="0">
                <a:solidFill>
                  <a:srgbClr val="141A24"/>
                </a:solidFill>
                <a:latin typeface="Helvetica Neue"/>
                <a:ea typeface="Helvetica Neue"/>
                <a:cs typeface="Helvetica Neue"/>
              </a:rPr>
              <a:t>Rare large-drop tail</a:t>
            </a:r>
          </a:p>
        </p:txBody>
      </p:sp>
      <p:sp>
        <p:nvSpPr>
          <p:cNvPr id="18" name="">
            <a:extLst xmlns:a="http://schemas.openxmlformats.org/drawingml/2006/main">
              <a:ext uri="{FF2B5EF4-FFF2-40B4-BE49-F238E27FC236}">
                <a16:creationId xmlns:a16="http://schemas.microsoft.com/office/drawing/2014/main" id="{48DC8D96-85C1-4653-9125-2DCFFCD88AE5}"/>
              </a:ext>
            </a:extLst>
          </p:cNvPr>
          <p:cNvSpPr>
            <a:spLocks xmlns:a="http://schemas.openxmlformats.org/drawingml/2006/main" noGrp="1"/>
          </p:cNvSpPr>
          <p:nvPr/>
        </p:nvSpPr>
        <p:spPr>
          <a:xfrm xmlns:a="http://schemas.openxmlformats.org/drawingml/2006/main">
            <a:off x="8324850" y="3276600"/>
            <a:ext cx="2762250" cy="933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350" b="0" i="0">
                <a:solidFill>
                  <a:srgbClr val="556170"/>
                </a:solidFill>
                <a:latin typeface="Helvetica Neue"/>
                <a:ea typeface="Helvetica Neue"/>
                <a:cs typeface="Helvetica Neue"/>
              </a:defRPr>
            </a:pPr>
            <a:r>
              <a:rPr sz="1350" b="0" i="0">
                <a:solidFill>
                  <a:srgbClr val="556170"/>
                </a:solidFill>
                <a:latin typeface="Helvetica Neue"/>
                <a:ea typeface="Helvetica Neue"/>
                <a:cs typeface="Helvetica Neue"/>
              </a:rPr>
              <a:t>A radius-sixth moment. Strong tail weighting makes it a difficult, reflectivity-like diagnostic.</a:t>
            </a:r>
          </a:p>
        </p:txBody>
      </p:sp>
      <p:sp>
        <p:nvSpPr>
          <p:cNvPr id="19" name="">
            <a:extLst xmlns:a="http://schemas.openxmlformats.org/drawingml/2006/main">
              <a:ext uri="{FF2B5EF4-FFF2-40B4-BE49-F238E27FC236}">
                <a16:creationId xmlns:a16="http://schemas.microsoft.com/office/drawing/2014/main" id="{5FFFF943-7B3B-4B4B-AB78-5859A4A8861E}"/>
              </a:ext>
            </a:extLst>
          </p:cNvPr>
          <p:cNvSpPr>
            <a:spLocks xmlns:a="http://schemas.openxmlformats.org/drawingml/2006/main" noGrp="1"/>
          </p:cNvSpPr>
          <p:nvPr/>
        </p:nvSpPr>
        <p:spPr>
          <a:xfrm xmlns:a="http://schemas.openxmlformats.org/drawingml/2006/main">
            <a:off x="495300" y="5238750"/>
            <a:ext cx="10382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75" b="1" i="0">
                <a:solidFill>
                  <a:srgbClr val="4D3C93"/>
                </a:solidFill>
                <a:latin typeface="Helvetica Neue"/>
                <a:ea typeface="Helvetica Neue"/>
                <a:cs typeface="Helvetica Neue"/>
              </a:defRPr>
            </a:pPr>
            <a:r>
              <a:rPr sz="1575" b="1" i="0">
                <a:solidFill>
                  <a:srgbClr val="4D3C93"/>
                </a:solidFill>
                <a:latin typeface="Helvetica Neue"/>
                <a:ea typeface="Helvetica Neue"/>
                <a:cs typeface="Helvetica Neue"/>
              </a:rPr>
              <a:t>M₃ is also tracked as liquid-water mass: coalescence should redistribute mass, not create or destroy it.</a:t>
            </a:r>
          </a:p>
        </p:txBody>
      </p:sp>
    </p:spTree>
    <p:extLst>
      <p:ext uri="{BB962C8B-B14F-4D97-AF65-F5344CB8AC3E}">
        <p14:creationId xmlns:p14="http://schemas.microsoft.com/office/powerpoint/2010/main" val="64577967"/>
      </p:ext>
    </p:extLst>
  </p:cSld>
</p:sld>
</file>

<file path=ppt/slides/slide7.xml><?xml version="1.0" encoding="utf-8"?>
<p:sld xmlns:p="http://schemas.openxmlformats.org/presentationml/2006/main">
  <p:cSld>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885A23F6-E5B5-4EA1-9963-5AFB13FBAC89}"/>
              </a:ext>
            </a:extLst>
          </p:cNvPr>
          <p:cNvSpPr>
            <a:spLocks xmlns:a="http://schemas.openxmlformats.org/drawingml/2006/main" noGrp="1"/>
          </p:cNvSpPr>
          <p:nvPr/>
        </p:nvSpPr>
        <p:spPr>
          <a:xfrm xmlns:a="http://schemas.openxmlformats.org/drawingml/2006/main">
            <a:off x="400050" y="285750"/>
            <a:ext cx="7239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1" i="0">
                <a:solidFill>
                  <a:srgbClr val="1774D1"/>
                </a:solidFill>
                <a:latin typeface="Helvetica Neue"/>
                <a:ea typeface="Helvetica Neue"/>
                <a:cs typeface="Helvetica Neue"/>
              </a:defRPr>
            </a:pPr>
            <a:r>
              <a:rPr sz="900" b="1" i="0">
                <a:solidFill>
                  <a:srgbClr val="1774D1"/>
                </a:solidFill>
                <a:latin typeface="Helvetica Neue"/>
                <a:ea typeface="Helvetica Neue"/>
                <a:cs typeface="Helvetica Neue"/>
              </a:rPr>
              <a:t>GOLOVIN CONVERGENCE CALIBRATION</a:t>
            </a:r>
          </a:p>
        </p:txBody>
      </p:sp>
      <p:sp>
        <p:nvSpPr>
          <p:cNvPr id="2" name="">
            <a:extLst xmlns:a="http://schemas.openxmlformats.org/drawingml/2006/main">
              <a:ext uri="{FF2B5EF4-FFF2-40B4-BE49-F238E27FC236}">
                <a16:creationId xmlns:a16="http://schemas.microsoft.com/office/drawing/2014/main" id="{5D60A77E-A0CA-48BD-BACA-3E438A1C96FD}"/>
              </a:ext>
            </a:extLst>
          </p:cNvPr>
          <p:cNvSpPr>
            <a:spLocks xmlns:a="http://schemas.openxmlformats.org/drawingml/2006/main" noGrp="1"/>
          </p:cNvSpPr>
          <p:nvPr/>
        </p:nvSpPr>
        <p:spPr>
          <a:xfrm xmlns:a="http://schemas.openxmlformats.org/drawingml/2006/main">
            <a:off x="400050" y="590550"/>
            <a:ext cx="113728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625" b="1" i="0">
                <a:solidFill>
                  <a:srgbClr val="141A24"/>
                </a:solidFill>
                <a:latin typeface="Helvetica Neue"/>
                <a:ea typeface="Helvetica Neue"/>
                <a:cs typeface="Helvetica Neue"/>
              </a:defRPr>
            </a:pPr>
            <a:r>
              <a:rPr sz="2625" b="1" i="0">
                <a:solidFill>
                  <a:srgbClr val="141A24"/>
                </a:solidFill>
                <a:latin typeface="Helvetica Neue"/>
                <a:ea typeface="Helvetica Neue"/>
                <a:cs typeface="Helvetica Neue"/>
              </a:rPr>
              <a:t>Convergence requires accuracy, practical change, and a second doubling</a:t>
            </a:r>
          </a:p>
        </p:txBody>
      </p:sp>
      <p:cxnSp>
        <p:nvCxnSpPr>
          <p:cNvPr id="23" name=""/>
          <p:cNvCxnSpPr/>
          <p:nvPr/>
        </p:nvCxnSpPr>
        <p:spPr>
          <a:xfrm xmlns:a="http://schemas.openxmlformats.org/drawingml/2006/main">
            <a:off x="400050" y="6343650"/>
            <a:ext cx="11391900" cy="0"/>
          </a:xfrm>
          <a:prstGeom xmlns:a="http://schemas.openxmlformats.org/drawingml/2006/main" prst="straightConnector1">
            <a:avLst/>
          </a:prstGeom>
          <a:ln xmlns:a="http://schemas.openxmlformats.org/drawingml/2006/main" w="9525">
            <a:solidFill>
              <a:srgbClr val="C6CDD5"/>
            </a:solidFill>
            <a:prstDash val="solid"/>
          </a:ln>
        </p:spPr>
      </p:cxnSp>
      <p:sp>
        <p:nvSpPr>
          <p:cNvPr id="4" name="">
            <a:extLst xmlns:a="http://schemas.openxmlformats.org/drawingml/2006/main">
              <a:ext uri="{FF2B5EF4-FFF2-40B4-BE49-F238E27FC236}">
                <a16:creationId xmlns:a16="http://schemas.microsoft.com/office/drawing/2014/main" id="{C06EE522-E11C-4CAD-BC8C-E98483AD22CF}"/>
              </a:ext>
            </a:extLst>
          </p:cNvPr>
          <p:cNvSpPr>
            <a:spLocks xmlns:a="http://schemas.openxmlformats.org/drawingml/2006/main" noGrp="1"/>
          </p:cNvSpPr>
          <p:nvPr/>
        </p:nvSpPr>
        <p:spPr>
          <a:xfrm xmlns:a="http://schemas.openxmlformats.org/drawingml/2006/main">
            <a:off x="400050" y="6457950"/>
            <a:ext cx="4095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825" b="0" i="0">
                <a:solidFill>
                  <a:srgbClr val="556170"/>
                </a:solidFill>
                <a:latin typeface="Helvetica Neue"/>
                <a:ea typeface="Helvetica Neue"/>
                <a:cs typeface="Helvetica Neue"/>
              </a:defRPr>
            </a:pPr>
            <a:r>
              <a:rPr sz="825" b="0" i="0">
                <a:solidFill>
                  <a:srgbClr val="556170"/>
                </a:solidFill>
                <a:latin typeface="Helvetica Neue"/>
                <a:ea typeface="Helvetica Neue"/>
                <a:cs typeface="Helvetica Neue"/>
              </a:rPr>
              <a:t>CLEO controlled Golovin calibration</a:t>
            </a:r>
          </a:p>
        </p:txBody>
      </p:sp>
      <p:sp>
        <p:nvSpPr>
          <p:cNvPr id="5" name="">
            <a:extLst xmlns:a="http://schemas.openxmlformats.org/drawingml/2006/main">
              <a:ext uri="{FF2B5EF4-FFF2-40B4-BE49-F238E27FC236}">
                <a16:creationId xmlns:a16="http://schemas.microsoft.com/office/drawing/2014/main" id="{0E6CC6F0-83FE-4E40-9AFE-FB6CDEA5CA69}"/>
              </a:ext>
            </a:extLst>
          </p:cNvPr>
          <p:cNvSpPr>
            <a:spLocks xmlns:a="http://schemas.openxmlformats.org/drawingml/2006/main" noGrp="1"/>
          </p:cNvSpPr>
          <p:nvPr/>
        </p:nvSpPr>
        <p:spPr>
          <a:xfrm xmlns:a="http://schemas.openxmlformats.org/drawingml/2006/main">
            <a:off x="9191625" y="6457950"/>
            <a:ext cx="1524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825" b="0" i="0">
                <a:solidFill>
                  <a:srgbClr val="556170"/>
                </a:solidFill>
                <a:latin typeface="Helvetica Neue"/>
                <a:ea typeface="Helvetica Neue"/>
                <a:cs typeface="Helvetica Neue"/>
              </a:defRPr>
            </a:pPr>
            <a:r>
              <a:rPr sz="825" b="0" i="0">
                <a:solidFill>
                  <a:srgbClr val="556170"/>
                </a:solidFill>
                <a:latin typeface="Helvetica Neue"/>
                <a:ea typeface="Helvetica Neue"/>
                <a:cs typeface="Helvetica Neue"/>
              </a:rPr>
              <a:t>02 AUG 2026</a:t>
            </a:r>
          </a:p>
        </p:txBody>
      </p:sp>
      <p:sp>
        <p:nvSpPr>
          <p:cNvPr id="6" name="">
            <a:extLst xmlns:a="http://schemas.openxmlformats.org/drawingml/2006/main">
              <a:ext uri="{FF2B5EF4-FFF2-40B4-BE49-F238E27FC236}">
                <a16:creationId xmlns:a16="http://schemas.microsoft.com/office/drawing/2014/main" id="{15D2E42B-49A6-4D1B-8142-FBA9528CFAF6}"/>
              </a:ext>
            </a:extLst>
          </p:cNvPr>
          <p:cNvSpPr>
            <a:spLocks xmlns:a="http://schemas.openxmlformats.org/drawingml/2006/main" noGrp="1"/>
          </p:cNvSpPr>
          <p:nvPr/>
        </p:nvSpPr>
        <p:spPr>
          <a:xfrm xmlns:a="http://schemas.openxmlformats.org/drawingml/2006/main">
            <a:off x="11049000" y="6438900"/>
            <a:ext cx="7429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00" b="1" i="0">
                <a:solidFill>
                  <a:srgbClr val="141A24"/>
                </a:solidFill>
                <a:latin typeface="Helvetica Neue"/>
                <a:ea typeface="Helvetica Neue"/>
                <a:cs typeface="Helvetica Neue"/>
              </a:defRPr>
            </a:pPr>
            <a:r>
              <a:rPr sz="900" b="1" i="0">
                <a:solidFill>
                  <a:srgbClr val="141A24"/>
                </a:solidFill>
                <a:latin typeface="Helvetica Neue"/>
                <a:ea typeface="Helvetica Neue"/>
                <a:cs typeface="Helvetica Neue"/>
              </a:rPr>
              <a:t>07</a:t>
            </a:r>
          </a:p>
        </p:txBody>
      </p:sp>
      <p:sp>
        <p:nvSpPr>
          <p:cNvPr id="7" name="">
            <a:extLst xmlns:a="http://schemas.openxmlformats.org/drawingml/2006/main">
              <a:ext uri="{FF2B5EF4-FFF2-40B4-BE49-F238E27FC236}">
                <a16:creationId xmlns:a16="http://schemas.microsoft.com/office/drawing/2014/main" id="{DDEBE1A8-A981-42C4-A867-0887C37C1D25}"/>
              </a:ext>
            </a:extLst>
          </p:cNvPr>
          <p:cNvSpPr>
            <a:spLocks xmlns:a="http://schemas.openxmlformats.org/drawingml/2006/main" noGrp="1"/>
          </p:cNvSpPr>
          <p:nvPr/>
        </p:nvSpPr>
        <p:spPr>
          <a:xfrm xmlns:a="http://schemas.openxmlformats.org/drawingml/2006/main">
            <a:off x="666750" y="1952625"/>
            <a:ext cx="3048000" cy="2428875"/>
          </a:xfrm>
          <a:prstGeom xmlns:a="http://schemas.openxmlformats.org/drawingml/2006/main" prst="rect">
            <a:avLst/>
          </a:prstGeom>
          <a:solidFill xmlns:a="http://schemas.openxmlformats.org/drawingml/2006/main">
            <a:srgbClr val="E8F2FF"/>
          </a:solidFill>
          <a:ln xmlns:a="http://schemas.openxmlformats.org/drawingml/2006/main" w="9525">
            <a:solidFill>
              <a:srgbClr val="C6CDD5"/>
            </a:solidFill>
            <a:prstDash val="solid"/>
          </a:ln>
        </p:spPr>
      </p:sp>
      <p:sp>
        <p:nvSpPr>
          <p:cNvPr id="8" name="">
            <a:extLst xmlns:a="http://schemas.openxmlformats.org/drawingml/2006/main">
              <a:ext uri="{FF2B5EF4-FFF2-40B4-BE49-F238E27FC236}">
                <a16:creationId xmlns:a16="http://schemas.microsoft.com/office/drawing/2014/main" id="{3ACCA47D-C0E0-4378-A778-6F0FAB5FE938}"/>
              </a:ext>
            </a:extLst>
          </p:cNvPr>
          <p:cNvSpPr>
            <a:spLocks xmlns:a="http://schemas.openxmlformats.org/drawingml/2006/main" noGrp="1"/>
          </p:cNvSpPr>
          <p:nvPr/>
        </p:nvSpPr>
        <p:spPr>
          <a:xfrm xmlns:a="http://schemas.openxmlformats.org/drawingml/2006/main">
            <a:off x="914400" y="2257425"/>
            <a:ext cx="2524125"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875" b="1" i="0">
                <a:solidFill>
                  <a:srgbClr val="141A24"/>
                </a:solidFill>
                <a:latin typeface="Helvetica Neue"/>
                <a:ea typeface="Helvetica Neue"/>
                <a:cs typeface="Helvetica Neue"/>
              </a:defRPr>
            </a:pPr>
            <a:r>
              <a:rPr sz="1875" b="1" i="0">
                <a:solidFill>
                  <a:srgbClr val="141A24"/>
                </a:solidFill>
                <a:latin typeface="Helvetica Neue"/>
                <a:ea typeface="Helvetica Neue"/>
                <a:cs typeface="Helvetica Neue"/>
              </a:rPr>
              <a:t>1. Valid solution</a:t>
            </a:r>
          </a:p>
        </p:txBody>
      </p:sp>
      <p:sp>
        <p:nvSpPr>
          <p:cNvPr id="9" name="">
            <a:extLst xmlns:a="http://schemas.openxmlformats.org/drawingml/2006/main">
              <a:ext uri="{FF2B5EF4-FFF2-40B4-BE49-F238E27FC236}">
                <a16:creationId xmlns:a16="http://schemas.microsoft.com/office/drawing/2014/main" id="{BD700F8C-6E74-402E-A781-D02C15498E06}"/>
              </a:ext>
            </a:extLst>
          </p:cNvPr>
          <p:cNvSpPr>
            <a:spLocks xmlns:a="http://schemas.openxmlformats.org/drawingml/2006/main" noGrp="1"/>
          </p:cNvSpPr>
          <p:nvPr/>
        </p:nvSpPr>
        <p:spPr>
          <a:xfrm xmlns:a="http://schemas.openxmlformats.org/drawingml/2006/main">
            <a:off x="914400" y="3114675"/>
            <a:ext cx="2505075"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350" b="0" i="0">
                <a:solidFill>
                  <a:srgbClr val="556170"/>
                </a:solidFill>
                <a:latin typeface="Helvetica Neue"/>
                <a:ea typeface="Helvetica Neue"/>
                <a:cs typeface="Helvetica Neue"/>
              </a:defRPr>
            </a:pPr>
            <a:r>
              <a:rPr sz="1350" b="0" i="0">
                <a:solidFill>
                  <a:srgbClr val="556170"/>
                </a:solidFill>
                <a:latin typeface="Helvetica Neue"/>
                <a:ea typeface="Helvetica Neue"/>
                <a:cs typeface="Helvetica Neue"/>
              </a:rPr>
              <a:t>Analytical L1 and M₀/M₆ bias must be inside ±5%; mass, range and provenance must pass.</a:t>
            </a:r>
          </a:p>
        </p:txBody>
      </p:sp>
      <p:cxnSp>
        <p:nvCxnSpPr>
          <p:cNvPr id="30" name=""/>
          <p:cNvCxnSpPr/>
          <p:nvPr/>
        </p:nvCxnSpPr>
        <p:spPr>
          <a:xfrm xmlns:a="http://schemas.openxmlformats.org/drawingml/2006/main">
            <a:off x="3714750" y="3162300"/>
            <a:ext cx="457200" cy="0"/>
          </a:xfrm>
          <a:prstGeom xmlns:a="http://schemas.openxmlformats.org/drawingml/2006/main" prst="straightConnector1">
            <a:avLst/>
          </a:prstGeom>
          <a:ln xmlns:a="http://schemas.openxmlformats.org/drawingml/2006/main" w="19050">
            <a:solidFill>
              <a:srgbClr val="1774D1"/>
            </a:solidFill>
            <a:prstDash val="solid"/>
          </a:ln>
        </p:spPr>
      </p:cxnSp>
      <p:sp>
        <p:nvSpPr>
          <p:cNvPr id="11" name="">
            <a:extLst xmlns:a="http://schemas.openxmlformats.org/drawingml/2006/main">
              <a:ext uri="{FF2B5EF4-FFF2-40B4-BE49-F238E27FC236}">
                <a16:creationId xmlns:a16="http://schemas.microsoft.com/office/drawing/2014/main" id="{F3F6F2DF-502F-4FB7-9985-F55ECDBA356C}"/>
              </a:ext>
            </a:extLst>
          </p:cNvPr>
          <p:cNvSpPr>
            <a:spLocks xmlns:a="http://schemas.openxmlformats.org/drawingml/2006/main" noGrp="1"/>
          </p:cNvSpPr>
          <p:nvPr/>
        </p:nvSpPr>
        <p:spPr>
          <a:xfrm xmlns:a="http://schemas.openxmlformats.org/drawingml/2006/main">
            <a:off x="3771900" y="2914650"/>
            <a:ext cx="3048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875" b="1" i="0">
                <a:solidFill>
                  <a:srgbClr val="1774D1"/>
                </a:solidFill>
                <a:latin typeface="Helvetica Neue"/>
                <a:ea typeface="Helvetica Neue"/>
                <a:cs typeface="Helvetica Neue"/>
              </a:defRPr>
            </a:pPr>
            <a:r>
              <a:rPr sz="1875" b="1" i="0">
                <a:solidFill>
                  <a:srgbClr val="1774D1"/>
                </a:solidFill>
                <a:latin typeface="Helvetica Neue"/>
                <a:ea typeface="Helvetica Neue"/>
                <a:cs typeface="Helvetica Neue"/>
              </a:rPr>
              <a:t>→</a:t>
            </a:r>
          </a:p>
        </p:txBody>
      </p:sp>
      <p:sp>
        <p:nvSpPr>
          <p:cNvPr id="12" name="">
            <a:extLst xmlns:a="http://schemas.openxmlformats.org/drawingml/2006/main">
              <a:ext uri="{FF2B5EF4-FFF2-40B4-BE49-F238E27FC236}">
                <a16:creationId xmlns:a16="http://schemas.microsoft.com/office/drawing/2014/main" id="{BF989FD6-E558-4A96-8274-DAE05D81E9B0}"/>
              </a:ext>
            </a:extLst>
          </p:cNvPr>
          <p:cNvSpPr>
            <a:spLocks xmlns:a="http://schemas.openxmlformats.org/drawingml/2006/main" noGrp="1"/>
          </p:cNvSpPr>
          <p:nvPr/>
        </p:nvSpPr>
        <p:spPr>
          <a:xfrm xmlns:a="http://schemas.openxmlformats.org/drawingml/2006/main">
            <a:off x="4162425" y="1952625"/>
            <a:ext cx="3048000" cy="2428875"/>
          </a:xfrm>
          <a:prstGeom xmlns:a="http://schemas.openxmlformats.org/drawingml/2006/main" prst="rect">
            <a:avLst/>
          </a:prstGeom>
          <a:solidFill xmlns:a="http://schemas.openxmlformats.org/drawingml/2006/main">
            <a:srgbClr val="E8F5EC"/>
          </a:solidFill>
          <a:ln xmlns:a="http://schemas.openxmlformats.org/drawingml/2006/main" w="9525">
            <a:solidFill>
              <a:srgbClr val="198754"/>
            </a:solidFill>
            <a:prstDash val="solid"/>
          </a:ln>
        </p:spPr>
      </p:sp>
      <p:sp>
        <p:nvSpPr>
          <p:cNvPr id="13" name="">
            <a:extLst xmlns:a="http://schemas.openxmlformats.org/drawingml/2006/main">
              <a:ext uri="{FF2B5EF4-FFF2-40B4-BE49-F238E27FC236}">
                <a16:creationId xmlns:a16="http://schemas.microsoft.com/office/drawing/2014/main" id="{57D8CCC3-D902-4301-BF7E-6DE671859BF2}"/>
              </a:ext>
            </a:extLst>
          </p:cNvPr>
          <p:cNvSpPr>
            <a:spLocks xmlns:a="http://schemas.openxmlformats.org/drawingml/2006/main" noGrp="1"/>
          </p:cNvSpPr>
          <p:nvPr/>
        </p:nvSpPr>
        <p:spPr>
          <a:xfrm xmlns:a="http://schemas.openxmlformats.org/drawingml/2006/main">
            <a:off x="4410075" y="2257425"/>
            <a:ext cx="2524125"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875" b="1" i="0">
                <a:solidFill>
                  <a:srgbClr val="141A24"/>
                </a:solidFill>
                <a:latin typeface="Helvetica Neue"/>
                <a:ea typeface="Helvetica Neue"/>
                <a:cs typeface="Helvetica Neue"/>
              </a:defRPr>
            </a:pPr>
            <a:r>
              <a:rPr sz="1875" b="1" i="0">
                <a:solidFill>
                  <a:srgbClr val="141A24"/>
                </a:solidFill>
                <a:latin typeface="Helvetica Neue"/>
                <a:ea typeface="Helvetica Neue"/>
                <a:cs typeface="Helvetica Neue"/>
              </a:rPr>
              <a:t>2. Small remaining change</a:t>
            </a:r>
          </a:p>
        </p:txBody>
      </p:sp>
      <p:sp>
        <p:nvSpPr>
          <p:cNvPr id="14" name="">
            <a:extLst xmlns:a="http://schemas.openxmlformats.org/drawingml/2006/main">
              <a:ext uri="{FF2B5EF4-FFF2-40B4-BE49-F238E27FC236}">
                <a16:creationId xmlns:a16="http://schemas.microsoft.com/office/drawing/2014/main" id="{55CDE00E-8042-402E-BCDD-4A4EE5CA0B85}"/>
              </a:ext>
            </a:extLst>
          </p:cNvPr>
          <p:cNvSpPr>
            <a:spLocks xmlns:a="http://schemas.openxmlformats.org/drawingml/2006/main" noGrp="1"/>
          </p:cNvSpPr>
          <p:nvPr/>
        </p:nvSpPr>
        <p:spPr>
          <a:xfrm xmlns:a="http://schemas.openxmlformats.org/drawingml/2006/main">
            <a:off x="4410075" y="3114675"/>
            <a:ext cx="2505075"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350" b="0" i="0">
                <a:solidFill>
                  <a:srgbClr val="556170"/>
                </a:solidFill>
                <a:latin typeface="Helvetica Neue"/>
                <a:ea typeface="Helvetica Neue"/>
                <a:cs typeface="Helvetica Neue"/>
              </a:defRPr>
            </a:pPr>
            <a:r>
              <a:rPr sz="1350" b="0" i="0">
                <a:solidFill>
                  <a:srgbClr val="556170"/>
                </a:solidFill>
                <a:latin typeface="Helvetica Neue"/>
                <a:ea typeface="Helvetica Neue"/>
                <a:cs typeface="Helvetica Neue"/>
              </a:rPr>
              <a:t>For each primary diagnostic, the one-sided 95% upper bound on |N − 2N| must be ≤ 1 percentage point.</a:t>
            </a:r>
          </a:p>
        </p:txBody>
      </p:sp>
      <p:cxnSp>
        <p:nvCxnSpPr>
          <p:cNvPr id="35" name=""/>
          <p:cNvCxnSpPr/>
          <p:nvPr/>
        </p:nvCxnSpPr>
        <p:spPr>
          <a:xfrm xmlns:a="http://schemas.openxmlformats.org/drawingml/2006/main">
            <a:off x="7210425" y="3162300"/>
            <a:ext cx="457200" cy="0"/>
          </a:xfrm>
          <a:prstGeom xmlns:a="http://schemas.openxmlformats.org/drawingml/2006/main" prst="straightConnector1">
            <a:avLst/>
          </a:prstGeom>
          <a:ln xmlns:a="http://schemas.openxmlformats.org/drawingml/2006/main" w="19050">
            <a:solidFill>
              <a:srgbClr val="1774D1"/>
            </a:solidFill>
            <a:prstDash val="solid"/>
          </a:ln>
        </p:spPr>
      </p:cxnSp>
      <p:sp>
        <p:nvSpPr>
          <p:cNvPr id="16" name="">
            <a:extLst xmlns:a="http://schemas.openxmlformats.org/drawingml/2006/main">
              <a:ext uri="{FF2B5EF4-FFF2-40B4-BE49-F238E27FC236}">
                <a16:creationId xmlns:a16="http://schemas.microsoft.com/office/drawing/2014/main" id="{7B5409DB-95A3-463A-B6FC-91CB43C60CA2}"/>
              </a:ext>
            </a:extLst>
          </p:cNvPr>
          <p:cNvSpPr>
            <a:spLocks xmlns:a="http://schemas.openxmlformats.org/drawingml/2006/main" noGrp="1"/>
          </p:cNvSpPr>
          <p:nvPr/>
        </p:nvSpPr>
        <p:spPr>
          <a:xfrm xmlns:a="http://schemas.openxmlformats.org/drawingml/2006/main">
            <a:off x="7267575" y="2914650"/>
            <a:ext cx="3048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875" b="1" i="0">
                <a:solidFill>
                  <a:srgbClr val="1774D1"/>
                </a:solidFill>
                <a:latin typeface="Helvetica Neue"/>
                <a:ea typeface="Helvetica Neue"/>
                <a:cs typeface="Helvetica Neue"/>
              </a:defRPr>
            </a:pPr>
            <a:r>
              <a:rPr sz="1875" b="1" i="0">
                <a:solidFill>
                  <a:srgbClr val="1774D1"/>
                </a:solidFill>
                <a:latin typeface="Helvetica Neue"/>
                <a:ea typeface="Helvetica Neue"/>
                <a:cs typeface="Helvetica Neue"/>
              </a:rPr>
              <a:t>→</a:t>
            </a:r>
          </a:p>
        </p:txBody>
      </p:sp>
      <p:sp>
        <p:nvSpPr>
          <p:cNvPr id="17" name="">
            <a:extLst xmlns:a="http://schemas.openxmlformats.org/drawingml/2006/main">
              <a:ext uri="{FF2B5EF4-FFF2-40B4-BE49-F238E27FC236}">
                <a16:creationId xmlns:a16="http://schemas.microsoft.com/office/drawing/2014/main" id="{7E5CAAE6-D3B4-467F-A3E7-B692C7C0A9BC}"/>
              </a:ext>
            </a:extLst>
          </p:cNvPr>
          <p:cNvSpPr>
            <a:spLocks xmlns:a="http://schemas.openxmlformats.org/drawingml/2006/main" noGrp="1"/>
          </p:cNvSpPr>
          <p:nvPr/>
        </p:nvSpPr>
        <p:spPr>
          <a:xfrm xmlns:a="http://schemas.openxmlformats.org/drawingml/2006/main">
            <a:off x="7658100" y="1952625"/>
            <a:ext cx="3048000" cy="2428875"/>
          </a:xfrm>
          <a:prstGeom xmlns:a="http://schemas.openxmlformats.org/drawingml/2006/main" prst="rect">
            <a:avLst/>
          </a:prstGeom>
          <a:solidFill xmlns:a="http://schemas.openxmlformats.org/drawingml/2006/main">
            <a:srgbClr val="F6F8FA"/>
          </a:solidFill>
          <a:ln xmlns:a="http://schemas.openxmlformats.org/drawingml/2006/main" w="9525">
            <a:solidFill>
              <a:srgbClr val="C6CDD5"/>
            </a:solidFill>
            <a:prstDash val="solid"/>
          </a:ln>
        </p:spPr>
      </p:sp>
      <p:sp>
        <p:nvSpPr>
          <p:cNvPr id="18" name="">
            <a:extLst xmlns:a="http://schemas.openxmlformats.org/drawingml/2006/main">
              <a:ext uri="{FF2B5EF4-FFF2-40B4-BE49-F238E27FC236}">
                <a16:creationId xmlns:a16="http://schemas.microsoft.com/office/drawing/2014/main" id="{129E69D7-508E-4825-8EA3-6F7F6B734712}"/>
              </a:ext>
            </a:extLst>
          </p:cNvPr>
          <p:cNvSpPr>
            <a:spLocks xmlns:a="http://schemas.openxmlformats.org/drawingml/2006/main" noGrp="1"/>
          </p:cNvSpPr>
          <p:nvPr/>
        </p:nvSpPr>
        <p:spPr>
          <a:xfrm xmlns:a="http://schemas.openxmlformats.org/drawingml/2006/main">
            <a:off x="7905750" y="2257425"/>
            <a:ext cx="2524125"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875" b="1" i="0">
                <a:solidFill>
                  <a:srgbClr val="141A24"/>
                </a:solidFill>
                <a:latin typeface="Helvetica Neue"/>
                <a:ea typeface="Helvetica Neue"/>
                <a:cs typeface="Helvetica Neue"/>
              </a:defRPr>
            </a:pPr>
            <a:r>
              <a:rPr sz="1875" b="1" i="0">
                <a:solidFill>
                  <a:srgbClr val="141A24"/>
                </a:solidFill>
                <a:latin typeface="Helvetica Neue"/>
                <a:ea typeface="Helvetica Neue"/>
                <a:cs typeface="Helvetica Neue"/>
              </a:rPr>
              <a:t>3. Confirm the plateau</a:t>
            </a:r>
          </a:p>
        </p:txBody>
      </p:sp>
      <p:sp>
        <p:nvSpPr>
          <p:cNvPr id="19" name="">
            <a:extLst xmlns:a="http://schemas.openxmlformats.org/drawingml/2006/main">
              <a:ext uri="{FF2B5EF4-FFF2-40B4-BE49-F238E27FC236}">
                <a16:creationId xmlns:a16="http://schemas.microsoft.com/office/drawing/2014/main" id="{BB476B61-642D-4F9B-978A-FB1ADD20DDD4}"/>
              </a:ext>
            </a:extLst>
          </p:cNvPr>
          <p:cNvSpPr>
            <a:spLocks xmlns:a="http://schemas.openxmlformats.org/drawingml/2006/main" noGrp="1"/>
          </p:cNvSpPr>
          <p:nvPr/>
        </p:nvSpPr>
        <p:spPr>
          <a:xfrm xmlns:a="http://schemas.openxmlformats.org/drawingml/2006/main">
            <a:off x="7905750" y="3114675"/>
            <a:ext cx="2505075"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350" b="0" i="0">
                <a:solidFill>
                  <a:srgbClr val="556170"/>
                </a:solidFill>
                <a:latin typeface="Helvetica Neue"/>
                <a:ea typeface="Helvetica Neue"/>
                <a:cs typeface="Helvetica Neue"/>
              </a:defRPr>
            </a:pPr>
            <a:r>
              <a:rPr sz="1350" b="0" i="0">
                <a:solidFill>
                  <a:srgbClr val="556170"/>
                </a:solidFill>
                <a:latin typeface="Helvetica Neue"/>
                <a:ea typeface="Helvetica Neue"/>
                <a:cs typeface="Helvetica Neue"/>
              </a:rPr>
              <a:t>The same must hold for N→2N and 2N→4N at every registered time.</a:t>
            </a:r>
          </a:p>
        </p:txBody>
      </p:sp>
      <p:sp>
        <p:nvSpPr>
          <p:cNvPr id="20" name="">
            <a:extLst xmlns:a="http://schemas.openxmlformats.org/drawingml/2006/main">
              <a:ext uri="{FF2B5EF4-FFF2-40B4-BE49-F238E27FC236}">
                <a16:creationId xmlns:a16="http://schemas.microsoft.com/office/drawing/2014/main" id="{5C34C777-FA38-4627-8495-5BD91497F468}"/>
              </a:ext>
            </a:extLst>
          </p:cNvPr>
          <p:cNvSpPr>
            <a:spLocks xmlns:a="http://schemas.openxmlformats.org/drawingml/2006/main" noGrp="1"/>
          </p:cNvSpPr>
          <p:nvPr/>
        </p:nvSpPr>
        <p:spPr>
          <a:xfrm xmlns:a="http://schemas.openxmlformats.org/drawingml/2006/main">
            <a:off x="666750" y="5019675"/>
            <a:ext cx="102870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75" b="1" i="0">
                <a:solidFill>
                  <a:srgbClr val="4D3C93"/>
                </a:solidFill>
                <a:latin typeface="Helvetica Neue"/>
                <a:ea typeface="Helvetica Neue"/>
                <a:cs typeface="Helvetica Neue"/>
              </a:defRPr>
            </a:pPr>
            <a:r>
              <a:rPr sz="1575" b="1" i="0">
                <a:solidFill>
                  <a:srgbClr val="4D3C93"/>
                </a:solidFill>
                <a:latin typeface="Helvetica Neue"/>
                <a:ea typeface="Helvetica Neue"/>
                <a:cs typeface="Helvetica Neue"/>
              </a:rPr>
              <a:t>The 1-pp threshold is a minimum worthwhile improvement: 20% of the 5% accuracy budget. It is not a visual flatness rule.</a:t>
            </a:r>
          </a:p>
        </p:txBody>
      </p:sp>
    </p:spTree>
    <p:extLst>
      <p:ext uri="{BB962C8B-B14F-4D97-AF65-F5344CB8AC3E}">
        <p14:creationId xmlns:p14="http://schemas.microsoft.com/office/powerpoint/2010/main" val="1929775883"/>
      </p:ext>
    </p:extLst>
  </p:cSld>
</p:sld>
</file>

<file path=ppt/slides/slide8.xml><?xml version="1.0" encoding="utf-8"?>
<p:sld xmlns:p="http://schemas.openxmlformats.org/presentationml/2006/main">
  <p:cSld>
    <p:spTree>
      <p:nvGrpSpPr>
        <p:cNvPr id="1" name=""/>
        <p:cNvGrpSpPr/>
        <p:nvPr/>
      </p:nvGrpSpPr>
      <p:grpSpPr>
        <a:xfrm xmlns:a="http://schemas.openxmlformats.org/drawingml/2006/main"/>
      </p:grpSpPr>
      <p:sp>
        <p:nvSpPr>
          <p:cNvPr id="46" name="">
            <a:extLst xmlns:a="http://schemas.openxmlformats.org/drawingml/2006/main">
              <a:ext uri="{FF2B5EF4-FFF2-40B4-BE49-F238E27FC236}">
                <a16:creationId xmlns:a16="http://schemas.microsoft.com/office/drawing/2014/main" id="{F30B2F0D-9D95-455B-B58D-E4E7507850AC}"/>
              </a:ext>
            </a:extLst>
          </p:cNvPr>
          <p:cNvSpPr>
            <a:spLocks xmlns:a="http://schemas.openxmlformats.org/drawingml/2006/main" noGrp="1"/>
          </p:cNvSpPr>
          <p:nvPr/>
        </p:nvSpPr>
        <p:spPr>
          <a:xfrm xmlns:a="http://schemas.openxmlformats.org/drawingml/2006/main">
            <a:off x="400050" y="285750"/>
            <a:ext cx="7239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1" i="0">
                <a:solidFill>
                  <a:srgbClr val="1774D1"/>
                </a:solidFill>
                <a:latin typeface="Helvetica Neue"/>
                <a:ea typeface="Helvetica Neue"/>
                <a:cs typeface="Helvetica Neue"/>
              </a:defRPr>
            </a:pPr>
            <a:r>
              <a:rPr sz="900" b="1" i="0">
                <a:solidFill>
                  <a:srgbClr val="1774D1"/>
                </a:solidFill>
                <a:latin typeface="Helvetica Neue"/>
                <a:ea typeface="Helvetica Neue"/>
                <a:cs typeface="Helvetica Neue"/>
              </a:rPr>
              <a:t>GOLOVIN CONVERGENCE CALIBRATION</a:t>
            </a:r>
          </a:p>
        </p:txBody>
      </p:sp>
      <p:sp>
        <p:nvSpPr>
          <p:cNvPr id="2" name="">
            <a:extLst xmlns:a="http://schemas.openxmlformats.org/drawingml/2006/main">
              <a:ext uri="{FF2B5EF4-FFF2-40B4-BE49-F238E27FC236}">
                <a16:creationId xmlns:a16="http://schemas.microsoft.com/office/drawing/2014/main" id="{5A71712A-2B3C-4050-9FA5-E98C0C27094A}"/>
              </a:ext>
            </a:extLst>
          </p:cNvPr>
          <p:cNvSpPr>
            <a:spLocks xmlns:a="http://schemas.openxmlformats.org/drawingml/2006/main" noGrp="1"/>
          </p:cNvSpPr>
          <p:nvPr/>
        </p:nvSpPr>
        <p:spPr>
          <a:xfrm xmlns:a="http://schemas.openxmlformats.org/drawingml/2006/main">
            <a:off x="400050" y="590550"/>
            <a:ext cx="113728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625" b="1" i="0">
                <a:solidFill>
                  <a:srgbClr val="141A24"/>
                </a:solidFill>
                <a:latin typeface="Helvetica Neue"/>
                <a:ea typeface="Helvetica Neue"/>
                <a:cs typeface="Helvetica Neue"/>
              </a:defRPr>
            </a:pPr>
            <a:r>
              <a:rPr sz="2625" b="1" i="0">
                <a:solidFill>
                  <a:srgbClr val="141A24"/>
                </a:solidFill>
                <a:latin typeface="Helvetica Neue"/>
                <a:ea typeface="Helvetica Neue"/>
                <a:cs typeface="Helvetica Neue"/>
              </a:rPr>
              <a:t>The balanced experiment spans nine doublings with 50 members each</a:t>
            </a:r>
          </a:p>
        </p:txBody>
      </p:sp>
      <p:cxnSp>
        <p:nvCxnSpPr>
          <p:cNvPr id="48" name=""/>
          <p:cNvCxnSpPr/>
          <p:nvPr/>
        </p:nvCxnSpPr>
        <p:spPr>
          <a:xfrm xmlns:a="http://schemas.openxmlformats.org/drawingml/2006/main">
            <a:off x="400050" y="6343650"/>
            <a:ext cx="11391900" cy="0"/>
          </a:xfrm>
          <a:prstGeom xmlns:a="http://schemas.openxmlformats.org/drawingml/2006/main" prst="straightConnector1">
            <a:avLst/>
          </a:prstGeom>
          <a:ln xmlns:a="http://schemas.openxmlformats.org/drawingml/2006/main" w="9525">
            <a:solidFill>
              <a:srgbClr val="C6CDD5"/>
            </a:solidFill>
            <a:prstDash val="solid"/>
          </a:ln>
        </p:spPr>
      </p:cxnSp>
      <p:sp>
        <p:nvSpPr>
          <p:cNvPr id="4" name="">
            <a:extLst xmlns:a="http://schemas.openxmlformats.org/drawingml/2006/main">
              <a:ext uri="{FF2B5EF4-FFF2-40B4-BE49-F238E27FC236}">
                <a16:creationId xmlns:a16="http://schemas.microsoft.com/office/drawing/2014/main" id="{49694592-CA71-4A0A-8BEF-D13B684E8027}"/>
              </a:ext>
            </a:extLst>
          </p:cNvPr>
          <p:cNvSpPr>
            <a:spLocks xmlns:a="http://schemas.openxmlformats.org/drawingml/2006/main" noGrp="1"/>
          </p:cNvSpPr>
          <p:nvPr/>
        </p:nvSpPr>
        <p:spPr>
          <a:xfrm xmlns:a="http://schemas.openxmlformats.org/drawingml/2006/main">
            <a:off x="400050" y="6457950"/>
            <a:ext cx="4095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825" b="0" i="0">
                <a:solidFill>
                  <a:srgbClr val="556170"/>
                </a:solidFill>
                <a:latin typeface="Helvetica Neue"/>
                <a:ea typeface="Helvetica Neue"/>
                <a:cs typeface="Helvetica Neue"/>
              </a:defRPr>
            </a:pPr>
            <a:r>
              <a:rPr sz="825" b="0" i="0">
                <a:solidFill>
                  <a:srgbClr val="556170"/>
                </a:solidFill>
                <a:latin typeface="Helvetica Neue"/>
                <a:ea typeface="Helvetica Neue"/>
                <a:cs typeface="Helvetica Neue"/>
              </a:rPr>
              <a:t>CLEO controlled Golovin calibration</a:t>
            </a:r>
          </a:p>
        </p:txBody>
      </p:sp>
      <p:sp>
        <p:nvSpPr>
          <p:cNvPr id="5" name="">
            <a:extLst xmlns:a="http://schemas.openxmlformats.org/drawingml/2006/main">
              <a:ext uri="{FF2B5EF4-FFF2-40B4-BE49-F238E27FC236}">
                <a16:creationId xmlns:a16="http://schemas.microsoft.com/office/drawing/2014/main" id="{B62FF967-9DE3-4555-8A5A-1964F2719894}"/>
              </a:ext>
            </a:extLst>
          </p:cNvPr>
          <p:cNvSpPr>
            <a:spLocks xmlns:a="http://schemas.openxmlformats.org/drawingml/2006/main" noGrp="1"/>
          </p:cNvSpPr>
          <p:nvPr/>
        </p:nvSpPr>
        <p:spPr>
          <a:xfrm xmlns:a="http://schemas.openxmlformats.org/drawingml/2006/main">
            <a:off x="9191625" y="6457950"/>
            <a:ext cx="1524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825" b="0" i="0">
                <a:solidFill>
                  <a:srgbClr val="556170"/>
                </a:solidFill>
                <a:latin typeface="Helvetica Neue"/>
                <a:ea typeface="Helvetica Neue"/>
                <a:cs typeface="Helvetica Neue"/>
              </a:defRPr>
            </a:pPr>
            <a:r>
              <a:rPr sz="825" b="0" i="0">
                <a:solidFill>
                  <a:srgbClr val="556170"/>
                </a:solidFill>
                <a:latin typeface="Helvetica Neue"/>
                <a:ea typeface="Helvetica Neue"/>
                <a:cs typeface="Helvetica Neue"/>
              </a:rPr>
              <a:t>02 AUG 2026</a:t>
            </a:r>
          </a:p>
        </p:txBody>
      </p:sp>
      <p:sp>
        <p:nvSpPr>
          <p:cNvPr id="6" name="">
            <a:extLst xmlns:a="http://schemas.openxmlformats.org/drawingml/2006/main">
              <a:ext uri="{FF2B5EF4-FFF2-40B4-BE49-F238E27FC236}">
                <a16:creationId xmlns:a16="http://schemas.microsoft.com/office/drawing/2014/main" id="{66A81EF4-F858-42B7-AD67-BBF95D493512}"/>
              </a:ext>
            </a:extLst>
          </p:cNvPr>
          <p:cNvSpPr>
            <a:spLocks xmlns:a="http://schemas.openxmlformats.org/drawingml/2006/main" noGrp="1"/>
          </p:cNvSpPr>
          <p:nvPr/>
        </p:nvSpPr>
        <p:spPr>
          <a:xfrm xmlns:a="http://schemas.openxmlformats.org/drawingml/2006/main">
            <a:off x="11049000" y="6438900"/>
            <a:ext cx="7429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00" b="1" i="0">
                <a:solidFill>
                  <a:srgbClr val="141A24"/>
                </a:solidFill>
                <a:latin typeface="Helvetica Neue"/>
                <a:ea typeface="Helvetica Neue"/>
                <a:cs typeface="Helvetica Neue"/>
              </a:defRPr>
            </a:pPr>
            <a:r>
              <a:rPr sz="900" b="1" i="0">
                <a:solidFill>
                  <a:srgbClr val="141A24"/>
                </a:solidFill>
                <a:latin typeface="Helvetica Neue"/>
                <a:ea typeface="Helvetica Neue"/>
                <a:cs typeface="Helvetica Neue"/>
              </a:rPr>
              <a:t>08</a:t>
            </a:r>
          </a:p>
        </p:txBody>
      </p:sp>
      <p:sp>
        <p:nvSpPr>
          <p:cNvPr id="7" name="">
            <a:extLst xmlns:a="http://schemas.openxmlformats.org/drawingml/2006/main">
              <a:ext uri="{FF2B5EF4-FFF2-40B4-BE49-F238E27FC236}">
                <a16:creationId xmlns:a16="http://schemas.microsoft.com/office/drawing/2014/main" id="{9E77CBCF-2CE1-446F-8D06-82D8E5614707}"/>
              </a:ext>
            </a:extLst>
          </p:cNvPr>
          <p:cNvSpPr>
            <a:spLocks xmlns:a="http://schemas.openxmlformats.org/drawingml/2006/main" noGrp="1"/>
          </p:cNvSpPr>
          <p:nvPr/>
        </p:nvSpPr>
        <p:spPr>
          <a:xfrm xmlns:a="http://schemas.openxmlformats.org/drawingml/2006/main">
            <a:off x="400050" y="1371600"/>
            <a:ext cx="90487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875" b="1" i="0">
                <a:solidFill>
                  <a:srgbClr val="141A24"/>
                </a:solidFill>
                <a:latin typeface="Helvetica Neue"/>
                <a:ea typeface="Helvetica Neue"/>
                <a:cs typeface="Helvetica Neue"/>
              </a:defRPr>
            </a:pPr>
            <a:r>
              <a:rPr sz="1875" b="1" i="0">
                <a:solidFill>
                  <a:srgbClr val="141A24"/>
                </a:solidFill>
                <a:latin typeface="Helvetica Neue"/>
                <a:ea typeface="Helvetica Neue"/>
                <a:cs typeface="Helvetica Neue"/>
              </a:rPr>
              <a:t>9 resolutions × 50 independent collision histories = 450 fresh model members</a:t>
            </a:r>
          </a:p>
        </p:txBody>
      </p:sp>
      <p:sp>
        <p:nvSpPr>
          <p:cNvPr id="8" name="">
            <a:extLst xmlns:a="http://schemas.openxmlformats.org/drawingml/2006/main">
              <a:ext uri="{FF2B5EF4-FFF2-40B4-BE49-F238E27FC236}">
                <a16:creationId xmlns:a16="http://schemas.microsoft.com/office/drawing/2014/main" id="{A7D59BD3-F216-4A78-A6C9-BE122FECE52A}"/>
              </a:ext>
            </a:extLst>
          </p:cNvPr>
          <p:cNvSpPr>
            <a:spLocks xmlns:a="http://schemas.openxmlformats.org/drawingml/2006/main" noGrp="1"/>
          </p:cNvSpPr>
          <p:nvPr/>
        </p:nvSpPr>
        <p:spPr>
          <a:xfrm xmlns:a="http://schemas.openxmlformats.org/drawingml/2006/main">
            <a:off x="476250" y="2619375"/>
            <a:ext cx="1028700" cy="1047750"/>
          </a:xfrm>
          <a:prstGeom xmlns:a="http://schemas.openxmlformats.org/drawingml/2006/main" prst="rect">
            <a:avLst/>
          </a:prstGeom>
          <a:solidFill xmlns:a="http://schemas.openxmlformats.org/drawingml/2006/main">
            <a:srgbClr val="F6F8FA"/>
          </a:solidFill>
          <a:ln xmlns:a="http://schemas.openxmlformats.org/drawingml/2006/main" w="9525">
            <a:solidFill>
              <a:srgbClr val="C6CDD5"/>
            </a:solidFill>
            <a:prstDash val="solid"/>
          </a:ln>
        </p:spPr>
      </p:sp>
      <p:sp>
        <p:nvSpPr>
          <p:cNvPr id="9" name="">
            <a:extLst xmlns:a="http://schemas.openxmlformats.org/drawingml/2006/main">
              <a:ext uri="{FF2B5EF4-FFF2-40B4-BE49-F238E27FC236}">
                <a16:creationId xmlns:a16="http://schemas.microsoft.com/office/drawing/2014/main" id="{93F1F3D1-EBFC-4C04-95D6-0191EE7611CF}"/>
              </a:ext>
            </a:extLst>
          </p:cNvPr>
          <p:cNvSpPr>
            <a:spLocks xmlns:a="http://schemas.openxmlformats.org/drawingml/2006/main" noGrp="1"/>
          </p:cNvSpPr>
          <p:nvPr/>
        </p:nvSpPr>
        <p:spPr>
          <a:xfrm xmlns:a="http://schemas.openxmlformats.org/drawingml/2006/main">
            <a:off x="476250" y="2876550"/>
            <a:ext cx="10287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500" b="1" i="0">
                <a:solidFill>
                  <a:srgbClr val="141A24"/>
                </a:solidFill>
                <a:latin typeface="Helvetica Neue"/>
                <a:ea typeface="Helvetica Neue"/>
                <a:cs typeface="Helvetica Neue"/>
              </a:defRPr>
            </a:pPr>
            <a:r>
              <a:rPr sz="1500" b="1" i="0">
                <a:solidFill>
                  <a:srgbClr val="141A24"/>
                </a:solidFill>
                <a:latin typeface="Helvetica Neue"/>
                <a:ea typeface="Helvetica Neue"/>
                <a:cs typeface="Helvetica Neue"/>
              </a:rPr>
              <a:t>4k</a:t>
            </a:r>
          </a:p>
        </p:txBody>
      </p:sp>
      <p:sp>
        <p:nvSpPr>
          <p:cNvPr id="10" name="">
            <a:extLst xmlns:a="http://schemas.openxmlformats.org/drawingml/2006/main">
              <a:ext uri="{FF2B5EF4-FFF2-40B4-BE49-F238E27FC236}">
                <a16:creationId xmlns:a16="http://schemas.microsoft.com/office/drawing/2014/main" id="{A2E6022E-7032-4E20-BF74-F916582AB6B0}"/>
              </a:ext>
            </a:extLst>
          </p:cNvPr>
          <p:cNvSpPr>
            <a:spLocks xmlns:a="http://schemas.openxmlformats.org/drawingml/2006/main" noGrp="1"/>
          </p:cNvSpPr>
          <p:nvPr/>
        </p:nvSpPr>
        <p:spPr>
          <a:xfrm xmlns:a="http://schemas.openxmlformats.org/drawingml/2006/main">
            <a:off x="476250" y="3286125"/>
            <a:ext cx="10287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050" b="0" i="0">
                <a:solidFill>
                  <a:srgbClr val="556170"/>
                </a:solidFill>
                <a:latin typeface="Helvetica Neue"/>
                <a:ea typeface="Helvetica Neue"/>
                <a:cs typeface="Helvetica Neue"/>
              </a:defRPr>
            </a:pPr>
            <a:r>
              <a:rPr sz="1050" b="0" i="0">
                <a:solidFill>
                  <a:srgbClr val="556170"/>
                </a:solidFill>
                <a:latin typeface="Helvetica Neue"/>
                <a:ea typeface="Helvetica Neue"/>
                <a:cs typeface="Helvetica Neue"/>
              </a:rPr>
              <a:t>50</a:t>
            </a:r>
          </a:p>
        </p:txBody>
      </p:sp>
      <p:cxnSp>
        <p:nvCxnSpPr>
          <p:cNvPr id="56" name=""/>
          <p:cNvCxnSpPr/>
          <p:nvPr/>
        </p:nvCxnSpPr>
        <p:spPr>
          <a:xfrm xmlns:a="http://schemas.openxmlformats.org/drawingml/2006/main">
            <a:off x="1504950" y="3143250"/>
            <a:ext cx="238125" cy="0"/>
          </a:xfrm>
          <a:prstGeom xmlns:a="http://schemas.openxmlformats.org/drawingml/2006/main" prst="straightConnector1">
            <a:avLst/>
          </a:prstGeom>
          <a:ln xmlns:a="http://schemas.openxmlformats.org/drawingml/2006/main" w="9525">
            <a:solidFill>
              <a:srgbClr val="C6CDD5"/>
            </a:solidFill>
            <a:prstDash val="solid"/>
          </a:ln>
        </p:spPr>
      </p:cxnSp>
      <p:sp>
        <p:nvSpPr>
          <p:cNvPr id="12" name="">
            <a:extLst xmlns:a="http://schemas.openxmlformats.org/drawingml/2006/main">
              <a:ext uri="{FF2B5EF4-FFF2-40B4-BE49-F238E27FC236}">
                <a16:creationId xmlns:a16="http://schemas.microsoft.com/office/drawing/2014/main" id="{9DAC547C-E33E-4BA7-A75B-B7DC3F9AEA32}"/>
              </a:ext>
            </a:extLst>
          </p:cNvPr>
          <p:cNvSpPr>
            <a:spLocks xmlns:a="http://schemas.openxmlformats.org/drawingml/2006/main" noGrp="1"/>
          </p:cNvSpPr>
          <p:nvPr/>
        </p:nvSpPr>
        <p:spPr>
          <a:xfrm xmlns:a="http://schemas.openxmlformats.org/drawingml/2006/main">
            <a:off x="1743075" y="2619375"/>
            <a:ext cx="1028700" cy="1047750"/>
          </a:xfrm>
          <a:prstGeom xmlns:a="http://schemas.openxmlformats.org/drawingml/2006/main" prst="rect">
            <a:avLst/>
          </a:prstGeom>
          <a:solidFill xmlns:a="http://schemas.openxmlformats.org/drawingml/2006/main">
            <a:srgbClr val="F6F8FA"/>
          </a:solidFill>
          <a:ln xmlns:a="http://schemas.openxmlformats.org/drawingml/2006/main" w="9525">
            <a:solidFill>
              <a:srgbClr val="C6CDD5"/>
            </a:solidFill>
            <a:prstDash val="solid"/>
          </a:ln>
        </p:spPr>
      </p:sp>
      <p:sp>
        <p:nvSpPr>
          <p:cNvPr id="13" name="">
            <a:extLst xmlns:a="http://schemas.openxmlformats.org/drawingml/2006/main">
              <a:ext uri="{FF2B5EF4-FFF2-40B4-BE49-F238E27FC236}">
                <a16:creationId xmlns:a16="http://schemas.microsoft.com/office/drawing/2014/main" id="{CFCDDBFA-E8D4-427F-8EC0-C7F9528389B2}"/>
              </a:ext>
            </a:extLst>
          </p:cNvPr>
          <p:cNvSpPr>
            <a:spLocks xmlns:a="http://schemas.openxmlformats.org/drawingml/2006/main" noGrp="1"/>
          </p:cNvSpPr>
          <p:nvPr/>
        </p:nvSpPr>
        <p:spPr>
          <a:xfrm xmlns:a="http://schemas.openxmlformats.org/drawingml/2006/main">
            <a:off x="1743075" y="2876550"/>
            <a:ext cx="10287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500" b="1" i="0">
                <a:solidFill>
                  <a:srgbClr val="141A24"/>
                </a:solidFill>
                <a:latin typeface="Helvetica Neue"/>
                <a:ea typeface="Helvetica Neue"/>
                <a:cs typeface="Helvetica Neue"/>
              </a:defRPr>
            </a:pPr>
            <a:r>
              <a:rPr sz="1500" b="1" i="0">
                <a:solidFill>
                  <a:srgbClr val="141A24"/>
                </a:solidFill>
                <a:latin typeface="Helvetica Neue"/>
                <a:ea typeface="Helvetica Neue"/>
                <a:cs typeface="Helvetica Neue"/>
              </a:rPr>
              <a:t>8k</a:t>
            </a:r>
          </a:p>
        </p:txBody>
      </p:sp>
      <p:sp>
        <p:nvSpPr>
          <p:cNvPr id="14" name="">
            <a:extLst xmlns:a="http://schemas.openxmlformats.org/drawingml/2006/main">
              <a:ext uri="{FF2B5EF4-FFF2-40B4-BE49-F238E27FC236}">
                <a16:creationId xmlns:a16="http://schemas.microsoft.com/office/drawing/2014/main" id="{9DA78075-57C6-46C1-84EA-420E56F1EF6B}"/>
              </a:ext>
            </a:extLst>
          </p:cNvPr>
          <p:cNvSpPr>
            <a:spLocks xmlns:a="http://schemas.openxmlformats.org/drawingml/2006/main" noGrp="1"/>
          </p:cNvSpPr>
          <p:nvPr/>
        </p:nvSpPr>
        <p:spPr>
          <a:xfrm xmlns:a="http://schemas.openxmlformats.org/drawingml/2006/main">
            <a:off x="1743075" y="3286125"/>
            <a:ext cx="10287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050" b="0" i="0">
                <a:solidFill>
                  <a:srgbClr val="556170"/>
                </a:solidFill>
                <a:latin typeface="Helvetica Neue"/>
                <a:ea typeface="Helvetica Neue"/>
                <a:cs typeface="Helvetica Neue"/>
              </a:defRPr>
            </a:pPr>
            <a:r>
              <a:rPr sz="1050" b="0" i="0">
                <a:solidFill>
                  <a:srgbClr val="556170"/>
                </a:solidFill>
                <a:latin typeface="Helvetica Neue"/>
                <a:ea typeface="Helvetica Neue"/>
                <a:cs typeface="Helvetica Neue"/>
              </a:rPr>
              <a:t>50</a:t>
            </a:r>
          </a:p>
        </p:txBody>
      </p:sp>
      <p:cxnSp>
        <p:nvCxnSpPr>
          <p:cNvPr id="60" name=""/>
          <p:cNvCxnSpPr/>
          <p:nvPr/>
        </p:nvCxnSpPr>
        <p:spPr>
          <a:xfrm xmlns:a="http://schemas.openxmlformats.org/drawingml/2006/main">
            <a:off x="2771775" y="3143250"/>
            <a:ext cx="238125" cy="0"/>
          </a:xfrm>
          <a:prstGeom xmlns:a="http://schemas.openxmlformats.org/drawingml/2006/main" prst="straightConnector1">
            <a:avLst/>
          </a:prstGeom>
          <a:ln xmlns:a="http://schemas.openxmlformats.org/drawingml/2006/main" w="9525">
            <a:solidFill>
              <a:srgbClr val="C6CDD5"/>
            </a:solidFill>
            <a:prstDash val="solid"/>
          </a:ln>
        </p:spPr>
      </p:cxnSp>
      <p:sp>
        <p:nvSpPr>
          <p:cNvPr id="16" name="">
            <a:extLst xmlns:a="http://schemas.openxmlformats.org/drawingml/2006/main">
              <a:ext uri="{FF2B5EF4-FFF2-40B4-BE49-F238E27FC236}">
                <a16:creationId xmlns:a16="http://schemas.microsoft.com/office/drawing/2014/main" id="{90C22680-D571-4FF2-87BC-7FE210E9D3BA}"/>
              </a:ext>
            </a:extLst>
          </p:cNvPr>
          <p:cNvSpPr>
            <a:spLocks xmlns:a="http://schemas.openxmlformats.org/drawingml/2006/main" noGrp="1"/>
          </p:cNvSpPr>
          <p:nvPr/>
        </p:nvSpPr>
        <p:spPr>
          <a:xfrm xmlns:a="http://schemas.openxmlformats.org/drawingml/2006/main">
            <a:off x="3009900" y="2619375"/>
            <a:ext cx="1028700" cy="1047750"/>
          </a:xfrm>
          <a:prstGeom xmlns:a="http://schemas.openxmlformats.org/drawingml/2006/main" prst="rect">
            <a:avLst/>
          </a:prstGeom>
          <a:solidFill xmlns:a="http://schemas.openxmlformats.org/drawingml/2006/main">
            <a:srgbClr val="F6F8FA"/>
          </a:solidFill>
          <a:ln xmlns:a="http://schemas.openxmlformats.org/drawingml/2006/main" w="9525">
            <a:solidFill>
              <a:srgbClr val="C6CDD5"/>
            </a:solidFill>
            <a:prstDash val="solid"/>
          </a:ln>
        </p:spPr>
      </p:sp>
      <p:sp>
        <p:nvSpPr>
          <p:cNvPr id="17" name="">
            <a:extLst xmlns:a="http://schemas.openxmlformats.org/drawingml/2006/main">
              <a:ext uri="{FF2B5EF4-FFF2-40B4-BE49-F238E27FC236}">
                <a16:creationId xmlns:a16="http://schemas.microsoft.com/office/drawing/2014/main" id="{2CDCFC4B-0494-4251-9167-FB30B67EEDDE}"/>
              </a:ext>
            </a:extLst>
          </p:cNvPr>
          <p:cNvSpPr>
            <a:spLocks xmlns:a="http://schemas.openxmlformats.org/drawingml/2006/main" noGrp="1"/>
          </p:cNvSpPr>
          <p:nvPr/>
        </p:nvSpPr>
        <p:spPr>
          <a:xfrm xmlns:a="http://schemas.openxmlformats.org/drawingml/2006/main">
            <a:off x="3009900" y="2876550"/>
            <a:ext cx="10287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500" b="1" i="0">
                <a:solidFill>
                  <a:srgbClr val="141A24"/>
                </a:solidFill>
                <a:latin typeface="Helvetica Neue"/>
                <a:ea typeface="Helvetica Neue"/>
                <a:cs typeface="Helvetica Neue"/>
              </a:defRPr>
            </a:pPr>
            <a:r>
              <a:rPr sz="1500" b="1" i="0">
                <a:solidFill>
                  <a:srgbClr val="141A24"/>
                </a:solidFill>
                <a:latin typeface="Helvetica Neue"/>
                <a:ea typeface="Helvetica Neue"/>
                <a:cs typeface="Helvetica Neue"/>
              </a:rPr>
              <a:t>16k</a:t>
            </a:r>
          </a:p>
        </p:txBody>
      </p:sp>
      <p:sp>
        <p:nvSpPr>
          <p:cNvPr id="18" name="">
            <a:extLst xmlns:a="http://schemas.openxmlformats.org/drawingml/2006/main">
              <a:ext uri="{FF2B5EF4-FFF2-40B4-BE49-F238E27FC236}">
                <a16:creationId xmlns:a16="http://schemas.microsoft.com/office/drawing/2014/main" id="{6068ABC1-3CE0-4C59-8E12-DE61782464A7}"/>
              </a:ext>
            </a:extLst>
          </p:cNvPr>
          <p:cNvSpPr>
            <a:spLocks xmlns:a="http://schemas.openxmlformats.org/drawingml/2006/main" noGrp="1"/>
          </p:cNvSpPr>
          <p:nvPr/>
        </p:nvSpPr>
        <p:spPr>
          <a:xfrm xmlns:a="http://schemas.openxmlformats.org/drawingml/2006/main">
            <a:off x="3009900" y="3286125"/>
            <a:ext cx="10287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050" b="0" i="0">
                <a:solidFill>
                  <a:srgbClr val="556170"/>
                </a:solidFill>
                <a:latin typeface="Helvetica Neue"/>
                <a:ea typeface="Helvetica Neue"/>
                <a:cs typeface="Helvetica Neue"/>
              </a:defRPr>
            </a:pPr>
            <a:r>
              <a:rPr sz="1050" b="0" i="0">
                <a:solidFill>
                  <a:srgbClr val="556170"/>
                </a:solidFill>
                <a:latin typeface="Helvetica Neue"/>
                <a:ea typeface="Helvetica Neue"/>
                <a:cs typeface="Helvetica Neue"/>
              </a:rPr>
              <a:t>50</a:t>
            </a:r>
          </a:p>
        </p:txBody>
      </p:sp>
      <p:cxnSp>
        <p:nvCxnSpPr>
          <p:cNvPr id="64" name=""/>
          <p:cNvCxnSpPr/>
          <p:nvPr/>
        </p:nvCxnSpPr>
        <p:spPr>
          <a:xfrm xmlns:a="http://schemas.openxmlformats.org/drawingml/2006/main">
            <a:off x="4038600" y="3143250"/>
            <a:ext cx="238125" cy="0"/>
          </a:xfrm>
          <a:prstGeom xmlns:a="http://schemas.openxmlformats.org/drawingml/2006/main" prst="straightConnector1">
            <a:avLst/>
          </a:prstGeom>
          <a:ln xmlns:a="http://schemas.openxmlformats.org/drawingml/2006/main" w="9525">
            <a:solidFill>
              <a:srgbClr val="C6CDD5"/>
            </a:solidFill>
            <a:prstDash val="solid"/>
          </a:ln>
        </p:spPr>
      </p:cxnSp>
      <p:sp>
        <p:nvSpPr>
          <p:cNvPr id="20" name="">
            <a:extLst xmlns:a="http://schemas.openxmlformats.org/drawingml/2006/main">
              <a:ext uri="{FF2B5EF4-FFF2-40B4-BE49-F238E27FC236}">
                <a16:creationId xmlns:a16="http://schemas.microsoft.com/office/drawing/2014/main" id="{52966F5C-6354-4544-A43E-7CBF566822C5}"/>
              </a:ext>
            </a:extLst>
          </p:cNvPr>
          <p:cNvSpPr>
            <a:spLocks xmlns:a="http://schemas.openxmlformats.org/drawingml/2006/main" noGrp="1"/>
          </p:cNvSpPr>
          <p:nvPr/>
        </p:nvSpPr>
        <p:spPr>
          <a:xfrm xmlns:a="http://schemas.openxmlformats.org/drawingml/2006/main">
            <a:off x="4276725" y="2619375"/>
            <a:ext cx="1028700" cy="1047750"/>
          </a:xfrm>
          <a:prstGeom xmlns:a="http://schemas.openxmlformats.org/drawingml/2006/main" prst="rect">
            <a:avLst/>
          </a:prstGeom>
          <a:solidFill xmlns:a="http://schemas.openxmlformats.org/drawingml/2006/main">
            <a:srgbClr val="F6F8FA"/>
          </a:solidFill>
          <a:ln xmlns:a="http://schemas.openxmlformats.org/drawingml/2006/main" w="9525">
            <a:solidFill>
              <a:srgbClr val="C6CDD5"/>
            </a:solidFill>
            <a:prstDash val="solid"/>
          </a:ln>
        </p:spPr>
      </p:sp>
      <p:sp>
        <p:nvSpPr>
          <p:cNvPr id="21" name="">
            <a:extLst xmlns:a="http://schemas.openxmlformats.org/drawingml/2006/main">
              <a:ext uri="{FF2B5EF4-FFF2-40B4-BE49-F238E27FC236}">
                <a16:creationId xmlns:a16="http://schemas.microsoft.com/office/drawing/2014/main" id="{8F5D87A2-CB59-4240-942E-736E6C31E9D9}"/>
              </a:ext>
            </a:extLst>
          </p:cNvPr>
          <p:cNvSpPr>
            <a:spLocks xmlns:a="http://schemas.openxmlformats.org/drawingml/2006/main" noGrp="1"/>
          </p:cNvSpPr>
          <p:nvPr/>
        </p:nvSpPr>
        <p:spPr>
          <a:xfrm xmlns:a="http://schemas.openxmlformats.org/drawingml/2006/main">
            <a:off x="4276725" y="2876550"/>
            <a:ext cx="10287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500" b="1" i="0">
                <a:solidFill>
                  <a:srgbClr val="141A24"/>
                </a:solidFill>
                <a:latin typeface="Helvetica Neue"/>
                <a:ea typeface="Helvetica Neue"/>
                <a:cs typeface="Helvetica Neue"/>
              </a:defRPr>
            </a:pPr>
            <a:r>
              <a:rPr sz="1500" b="1" i="0">
                <a:solidFill>
                  <a:srgbClr val="141A24"/>
                </a:solidFill>
                <a:latin typeface="Helvetica Neue"/>
                <a:ea typeface="Helvetica Neue"/>
                <a:cs typeface="Helvetica Neue"/>
              </a:rPr>
              <a:t>32k</a:t>
            </a:r>
          </a:p>
        </p:txBody>
      </p:sp>
      <p:sp>
        <p:nvSpPr>
          <p:cNvPr id="22" name="">
            <a:extLst xmlns:a="http://schemas.openxmlformats.org/drawingml/2006/main">
              <a:ext uri="{FF2B5EF4-FFF2-40B4-BE49-F238E27FC236}">
                <a16:creationId xmlns:a16="http://schemas.microsoft.com/office/drawing/2014/main" id="{3668B478-4299-4DBF-8783-BD284CA68A3D}"/>
              </a:ext>
            </a:extLst>
          </p:cNvPr>
          <p:cNvSpPr>
            <a:spLocks xmlns:a="http://schemas.openxmlformats.org/drawingml/2006/main" noGrp="1"/>
          </p:cNvSpPr>
          <p:nvPr/>
        </p:nvSpPr>
        <p:spPr>
          <a:xfrm xmlns:a="http://schemas.openxmlformats.org/drawingml/2006/main">
            <a:off x="4276725" y="3286125"/>
            <a:ext cx="10287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050" b="0" i="0">
                <a:solidFill>
                  <a:srgbClr val="556170"/>
                </a:solidFill>
                <a:latin typeface="Helvetica Neue"/>
                <a:ea typeface="Helvetica Neue"/>
                <a:cs typeface="Helvetica Neue"/>
              </a:defRPr>
            </a:pPr>
            <a:r>
              <a:rPr sz="1050" b="0" i="0">
                <a:solidFill>
                  <a:srgbClr val="556170"/>
                </a:solidFill>
                <a:latin typeface="Helvetica Neue"/>
                <a:ea typeface="Helvetica Neue"/>
                <a:cs typeface="Helvetica Neue"/>
              </a:rPr>
              <a:t>50</a:t>
            </a:r>
          </a:p>
        </p:txBody>
      </p:sp>
      <p:cxnSp>
        <p:nvCxnSpPr>
          <p:cNvPr id="68" name=""/>
          <p:cNvCxnSpPr/>
          <p:nvPr/>
        </p:nvCxnSpPr>
        <p:spPr>
          <a:xfrm xmlns:a="http://schemas.openxmlformats.org/drawingml/2006/main">
            <a:off x="5305425" y="3143250"/>
            <a:ext cx="238125" cy="0"/>
          </a:xfrm>
          <a:prstGeom xmlns:a="http://schemas.openxmlformats.org/drawingml/2006/main" prst="straightConnector1">
            <a:avLst/>
          </a:prstGeom>
          <a:ln xmlns:a="http://schemas.openxmlformats.org/drawingml/2006/main" w="9525">
            <a:solidFill>
              <a:srgbClr val="C6CDD5"/>
            </a:solidFill>
            <a:prstDash val="solid"/>
          </a:ln>
        </p:spPr>
      </p:cxnSp>
      <p:sp>
        <p:nvSpPr>
          <p:cNvPr id="24" name="">
            <a:extLst xmlns:a="http://schemas.openxmlformats.org/drawingml/2006/main">
              <a:ext uri="{FF2B5EF4-FFF2-40B4-BE49-F238E27FC236}">
                <a16:creationId xmlns:a16="http://schemas.microsoft.com/office/drawing/2014/main" id="{BB8C527D-EF35-46DA-B909-D2F6A853566B}"/>
              </a:ext>
            </a:extLst>
          </p:cNvPr>
          <p:cNvSpPr>
            <a:spLocks xmlns:a="http://schemas.openxmlformats.org/drawingml/2006/main" noGrp="1"/>
          </p:cNvSpPr>
          <p:nvPr/>
        </p:nvSpPr>
        <p:spPr>
          <a:xfrm xmlns:a="http://schemas.openxmlformats.org/drawingml/2006/main">
            <a:off x="5543550" y="2619375"/>
            <a:ext cx="1028700" cy="1047750"/>
          </a:xfrm>
          <a:prstGeom xmlns:a="http://schemas.openxmlformats.org/drawingml/2006/main" prst="rect">
            <a:avLst/>
          </a:prstGeom>
          <a:solidFill xmlns:a="http://schemas.openxmlformats.org/drawingml/2006/main">
            <a:srgbClr val="F6F8FA"/>
          </a:solidFill>
          <a:ln xmlns:a="http://schemas.openxmlformats.org/drawingml/2006/main" w="9525">
            <a:solidFill>
              <a:srgbClr val="C6CDD5"/>
            </a:solidFill>
            <a:prstDash val="solid"/>
          </a:ln>
        </p:spPr>
      </p:sp>
      <p:sp>
        <p:nvSpPr>
          <p:cNvPr id="25" name="">
            <a:extLst xmlns:a="http://schemas.openxmlformats.org/drawingml/2006/main">
              <a:ext uri="{FF2B5EF4-FFF2-40B4-BE49-F238E27FC236}">
                <a16:creationId xmlns:a16="http://schemas.microsoft.com/office/drawing/2014/main" id="{7D196601-C5E2-4234-8896-E1CA18A0BFDF}"/>
              </a:ext>
            </a:extLst>
          </p:cNvPr>
          <p:cNvSpPr>
            <a:spLocks xmlns:a="http://schemas.openxmlformats.org/drawingml/2006/main" noGrp="1"/>
          </p:cNvSpPr>
          <p:nvPr/>
        </p:nvSpPr>
        <p:spPr>
          <a:xfrm xmlns:a="http://schemas.openxmlformats.org/drawingml/2006/main">
            <a:off x="5543550" y="2876550"/>
            <a:ext cx="10287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500" b="1" i="0">
                <a:solidFill>
                  <a:srgbClr val="141A24"/>
                </a:solidFill>
                <a:latin typeface="Helvetica Neue"/>
                <a:ea typeface="Helvetica Neue"/>
                <a:cs typeface="Helvetica Neue"/>
              </a:defRPr>
            </a:pPr>
            <a:r>
              <a:rPr sz="1500" b="1" i="0">
                <a:solidFill>
                  <a:srgbClr val="141A24"/>
                </a:solidFill>
                <a:latin typeface="Helvetica Neue"/>
                <a:ea typeface="Helvetica Neue"/>
                <a:cs typeface="Helvetica Neue"/>
              </a:rPr>
              <a:t>64k</a:t>
            </a:r>
          </a:p>
        </p:txBody>
      </p:sp>
      <p:sp>
        <p:nvSpPr>
          <p:cNvPr id="26" name="">
            <a:extLst xmlns:a="http://schemas.openxmlformats.org/drawingml/2006/main">
              <a:ext uri="{FF2B5EF4-FFF2-40B4-BE49-F238E27FC236}">
                <a16:creationId xmlns:a16="http://schemas.microsoft.com/office/drawing/2014/main" id="{53B2329D-B0F6-4C10-8176-F1B86305D23C}"/>
              </a:ext>
            </a:extLst>
          </p:cNvPr>
          <p:cNvSpPr>
            <a:spLocks xmlns:a="http://schemas.openxmlformats.org/drawingml/2006/main" noGrp="1"/>
          </p:cNvSpPr>
          <p:nvPr/>
        </p:nvSpPr>
        <p:spPr>
          <a:xfrm xmlns:a="http://schemas.openxmlformats.org/drawingml/2006/main">
            <a:off x="5543550" y="3286125"/>
            <a:ext cx="10287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050" b="0" i="0">
                <a:solidFill>
                  <a:srgbClr val="556170"/>
                </a:solidFill>
                <a:latin typeface="Helvetica Neue"/>
                <a:ea typeface="Helvetica Neue"/>
                <a:cs typeface="Helvetica Neue"/>
              </a:defRPr>
            </a:pPr>
            <a:r>
              <a:rPr sz="1050" b="0" i="0">
                <a:solidFill>
                  <a:srgbClr val="556170"/>
                </a:solidFill>
                <a:latin typeface="Helvetica Neue"/>
                <a:ea typeface="Helvetica Neue"/>
                <a:cs typeface="Helvetica Neue"/>
              </a:rPr>
              <a:t>50</a:t>
            </a:r>
          </a:p>
        </p:txBody>
      </p:sp>
      <p:cxnSp>
        <p:nvCxnSpPr>
          <p:cNvPr id="72" name=""/>
          <p:cNvCxnSpPr/>
          <p:nvPr/>
        </p:nvCxnSpPr>
        <p:spPr>
          <a:xfrm xmlns:a="http://schemas.openxmlformats.org/drawingml/2006/main">
            <a:off x="6572250" y="3143250"/>
            <a:ext cx="238125" cy="0"/>
          </a:xfrm>
          <a:prstGeom xmlns:a="http://schemas.openxmlformats.org/drawingml/2006/main" prst="straightConnector1">
            <a:avLst/>
          </a:prstGeom>
          <a:ln xmlns:a="http://schemas.openxmlformats.org/drawingml/2006/main" w="9525">
            <a:solidFill>
              <a:srgbClr val="C6CDD5"/>
            </a:solidFill>
            <a:prstDash val="solid"/>
          </a:ln>
        </p:spPr>
      </p:cxnSp>
      <p:sp>
        <p:nvSpPr>
          <p:cNvPr id="28" name="">
            <a:extLst xmlns:a="http://schemas.openxmlformats.org/drawingml/2006/main">
              <a:ext uri="{FF2B5EF4-FFF2-40B4-BE49-F238E27FC236}">
                <a16:creationId xmlns:a16="http://schemas.microsoft.com/office/drawing/2014/main" id="{3CDD0344-24F5-47CF-AFCB-7291AD1878EC}"/>
              </a:ext>
            </a:extLst>
          </p:cNvPr>
          <p:cNvSpPr>
            <a:spLocks xmlns:a="http://schemas.openxmlformats.org/drawingml/2006/main" noGrp="1"/>
          </p:cNvSpPr>
          <p:nvPr/>
        </p:nvSpPr>
        <p:spPr>
          <a:xfrm xmlns:a="http://schemas.openxmlformats.org/drawingml/2006/main">
            <a:off x="6810375" y="2619375"/>
            <a:ext cx="1028700" cy="1047750"/>
          </a:xfrm>
          <a:prstGeom xmlns:a="http://schemas.openxmlformats.org/drawingml/2006/main" prst="rect">
            <a:avLst/>
          </a:prstGeom>
          <a:solidFill xmlns:a="http://schemas.openxmlformats.org/drawingml/2006/main">
            <a:srgbClr val="4D3C93"/>
          </a:solidFill>
          <a:ln xmlns:a="http://schemas.openxmlformats.org/drawingml/2006/main" w="9525">
            <a:solidFill>
              <a:srgbClr val="4D3C93"/>
            </a:solidFill>
            <a:prstDash val="solid"/>
          </a:ln>
        </p:spPr>
      </p:sp>
      <p:sp>
        <p:nvSpPr>
          <p:cNvPr id="29" name="">
            <a:extLst xmlns:a="http://schemas.openxmlformats.org/drawingml/2006/main">
              <a:ext uri="{FF2B5EF4-FFF2-40B4-BE49-F238E27FC236}">
                <a16:creationId xmlns:a16="http://schemas.microsoft.com/office/drawing/2014/main" id="{60E7B2E0-900D-4D38-B7AC-2485BADE835F}"/>
              </a:ext>
            </a:extLst>
          </p:cNvPr>
          <p:cNvSpPr>
            <a:spLocks xmlns:a="http://schemas.openxmlformats.org/drawingml/2006/main" noGrp="1"/>
          </p:cNvSpPr>
          <p:nvPr/>
        </p:nvSpPr>
        <p:spPr>
          <a:xfrm xmlns:a="http://schemas.openxmlformats.org/drawingml/2006/main">
            <a:off x="6810375" y="2876550"/>
            <a:ext cx="10287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500" b="1" i="0">
                <a:solidFill>
                  <a:srgbClr val="FFFFFF"/>
                </a:solidFill>
                <a:latin typeface="Helvetica Neue"/>
                <a:ea typeface="Helvetica Neue"/>
                <a:cs typeface="Helvetica Neue"/>
              </a:defRPr>
            </a:pPr>
            <a:r>
              <a:rPr sz="1500" b="1" i="0">
                <a:solidFill>
                  <a:srgbClr val="FFFFFF"/>
                </a:solidFill>
                <a:latin typeface="Helvetica Neue"/>
                <a:ea typeface="Helvetica Neue"/>
                <a:cs typeface="Helvetica Neue"/>
              </a:rPr>
              <a:t>128k</a:t>
            </a:r>
          </a:p>
        </p:txBody>
      </p:sp>
      <p:sp>
        <p:nvSpPr>
          <p:cNvPr id="30" name="">
            <a:extLst xmlns:a="http://schemas.openxmlformats.org/drawingml/2006/main">
              <a:ext uri="{FF2B5EF4-FFF2-40B4-BE49-F238E27FC236}">
                <a16:creationId xmlns:a16="http://schemas.microsoft.com/office/drawing/2014/main" id="{0652B593-9D4D-4530-9997-3C79CBD7C6C5}"/>
              </a:ext>
            </a:extLst>
          </p:cNvPr>
          <p:cNvSpPr>
            <a:spLocks xmlns:a="http://schemas.openxmlformats.org/drawingml/2006/main" noGrp="1"/>
          </p:cNvSpPr>
          <p:nvPr/>
        </p:nvSpPr>
        <p:spPr>
          <a:xfrm xmlns:a="http://schemas.openxmlformats.org/drawingml/2006/main">
            <a:off x="6810375" y="3286125"/>
            <a:ext cx="10287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050" b="0" i="0">
                <a:solidFill>
                  <a:srgbClr val="FFFFFF"/>
                </a:solidFill>
                <a:latin typeface="Helvetica Neue"/>
                <a:ea typeface="Helvetica Neue"/>
                <a:cs typeface="Helvetica Neue"/>
              </a:defRPr>
            </a:pPr>
            <a:r>
              <a:rPr sz="1050" b="0" i="0">
                <a:solidFill>
                  <a:srgbClr val="FFFFFF"/>
                </a:solidFill>
                <a:latin typeface="Helvetica Neue"/>
                <a:ea typeface="Helvetica Neue"/>
                <a:cs typeface="Helvetica Neue"/>
              </a:rPr>
              <a:t>50</a:t>
            </a:r>
          </a:p>
        </p:txBody>
      </p:sp>
      <p:cxnSp>
        <p:nvCxnSpPr>
          <p:cNvPr id="76" name=""/>
          <p:cNvCxnSpPr/>
          <p:nvPr/>
        </p:nvCxnSpPr>
        <p:spPr>
          <a:xfrm xmlns:a="http://schemas.openxmlformats.org/drawingml/2006/main">
            <a:off x="7839075" y="3143250"/>
            <a:ext cx="238125" cy="0"/>
          </a:xfrm>
          <a:prstGeom xmlns:a="http://schemas.openxmlformats.org/drawingml/2006/main" prst="straightConnector1">
            <a:avLst/>
          </a:prstGeom>
          <a:ln xmlns:a="http://schemas.openxmlformats.org/drawingml/2006/main" w="9525">
            <a:solidFill>
              <a:srgbClr val="C6CDD5"/>
            </a:solidFill>
            <a:prstDash val="solid"/>
          </a:ln>
        </p:spPr>
      </p:cxnSp>
      <p:sp>
        <p:nvSpPr>
          <p:cNvPr id="32" name="">
            <a:extLst xmlns:a="http://schemas.openxmlformats.org/drawingml/2006/main">
              <a:ext uri="{FF2B5EF4-FFF2-40B4-BE49-F238E27FC236}">
                <a16:creationId xmlns:a16="http://schemas.microsoft.com/office/drawing/2014/main" id="{6D01E82A-C63D-4C0B-A4E7-C199D6386D35}"/>
              </a:ext>
            </a:extLst>
          </p:cNvPr>
          <p:cNvSpPr>
            <a:spLocks xmlns:a="http://schemas.openxmlformats.org/drawingml/2006/main" noGrp="1"/>
          </p:cNvSpPr>
          <p:nvPr/>
        </p:nvSpPr>
        <p:spPr>
          <a:xfrm xmlns:a="http://schemas.openxmlformats.org/drawingml/2006/main">
            <a:off x="8077200" y="2619375"/>
            <a:ext cx="1028700" cy="1047750"/>
          </a:xfrm>
          <a:prstGeom xmlns:a="http://schemas.openxmlformats.org/drawingml/2006/main" prst="rect">
            <a:avLst/>
          </a:prstGeom>
          <a:solidFill xmlns:a="http://schemas.openxmlformats.org/drawingml/2006/main">
            <a:srgbClr val="F6F8FA"/>
          </a:solidFill>
          <a:ln xmlns:a="http://schemas.openxmlformats.org/drawingml/2006/main" w="9525">
            <a:solidFill>
              <a:srgbClr val="C6CDD5"/>
            </a:solidFill>
            <a:prstDash val="solid"/>
          </a:ln>
        </p:spPr>
      </p:sp>
      <p:sp>
        <p:nvSpPr>
          <p:cNvPr id="33" name="">
            <a:extLst xmlns:a="http://schemas.openxmlformats.org/drawingml/2006/main">
              <a:ext uri="{FF2B5EF4-FFF2-40B4-BE49-F238E27FC236}">
                <a16:creationId xmlns:a16="http://schemas.microsoft.com/office/drawing/2014/main" id="{44E05185-9A59-4502-BF3A-616B6D956459}"/>
              </a:ext>
            </a:extLst>
          </p:cNvPr>
          <p:cNvSpPr>
            <a:spLocks xmlns:a="http://schemas.openxmlformats.org/drawingml/2006/main" noGrp="1"/>
          </p:cNvSpPr>
          <p:nvPr/>
        </p:nvSpPr>
        <p:spPr>
          <a:xfrm xmlns:a="http://schemas.openxmlformats.org/drawingml/2006/main">
            <a:off x="8077200" y="2876550"/>
            <a:ext cx="10287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500" b="1" i="0">
                <a:solidFill>
                  <a:srgbClr val="141A24"/>
                </a:solidFill>
                <a:latin typeface="Helvetica Neue"/>
                <a:ea typeface="Helvetica Neue"/>
                <a:cs typeface="Helvetica Neue"/>
              </a:defRPr>
            </a:pPr>
            <a:r>
              <a:rPr sz="1500" b="1" i="0">
                <a:solidFill>
                  <a:srgbClr val="141A24"/>
                </a:solidFill>
                <a:latin typeface="Helvetica Neue"/>
                <a:ea typeface="Helvetica Neue"/>
                <a:cs typeface="Helvetica Neue"/>
              </a:rPr>
              <a:t>256k</a:t>
            </a:r>
          </a:p>
        </p:txBody>
      </p:sp>
      <p:sp>
        <p:nvSpPr>
          <p:cNvPr id="34" name="">
            <a:extLst xmlns:a="http://schemas.openxmlformats.org/drawingml/2006/main">
              <a:ext uri="{FF2B5EF4-FFF2-40B4-BE49-F238E27FC236}">
                <a16:creationId xmlns:a16="http://schemas.microsoft.com/office/drawing/2014/main" id="{CD4B5C07-1E2E-4CBF-84CD-838F0F4799AD}"/>
              </a:ext>
            </a:extLst>
          </p:cNvPr>
          <p:cNvSpPr>
            <a:spLocks xmlns:a="http://schemas.openxmlformats.org/drawingml/2006/main" noGrp="1"/>
          </p:cNvSpPr>
          <p:nvPr/>
        </p:nvSpPr>
        <p:spPr>
          <a:xfrm xmlns:a="http://schemas.openxmlformats.org/drawingml/2006/main">
            <a:off x="8077200" y="3286125"/>
            <a:ext cx="10287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050" b="0" i="0">
                <a:solidFill>
                  <a:srgbClr val="556170"/>
                </a:solidFill>
                <a:latin typeface="Helvetica Neue"/>
                <a:ea typeface="Helvetica Neue"/>
                <a:cs typeface="Helvetica Neue"/>
              </a:defRPr>
            </a:pPr>
            <a:r>
              <a:rPr sz="1050" b="0" i="0">
                <a:solidFill>
                  <a:srgbClr val="556170"/>
                </a:solidFill>
                <a:latin typeface="Helvetica Neue"/>
                <a:ea typeface="Helvetica Neue"/>
                <a:cs typeface="Helvetica Neue"/>
              </a:rPr>
              <a:t>50</a:t>
            </a:r>
          </a:p>
        </p:txBody>
      </p:sp>
      <p:cxnSp>
        <p:nvCxnSpPr>
          <p:cNvPr id="80" name=""/>
          <p:cNvCxnSpPr/>
          <p:nvPr/>
        </p:nvCxnSpPr>
        <p:spPr>
          <a:xfrm xmlns:a="http://schemas.openxmlformats.org/drawingml/2006/main">
            <a:off x="9105900" y="3143250"/>
            <a:ext cx="238125" cy="0"/>
          </a:xfrm>
          <a:prstGeom xmlns:a="http://schemas.openxmlformats.org/drawingml/2006/main" prst="straightConnector1">
            <a:avLst/>
          </a:prstGeom>
          <a:ln xmlns:a="http://schemas.openxmlformats.org/drawingml/2006/main" w="9525">
            <a:solidFill>
              <a:srgbClr val="C6CDD5"/>
            </a:solidFill>
            <a:prstDash val="solid"/>
          </a:ln>
        </p:spPr>
      </p:cxnSp>
      <p:sp>
        <p:nvSpPr>
          <p:cNvPr id="36" name="">
            <a:extLst xmlns:a="http://schemas.openxmlformats.org/drawingml/2006/main">
              <a:ext uri="{FF2B5EF4-FFF2-40B4-BE49-F238E27FC236}">
                <a16:creationId xmlns:a16="http://schemas.microsoft.com/office/drawing/2014/main" id="{E2990ACB-2FDC-47FD-A830-58F964E05A25}"/>
              </a:ext>
            </a:extLst>
          </p:cNvPr>
          <p:cNvSpPr>
            <a:spLocks xmlns:a="http://schemas.openxmlformats.org/drawingml/2006/main" noGrp="1"/>
          </p:cNvSpPr>
          <p:nvPr/>
        </p:nvSpPr>
        <p:spPr>
          <a:xfrm xmlns:a="http://schemas.openxmlformats.org/drawingml/2006/main">
            <a:off x="9344025" y="2619375"/>
            <a:ext cx="1028700" cy="1047750"/>
          </a:xfrm>
          <a:prstGeom xmlns:a="http://schemas.openxmlformats.org/drawingml/2006/main" prst="rect">
            <a:avLst/>
          </a:prstGeom>
          <a:solidFill xmlns:a="http://schemas.openxmlformats.org/drawingml/2006/main">
            <a:srgbClr val="F6F8FA"/>
          </a:solidFill>
          <a:ln xmlns:a="http://schemas.openxmlformats.org/drawingml/2006/main" w="9525">
            <a:solidFill>
              <a:srgbClr val="C6CDD5"/>
            </a:solidFill>
            <a:prstDash val="solid"/>
          </a:ln>
        </p:spPr>
      </p:sp>
      <p:sp>
        <p:nvSpPr>
          <p:cNvPr id="37" name="">
            <a:extLst xmlns:a="http://schemas.openxmlformats.org/drawingml/2006/main">
              <a:ext uri="{FF2B5EF4-FFF2-40B4-BE49-F238E27FC236}">
                <a16:creationId xmlns:a16="http://schemas.microsoft.com/office/drawing/2014/main" id="{F9E7B06C-B249-4C8E-85C7-04313F434AD4}"/>
              </a:ext>
            </a:extLst>
          </p:cNvPr>
          <p:cNvSpPr>
            <a:spLocks xmlns:a="http://schemas.openxmlformats.org/drawingml/2006/main" noGrp="1"/>
          </p:cNvSpPr>
          <p:nvPr/>
        </p:nvSpPr>
        <p:spPr>
          <a:xfrm xmlns:a="http://schemas.openxmlformats.org/drawingml/2006/main">
            <a:off x="9344025" y="2876550"/>
            <a:ext cx="10287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500" b="1" i="0">
                <a:solidFill>
                  <a:srgbClr val="141A24"/>
                </a:solidFill>
                <a:latin typeface="Helvetica Neue"/>
                <a:ea typeface="Helvetica Neue"/>
                <a:cs typeface="Helvetica Neue"/>
              </a:defRPr>
            </a:pPr>
            <a:r>
              <a:rPr sz="1500" b="1" i="0">
                <a:solidFill>
                  <a:srgbClr val="141A24"/>
                </a:solidFill>
                <a:latin typeface="Helvetica Neue"/>
                <a:ea typeface="Helvetica Neue"/>
                <a:cs typeface="Helvetica Neue"/>
              </a:rPr>
              <a:t>512k</a:t>
            </a:r>
          </a:p>
        </p:txBody>
      </p:sp>
      <p:sp>
        <p:nvSpPr>
          <p:cNvPr id="38" name="">
            <a:extLst xmlns:a="http://schemas.openxmlformats.org/drawingml/2006/main">
              <a:ext uri="{FF2B5EF4-FFF2-40B4-BE49-F238E27FC236}">
                <a16:creationId xmlns:a16="http://schemas.microsoft.com/office/drawing/2014/main" id="{C039A721-055D-4A0B-ADFA-3EB389186074}"/>
              </a:ext>
            </a:extLst>
          </p:cNvPr>
          <p:cNvSpPr>
            <a:spLocks xmlns:a="http://schemas.openxmlformats.org/drawingml/2006/main" noGrp="1"/>
          </p:cNvSpPr>
          <p:nvPr/>
        </p:nvSpPr>
        <p:spPr>
          <a:xfrm xmlns:a="http://schemas.openxmlformats.org/drawingml/2006/main">
            <a:off x="9344025" y="3286125"/>
            <a:ext cx="10287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050" b="0" i="0">
                <a:solidFill>
                  <a:srgbClr val="556170"/>
                </a:solidFill>
                <a:latin typeface="Helvetica Neue"/>
                <a:ea typeface="Helvetica Neue"/>
                <a:cs typeface="Helvetica Neue"/>
              </a:defRPr>
            </a:pPr>
            <a:r>
              <a:rPr sz="1050" b="0" i="0">
                <a:solidFill>
                  <a:srgbClr val="556170"/>
                </a:solidFill>
                <a:latin typeface="Helvetica Neue"/>
                <a:ea typeface="Helvetica Neue"/>
                <a:cs typeface="Helvetica Neue"/>
              </a:rPr>
              <a:t>50</a:t>
            </a:r>
          </a:p>
        </p:txBody>
      </p:sp>
      <p:cxnSp>
        <p:nvCxnSpPr>
          <p:cNvPr id="84" name=""/>
          <p:cNvCxnSpPr/>
          <p:nvPr/>
        </p:nvCxnSpPr>
        <p:spPr>
          <a:xfrm xmlns:a="http://schemas.openxmlformats.org/drawingml/2006/main">
            <a:off x="10372725" y="3143250"/>
            <a:ext cx="238125" cy="0"/>
          </a:xfrm>
          <a:prstGeom xmlns:a="http://schemas.openxmlformats.org/drawingml/2006/main" prst="straightConnector1">
            <a:avLst/>
          </a:prstGeom>
          <a:ln xmlns:a="http://schemas.openxmlformats.org/drawingml/2006/main" w="9525">
            <a:solidFill>
              <a:srgbClr val="C6CDD5"/>
            </a:solidFill>
            <a:prstDash val="solid"/>
          </a:ln>
        </p:spPr>
      </p:cxnSp>
      <p:sp>
        <p:nvSpPr>
          <p:cNvPr id="40" name="">
            <a:extLst xmlns:a="http://schemas.openxmlformats.org/drawingml/2006/main">
              <a:ext uri="{FF2B5EF4-FFF2-40B4-BE49-F238E27FC236}">
                <a16:creationId xmlns:a16="http://schemas.microsoft.com/office/drawing/2014/main" id="{EC6E16F9-74A1-4177-AAA8-9EC4EAEA370D}"/>
              </a:ext>
            </a:extLst>
          </p:cNvPr>
          <p:cNvSpPr>
            <a:spLocks xmlns:a="http://schemas.openxmlformats.org/drawingml/2006/main" noGrp="1"/>
          </p:cNvSpPr>
          <p:nvPr/>
        </p:nvSpPr>
        <p:spPr>
          <a:xfrm xmlns:a="http://schemas.openxmlformats.org/drawingml/2006/main">
            <a:off x="10610850" y="2619375"/>
            <a:ext cx="1028700" cy="1047750"/>
          </a:xfrm>
          <a:prstGeom xmlns:a="http://schemas.openxmlformats.org/drawingml/2006/main" prst="rect">
            <a:avLst/>
          </a:prstGeom>
          <a:solidFill xmlns:a="http://schemas.openxmlformats.org/drawingml/2006/main">
            <a:srgbClr val="F6F8FA"/>
          </a:solidFill>
          <a:ln xmlns:a="http://schemas.openxmlformats.org/drawingml/2006/main" w="9525">
            <a:solidFill>
              <a:srgbClr val="C6CDD5"/>
            </a:solidFill>
            <a:prstDash val="solid"/>
          </a:ln>
        </p:spPr>
      </p:sp>
      <p:sp>
        <p:nvSpPr>
          <p:cNvPr id="41" name="">
            <a:extLst xmlns:a="http://schemas.openxmlformats.org/drawingml/2006/main">
              <a:ext uri="{FF2B5EF4-FFF2-40B4-BE49-F238E27FC236}">
                <a16:creationId xmlns:a16="http://schemas.microsoft.com/office/drawing/2014/main" id="{3004F376-36C1-4CF7-8DD7-FADB5B358715}"/>
              </a:ext>
            </a:extLst>
          </p:cNvPr>
          <p:cNvSpPr>
            <a:spLocks xmlns:a="http://schemas.openxmlformats.org/drawingml/2006/main" noGrp="1"/>
          </p:cNvSpPr>
          <p:nvPr/>
        </p:nvSpPr>
        <p:spPr>
          <a:xfrm xmlns:a="http://schemas.openxmlformats.org/drawingml/2006/main">
            <a:off x="10610850" y="2876550"/>
            <a:ext cx="10287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500" b="1" i="0">
                <a:solidFill>
                  <a:srgbClr val="141A24"/>
                </a:solidFill>
                <a:latin typeface="Helvetica Neue"/>
                <a:ea typeface="Helvetica Neue"/>
                <a:cs typeface="Helvetica Neue"/>
              </a:defRPr>
            </a:pPr>
            <a:r>
              <a:rPr sz="1500" b="1" i="0">
                <a:solidFill>
                  <a:srgbClr val="141A24"/>
                </a:solidFill>
                <a:latin typeface="Helvetica Neue"/>
                <a:ea typeface="Helvetica Neue"/>
                <a:cs typeface="Helvetica Neue"/>
              </a:rPr>
              <a:t>1,024k</a:t>
            </a:r>
          </a:p>
        </p:txBody>
      </p:sp>
      <p:sp>
        <p:nvSpPr>
          <p:cNvPr id="42" name="">
            <a:extLst xmlns:a="http://schemas.openxmlformats.org/drawingml/2006/main">
              <a:ext uri="{FF2B5EF4-FFF2-40B4-BE49-F238E27FC236}">
                <a16:creationId xmlns:a16="http://schemas.microsoft.com/office/drawing/2014/main" id="{226E5110-935C-4ACB-AA67-491D1A3EDB6C}"/>
              </a:ext>
            </a:extLst>
          </p:cNvPr>
          <p:cNvSpPr>
            <a:spLocks xmlns:a="http://schemas.openxmlformats.org/drawingml/2006/main" noGrp="1"/>
          </p:cNvSpPr>
          <p:nvPr/>
        </p:nvSpPr>
        <p:spPr>
          <a:xfrm xmlns:a="http://schemas.openxmlformats.org/drawingml/2006/main">
            <a:off x="10610850" y="3286125"/>
            <a:ext cx="10287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050" b="0" i="0">
                <a:solidFill>
                  <a:srgbClr val="556170"/>
                </a:solidFill>
                <a:latin typeface="Helvetica Neue"/>
                <a:ea typeface="Helvetica Neue"/>
                <a:cs typeface="Helvetica Neue"/>
              </a:defRPr>
            </a:pPr>
            <a:r>
              <a:rPr sz="1050" b="0" i="0">
                <a:solidFill>
                  <a:srgbClr val="556170"/>
                </a:solidFill>
                <a:latin typeface="Helvetica Neue"/>
                <a:ea typeface="Helvetica Neue"/>
                <a:cs typeface="Helvetica Neue"/>
              </a:rPr>
              <a:t>50</a:t>
            </a:r>
          </a:p>
        </p:txBody>
      </p:sp>
      <p:sp>
        <p:nvSpPr>
          <p:cNvPr id="43" name="">
            <a:extLst xmlns:a="http://schemas.openxmlformats.org/drawingml/2006/main">
              <a:ext uri="{FF2B5EF4-FFF2-40B4-BE49-F238E27FC236}">
                <a16:creationId xmlns:a16="http://schemas.microsoft.com/office/drawing/2014/main" id="{0E4C964D-65EE-427A-BC48-641F5DDE596B}"/>
              </a:ext>
            </a:extLst>
          </p:cNvPr>
          <p:cNvSpPr>
            <a:spLocks xmlns:a="http://schemas.openxmlformats.org/drawingml/2006/main" noGrp="1"/>
          </p:cNvSpPr>
          <p:nvPr/>
        </p:nvSpPr>
        <p:spPr>
          <a:xfrm xmlns:a="http://schemas.openxmlformats.org/drawingml/2006/main">
            <a:off x="476250" y="2276475"/>
            <a:ext cx="952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825" b="1" i="0">
                <a:solidFill>
                  <a:srgbClr val="556170"/>
                </a:solidFill>
                <a:latin typeface="Helvetica Neue"/>
                <a:ea typeface="Helvetica Neue"/>
                <a:cs typeface="Helvetica Neue"/>
              </a:defRPr>
            </a:pPr>
            <a:r>
              <a:rPr sz="825" b="1" i="0">
                <a:solidFill>
                  <a:srgbClr val="556170"/>
                </a:solidFill>
                <a:latin typeface="Helvetica Neue"/>
                <a:ea typeface="Helvetica Neue"/>
                <a:cs typeface="Helvetica Neue"/>
              </a:rPr>
              <a:t>N_SD</a:t>
            </a:r>
          </a:p>
        </p:txBody>
      </p:sp>
      <p:sp>
        <p:nvSpPr>
          <p:cNvPr id="44" name="">
            <a:extLst xmlns:a="http://schemas.openxmlformats.org/drawingml/2006/main">
              <a:ext uri="{FF2B5EF4-FFF2-40B4-BE49-F238E27FC236}">
                <a16:creationId xmlns:a16="http://schemas.microsoft.com/office/drawing/2014/main" id="{F1B58E6D-65A3-456B-A341-F979572D6277}"/>
              </a:ext>
            </a:extLst>
          </p:cNvPr>
          <p:cNvSpPr>
            <a:spLocks xmlns:a="http://schemas.openxmlformats.org/drawingml/2006/main" noGrp="1"/>
          </p:cNvSpPr>
          <p:nvPr/>
        </p:nvSpPr>
        <p:spPr>
          <a:xfrm xmlns:a="http://schemas.openxmlformats.org/drawingml/2006/main">
            <a:off x="476250" y="4000500"/>
            <a:ext cx="2190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825" b="1" i="0">
                <a:solidFill>
                  <a:srgbClr val="556170"/>
                </a:solidFill>
                <a:latin typeface="Helvetica Neue"/>
                <a:ea typeface="Helvetica Neue"/>
                <a:cs typeface="Helvetica Neue"/>
              </a:defRPr>
            </a:pPr>
            <a:r>
              <a:rPr sz="825" b="1" i="0">
                <a:solidFill>
                  <a:srgbClr val="556170"/>
                </a:solidFill>
                <a:latin typeface="Helvetica Neue"/>
                <a:ea typeface="Helvetica Neue"/>
                <a:cs typeface="Helvetica Neue"/>
              </a:rPr>
              <a:t>MEMBERS PER RESOLUTION</a:t>
            </a:r>
          </a:p>
        </p:txBody>
      </p:sp>
      <p:sp>
        <p:nvSpPr>
          <p:cNvPr id="45" name="">
            <a:extLst xmlns:a="http://schemas.openxmlformats.org/drawingml/2006/main">
              <a:ext uri="{FF2B5EF4-FFF2-40B4-BE49-F238E27FC236}">
                <a16:creationId xmlns:a16="http://schemas.microsoft.com/office/drawing/2014/main" id="{E0EF522C-CF47-49D3-B132-3BA8EEDE8A73}"/>
              </a:ext>
            </a:extLst>
          </p:cNvPr>
          <p:cNvSpPr>
            <a:spLocks xmlns:a="http://schemas.openxmlformats.org/drawingml/2006/main" noGrp="1"/>
          </p:cNvSpPr>
          <p:nvPr/>
        </p:nvSpPr>
        <p:spPr>
          <a:xfrm xmlns:a="http://schemas.openxmlformats.org/drawingml/2006/main">
            <a:off x="476250" y="4829175"/>
            <a:ext cx="10287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650" b="1" i="0">
                <a:solidFill>
                  <a:srgbClr val="4D3C93"/>
                </a:solidFill>
                <a:latin typeface="Helvetica Neue"/>
                <a:ea typeface="Helvetica Neue"/>
                <a:cs typeface="Helvetica Neue"/>
              </a:defRPr>
            </a:pPr>
            <a:r>
              <a:rPr sz="1650" b="1" i="0">
                <a:solidFill>
                  <a:srgbClr val="4D3C93"/>
                </a:solidFill>
                <a:latin typeface="Helvetica Neue"/>
                <a:ea typeface="Helvetica Neue"/>
                <a:cs typeface="Helvetica Neue"/>
              </a:rPr>
              <a:t>Formal N / 2N / 4N selection needs a candidate plus two higher-resolution confirmations.</a:t>
            </a:r>
          </a:p>
        </p:txBody>
      </p:sp>
    </p:spTree>
    <p:extLst>
      <p:ext uri="{BB962C8B-B14F-4D97-AF65-F5344CB8AC3E}">
        <p14:creationId xmlns:p14="http://schemas.microsoft.com/office/powerpoint/2010/main" val="366058953"/>
      </p:ext>
    </p:extLst>
  </p:cSld>
</p:sld>
</file>

<file path=ppt/slides/slide9.xml><?xml version="1.0" encoding="utf-8"?>
<p:sld xmlns:p="http://schemas.openxmlformats.org/presentationml/2006/main">
  <p:cSld>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4567797E-4414-4DF4-BC84-761CE6D9833C}"/>
              </a:ext>
            </a:extLst>
          </p:cNvPr>
          <p:cNvSpPr>
            <a:spLocks xmlns:a="http://schemas.openxmlformats.org/drawingml/2006/main" noGrp="1"/>
          </p:cNvSpPr>
          <p:nvPr/>
        </p:nvSpPr>
        <p:spPr>
          <a:xfrm xmlns:a="http://schemas.openxmlformats.org/drawingml/2006/main">
            <a:off x="400050" y="285750"/>
            <a:ext cx="7239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1" i="0">
                <a:solidFill>
                  <a:srgbClr val="1774D1"/>
                </a:solidFill>
                <a:latin typeface="Helvetica Neue"/>
                <a:ea typeface="Helvetica Neue"/>
                <a:cs typeface="Helvetica Neue"/>
              </a:defRPr>
            </a:pPr>
            <a:r>
              <a:rPr sz="900" b="1" i="0">
                <a:solidFill>
                  <a:srgbClr val="1774D1"/>
                </a:solidFill>
                <a:latin typeface="Helvetica Neue"/>
                <a:ea typeface="Helvetica Neue"/>
                <a:cs typeface="Helvetica Neue"/>
              </a:rPr>
              <a:t>GOLOVIN CONVERGENCE CALIBRATION</a:t>
            </a:r>
          </a:p>
        </p:txBody>
      </p:sp>
      <p:sp>
        <p:nvSpPr>
          <p:cNvPr id="2" name="">
            <a:extLst xmlns:a="http://schemas.openxmlformats.org/drawingml/2006/main">
              <a:ext uri="{FF2B5EF4-FFF2-40B4-BE49-F238E27FC236}">
                <a16:creationId xmlns:a16="http://schemas.microsoft.com/office/drawing/2014/main" id="{CC4390C1-DFC2-405B-8422-C654DA4E5D59}"/>
              </a:ext>
            </a:extLst>
          </p:cNvPr>
          <p:cNvSpPr>
            <a:spLocks xmlns:a="http://schemas.openxmlformats.org/drawingml/2006/main" noGrp="1"/>
          </p:cNvSpPr>
          <p:nvPr/>
        </p:nvSpPr>
        <p:spPr>
          <a:xfrm xmlns:a="http://schemas.openxmlformats.org/drawingml/2006/main">
            <a:off x="400050" y="590550"/>
            <a:ext cx="113728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625" b="1" i="0">
                <a:solidFill>
                  <a:srgbClr val="141A24"/>
                </a:solidFill>
                <a:latin typeface="Helvetica Neue"/>
                <a:ea typeface="Helvetica Neue"/>
                <a:cs typeface="Helvetica Neue"/>
              </a:defRPr>
            </a:pPr>
            <a:r>
              <a:rPr sz="2625" b="1" i="0">
                <a:solidFill>
                  <a:srgbClr val="141A24"/>
                </a:solidFill>
                <a:latin typeface="Helvetica Neue"/>
                <a:ea typeface="Helvetica Neue"/>
                <a:cs typeface="Helvetica Neue"/>
              </a:rPr>
              <a:t>The formal balanced fixed-50 rule selects 131,072 SDs</a:t>
            </a:r>
          </a:p>
        </p:txBody>
      </p:sp>
      <p:cxnSp>
        <p:nvCxnSpPr>
          <p:cNvPr id="15" name=""/>
          <p:cNvCxnSpPr/>
          <p:nvPr/>
        </p:nvCxnSpPr>
        <p:spPr>
          <a:xfrm xmlns:a="http://schemas.openxmlformats.org/drawingml/2006/main">
            <a:off x="400050" y="6343650"/>
            <a:ext cx="11391900" cy="0"/>
          </a:xfrm>
          <a:prstGeom xmlns:a="http://schemas.openxmlformats.org/drawingml/2006/main" prst="straightConnector1">
            <a:avLst/>
          </a:prstGeom>
          <a:ln xmlns:a="http://schemas.openxmlformats.org/drawingml/2006/main" w="9525">
            <a:solidFill>
              <a:srgbClr val="C6CDD5"/>
            </a:solidFill>
            <a:prstDash val="solid"/>
          </a:ln>
        </p:spPr>
      </p:cxnSp>
      <p:sp>
        <p:nvSpPr>
          <p:cNvPr id="4" name="">
            <a:extLst xmlns:a="http://schemas.openxmlformats.org/drawingml/2006/main">
              <a:ext uri="{FF2B5EF4-FFF2-40B4-BE49-F238E27FC236}">
                <a16:creationId xmlns:a16="http://schemas.microsoft.com/office/drawing/2014/main" id="{0C6831D6-4AC7-419A-B178-62AC4A64CE8C}"/>
              </a:ext>
            </a:extLst>
          </p:cNvPr>
          <p:cNvSpPr>
            <a:spLocks xmlns:a="http://schemas.openxmlformats.org/drawingml/2006/main" noGrp="1"/>
          </p:cNvSpPr>
          <p:nvPr/>
        </p:nvSpPr>
        <p:spPr>
          <a:xfrm xmlns:a="http://schemas.openxmlformats.org/drawingml/2006/main">
            <a:off x="400050" y="6457950"/>
            <a:ext cx="4095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825" b="0" i="0">
                <a:solidFill>
                  <a:srgbClr val="556170"/>
                </a:solidFill>
                <a:latin typeface="Helvetica Neue"/>
                <a:ea typeface="Helvetica Neue"/>
                <a:cs typeface="Helvetica Neue"/>
              </a:defRPr>
            </a:pPr>
            <a:r>
              <a:rPr sz="825" b="0" i="0">
                <a:solidFill>
                  <a:srgbClr val="556170"/>
                </a:solidFill>
                <a:latin typeface="Helvetica Neue"/>
                <a:ea typeface="Helvetica Neue"/>
                <a:cs typeface="Helvetica Neue"/>
              </a:rPr>
              <a:t>CLEO controlled Golovin calibration</a:t>
            </a:r>
          </a:p>
        </p:txBody>
      </p:sp>
      <p:sp>
        <p:nvSpPr>
          <p:cNvPr id="5" name="">
            <a:extLst xmlns:a="http://schemas.openxmlformats.org/drawingml/2006/main">
              <a:ext uri="{FF2B5EF4-FFF2-40B4-BE49-F238E27FC236}">
                <a16:creationId xmlns:a16="http://schemas.microsoft.com/office/drawing/2014/main" id="{3A50A8FA-5012-4DA8-B516-30F15FEFC2A7}"/>
              </a:ext>
            </a:extLst>
          </p:cNvPr>
          <p:cNvSpPr>
            <a:spLocks xmlns:a="http://schemas.openxmlformats.org/drawingml/2006/main" noGrp="1"/>
          </p:cNvSpPr>
          <p:nvPr/>
        </p:nvSpPr>
        <p:spPr>
          <a:xfrm xmlns:a="http://schemas.openxmlformats.org/drawingml/2006/main">
            <a:off x="9191625" y="6457950"/>
            <a:ext cx="1524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825" b="0" i="0">
                <a:solidFill>
                  <a:srgbClr val="556170"/>
                </a:solidFill>
                <a:latin typeface="Helvetica Neue"/>
                <a:ea typeface="Helvetica Neue"/>
                <a:cs typeface="Helvetica Neue"/>
              </a:defRPr>
            </a:pPr>
            <a:r>
              <a:rPr sz="825" b="0" i="0">
                <a:solidFill>
                  <a:srgbClr val="556170"/>
                </a:solidFill>
                <a:latin typeface="Helvetica Neue"/>
                <a:ea typeface="Helvetica Neue"/>
                <a:cs typeface="Helvetica Neue"/>
              </a:rPr>
              <a:t>02 AUG 2026</a:t>
            </a:r>
          </a:p>
        </p:txBody>
      </p:sp>
      <p:sp>
        <p:nvSpPr>
          <p:cNvPr id="6" name="">
            <a:extLst xmlns:a="http://schemas.openxmlformats.org/drawingml/2006/main">
              <a:ext uri="{FF2B5EF4-FFF2-40B4-BE49-F238E27FC236}">
                <a16:creationId xmlns:a16="http://schemas.microsoft.com/office/drawing/2014/main" id="{6BD79D34-FBEB-4A86-8D52-AB8694BACDE2}"/>
              </a:ext>
            </a:extLst>
          </p:cNvPr>
          <p:cNvSpPr>
            <a:spLocks xmlns:a="http://schemas.openxmlformats.org/drawingml/2006/main" noGrp="1"/>
          </p:cNvSpPr>
          <p:nvPr/>
        </p:nvSpPr>
        <p:spPr>
          <a:xfrm xmlns:a="http://schemas.openxmlformats.org/drawingml/2006/main">
            <a:off x="11049000" y="6438900"/>
            <a:ext cx="7429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00" b="1" i="0">
                <a:solidFill>
                  <a:srgbClr val="141A24"/>
                </a:solidFill>
                <a:latin typeface="Helvetica Neue"/>
                <a:ea typeface="Helvetica Neue"/>
                <a:cs typeface="Helvetica Neue"/>
              </a:defRPr>
            </a:pPr>
            <a:r>
              <a:rPr sz="900" b="1" i="0">
                <a:solidFill>
                  <a:srgbClr val="141A24"/>
                </a:solidFill>
                <a:latin typeface="Helvetica Neue"/>
                <a:ea typeface="Helvetica Neue"/>
                <a:cs typeface="Helvetica Neue"/>
              </a:rPr>
              <a:t>09</a:t>
            </a:r>
          </a:p>
        </p:txBody>
      </p:sp>
      <p:sp>
        <p:nvSpPr>
          <p:cNvPr id="7" name="">
            <a:extLst xmlns:a="http://schemas.openxmlformats.org/drawingml/2006/main">
              <a:ext uri="{FF2B5EF4-FFF2-40B4-BE49-F238E27FC236}">
                <a16:creationId xmlns:a16="http://schemas.microsoft.com/office/drawing/2014/main" id="{1D6D675C-846E-45F1-84D1-C85BF2778162}"/>
              </a:ext>
            </a:extLst>
          </p:cNvPr>
          <p:cNvSpPr>
            <a:spLocks xmlns:a="http://schemas.openxmlformats.org/drawingml/2006/main" noGrp="1"/>
          </p:cNvSpPr>
          <p:nvPr/>
        </p:nvSpPr>
        <p:spPr>
          <a:xfrm xmlns:a="http://schemas.openxmlformats.org/drawingml/2006/main">
            <a:off x="400050" y="1400175"/>
            <a:ext cx="3505200" cy="4171950"/>
          </a:xfrm>
          <a:prstGeom xmlns:a="http://schemas.openxmlformats.org/drawingml/2006/main" prst="rect">
            <a:avLst/>
          </a:prstGeom>
          <a:solidFill xmlns:a="http://schemas.openxmlformats.org/drawingml/2006/main">
            <a:srgbClr val="4D3C93"/>
          </a:solidFill>
          <a:ln xmlns:a="http://schemas.openxmlformats.org/drawingml/2006/main" w="9525">
            <a:solidFill>
              <a:srgbClr val="4D3C93"/>
            </a:solidFill>
            <a:prstDash val="solid"/>
          </a:ln>
        </p:spPr>
      </p:sp>
      <p:sp>
        <p:nvSpPr>
          <p:cNvPr id="8" name="">
            <a:extLst xmlns:a="http://schemas.openxmlformats.org/drawingml/2006/main">
              <a:ext uri="{FF2B5EF4-FFF2-40B4-BE49-F238E27FC236}">
                <a16:creationId xmlns:a16="http://schemas.microsoft.com/office/drawing/2014/main" id="{1C6BA8A8-7667-4599-944D-4108DF05B544}"/>
              </a:ext>
            </a:extLst>
          </p:cNvPr>
          <p:cNvSpPr>
            <a:spLocks xmlns:a="http://schemas.openxmlformats.org/drawingml/2006/main" noGrp="1"/>
          </p:cNvSpPr>
          <p:nvPr/>
        </p:nvSpPr>
        <p:spPr>
          <a:xfrm xmlns:a="http://schemas.openxmlformats.org/drawingml/2006/main">
            <a:off x="666750" y="1752600"/>
            <a:ext cx="1714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825" b="1" i="0">
                <a:solidFill>
                  <a:srgbClr val="FFFFFF"/>
                </a:solidFill>
                <a:latin typeface="Helvetica Neue"/>
                <a:ea typeface="Helvetica Neue"/>
                <a:cs typeface="Helvetica Neue"/>
              </a:defRPr>
            </a:pPr>
            <a:r>
              <a:rPr sz="825" b="1" i="0">
                <a:solidFill>
                  <a:srgbClr val="FFFFFF"/>
                </a:solidFill>
                <a:latin typeface="Helvetica Neue"/>
                <a:ea typeface="Helvetica Neue"/>
                <a:cs typeface="Helvetica Neue"/>
              </a:rPr>
              <a:t>FORMAL RESULT</a:t>
            </a:r>
          </a:p>
        </p:txBody>
      </p:sp>
      <p:sp>
        <p:nvSpPr>
          <p:cNvPr id="9" name="">
            <a:extLst xmlns:a="http://schemas.openxmlformats.org/drawingml/2006/main">
              <a:ext uri="{FF2B5EF4-FFF2-40B4-BE49-F238E27FC236}">
                <a16:creationId xmlns:a16="http://schemas.microsoft.com/office/drawing/2014/main" id="{78972E12-5613-4F71-A18F-2D75F0D62623}"/>
              </a:ext>
            </a:extLst>
          </p:cNvPr>
          <p:cNvSpPr>
            <a:spLocks xmlns:a="http://schemas.openxmlformats.org/drawingml/2006/main" noGrp="1"/>
          </p:cNvSpPr>
          <p:nvPr/>
        </p:nvSpPr>
        <p:spPr>
          <a:xfrm xmlns:a="http://schemas.openxmlformats.org/drawingml/2006/main">
            <a:off x="666750" y="2181225"/>
            <a:ext cx="26670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3525" b="1" i="0">
                <a:solidFill>
                  <a:srgbClr val="FFFFFF"/>
                </a:solidFill>
                <a:latin typeface="Helvetica Neue"/>
                <a:ea typeface="Helvetica Neue"/>
                <a:cs typeface="Helvetica Neue"/>
              </a:defRPr>
            </a:pPr>
            <a:r>
              <a:rPr sz="3525" b="1" i="0">
                <a:solidFill>
                  <a:srgbClr val="FFFFFF"/>
                </a:solidFill>
                <a:latin typeface="Helvetica Neue"/>
                <a:ea typeface="Helvetica Neue"/>
                <a:cs typeface="Helvetica Neue"/>
              </a:rPr>
              <a:t>131,072</a:t>
            </a:r>
          </a:p>
          <a:p xmlns:a="http://schemas.openxmlformats.org/drawingml/2006/main">
            <a:pPr algn="l">
              <a:defRPr sz="3525" b="1" i="0">
                <a:solidFill>
                  <a:srgbClr val="FFFFFF"/>
                </a:solidFill>
                <a:latin typeface="Helvetica Neue"/>
                <a:ea typeface="Helvetica Neue"/>
                <a:cs typeface="Helvetica Neue"/>
              </a:defRPr>
            </a:pPr>
            <a:r>
              <a:rPr sz="3525" b="1" i="0">
                <a:solidFill>
                  <a:srgbClr val="FFFFFF"/>
                </a:solidFill>
                <a:latin typeface="Helvetica Neue"/>
                <a:ea typeface="Helvetica Neue"/>
                <a:cs typeface="Helvetica Neue"/>
              </a:rPr>
              <a:t>SDs</a:t>
            </a:r>
          </a:p>
        </p:txBody>
      </p:sp>
      <p:sp>
        <p:nvSpPr>
          <p:cNvPr id="10" name="">
            <a:extLst xmlns:a="http://schemas.openxmlformats.org/drawingml/2006/main">
              <a:ext uri="{FF2B5EF4-FFF2-40B4-BE49-F238E27FC236}">
                <a16:creationId xmlns:a16="http://schemas.microsoft.com/office/drawing/2014/main" id="{3BEFEA64-05D8-4251-8141-2127523DFD60}"/>
              </a:ext>
            </a:extLst>
          </p:cNvPr>
          <p:cNvSpPr>
            <a:spLocks xmlns:a="http://schemas.openxmlformats.org/drawingml/2006/main" noGrp="1"/>
          </p:cNvSpPr>
          <p:nvPr/>
        </p:nvSpPr>
        <p:spPr>
          <a:xfrm xmlns:a="http://schemas.openxmlformats.org/drawingml/2006/main">
            <a:off x="666750" y="3409950"/>
            <a:ext cx="2686050" cy="752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425" b="0" i="0">
                <a:solidFill>
                  <a:srgbClr val="FFFFFF"/>
                </a:solidFill>
                <a:latin typeface="Helvetica Neue"/>
                <a:ea typeface="Helvetica Neue"/>
                <a:cs typeface="Helvetica Neue"/>
              </a:defRPr>
            </a:pPr>
            <a:r>
              <a:rPr sz="1425" b="0" i="0">
                <a:solidFill>
                  <a:srgbClr val="FFFFFF"/>
                </a:solidFill>
                <a:latin typeface="Helvetica Neue"/>
                <a:ea typeface="Helvetica Neue"/>
                <a:cs typeface="Helvetica Neue"/>
              </a:rPr>
              <a:t>Valid at N, 2N and 4N and both adjacent formal equivalence comparisons pass.</a:t>
            </a:r>
          </a:p>
        </p:txBody>
      </p:sp>
      <p:sp>
        <p:nvSpPr>
          <p:cNvPr id="11" name="">
            <a:extLst xmlns:a="http://schemas.openxmlformats.org/drawingml/2006/main">
              <a:ext uri="{FF2B5EF4-FFF2-40B4-BE49-F238E27FC236}">
                <a16:creationId xmlns:a16="http://schemas.microsoft.com/office/drawing/2014/main" id="{1A9E2AC3-7F09-4F3C-9A3F-7C9F432BB82F}"/>
              </a:ext>
            </a:extLst>
          </p:cNvPr>
          <p:cNvSpPr>
            <a:spLocks xmlns:a="http://schemas.openxmlformats.org/drawingml/2006/main" noGrp="1"/>
          </p:cNvSpPr>
          <p:nvPr/>
        </p:nvSpPr>
        <p:spPr>
          <a:xfrm xmlns:a="http://schemas.openxmlformats.org/drawingml/2006/main">
            <a:off x="666750" y="4743450"/>
            <a:ext cx="2667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75" b="0" i="1">
                <a:solidFill>
                  <a:srgbClr val="FFFFFF"/>
                </a:solidFill>
                <a:latin typeface="Helvetica Neue"/>
                <a:ea typeface="Helvetica Neue"/>
                <a:cs typeface="Helvetica Neue"/>
              </a:defRPr>
            </a:pPr>
            <a:r>
              <a:rPr sz="1275" b="0" i="1">
                <a:solidFill>
                  <a:srgbClr val="FFFFFF"/>
                </a:solidFill>
                <a:latin typeface="Helvetica Neue"/>
                <a:ea typeface="Helvetica Neue"/>
                <a:cs typeface="Helvetica Neue"/>
              </a:rPr>
              <a:t>This is the original balanced protocol’s result.</a:t>
            </a:r>
          </a:p>
        </p:txBody>
      </p:sp>
      <p:pic>
        <p:nvPicPr>
          <p:cNvPr id="24" name=""/>
          <p:cNvPicPr>
            <a:picLocks xmlns:a="http://schemas.openxmlformats.org/drawingml/2006/main" noChangeAspect="1"/>
          </p:cNvPicPr>
          <p:nvPr/>
        </p:nvPicPr>
        <p:blipFill>
          <a:blip xmlns:r="http://schemas.openxmlformats.org/officeDocument/2006/relationships" xmlns:a="http://schemas.openxmlformats.org/drawingml/2006/main" r:embed="R2d33507a26084ed0"/>
          <a:stretch xmlns:a="http://schemas.openxmlformats.org/drawingml/2006/main"/>
        </p:blipFill>
        <p:spPr>
          <a:xfrm xmlns:a="http://schemas.openxmlformats.org/drawingml/2006/main">
            <a:off x="4267200" y="2452144"/>
            <a:ext cx="7239000" cy="2334712"/>
          </a:xfrm>
          <a:prstGeom xmlns:a="http://schemas.openxmlformats.org/drawingml/2006/main" prst="rect">
            <a:avLst/>
          </a:prstGeom>
        </p:spPr>
      </p:pic>
    </p:spTree>
    <p:extLst>
      <p:ext uri="{BB962C8B-B14F-4D97-AF65-F5344CB8AC3E}">
        <p14:creationId xmlns:p14="http://schemas.microsoft.com/office/powerpoint/2010/main" val="1511621752"/>
      </p:ext>
    </p:extLst>
  </p:cSld>
</p:sld>
</file>

<file path=ppt/slides/slide10.xml><?xml version="1.0" encoding="utf-8"?>
<p:sld xmlns:p="http://schemas.openxmlformats.org/presentationml/2006/main">
  <p:cSld>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7FFACE54-E670-4237-B364-4401E4F63D38}"/>
              </a:ext>
            </a:extLst>
          </p:cNvPr>
          <p:cNvSpPr>
            <a:spLocks xmlns:a="http://schemas.openxmlformats.org/drawingml/2006/main" noGrp="1"/>
          </p:cNvSpPr>
          <p:nvPr/>
        </p:nvSpPr>
        <p:spPr>
          <a:xfrm xmlns:a="http://schemas.openxmlformats.org/drawingml/2006/main">
            <a:off x="400050" y="285750"/>
            <a:ext cx="7239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1" i="0">
                <a:solidFill>
                  <a:srgbClr val="1774D1"/>
                </a:solidFill>
                <a:latin typeface="Helvetica Neue"/>
                <a:ea typeface="Helvetica Neue"/>
                <a:cs typeface="Helvetica Neue"/>
              </a:defRPr>
            </a:pPr>
            <a:r>
              <a:rPr sz="900" b="1" i="0">
                <a:solidFill>
                  <a:srgbClr val="1774D1"/>
                </a:solidFill>
                <a:latin typeface="Helvetica Neue"/>
                <a:ea typeface="Helvetica Neue"/>
                <a:cs typeface="Helvetica Neue"/>
              </a:rPr>
              <a:t>GOLOVIN CONVERGENCE CALIBRATION</a:t>
            </a:r>
          </a:p>
        </p:txBody>
      </p:sp>
      <p:sp>
        <p:nvSpPr>
          <p:cNvPr id="2" name="">
            <a:extLst xmlns:a="http://schemas.openxmlformats.org/drawingml/2006/main">
              <a:ext uri="{FF2B5EF4-FFF2-40B4-BE49-F238E27FC236}">
                <a16:creationId xmlns:a16="http://schemas.microsoft.com/office/drawing/2014/main" id="{45B2A995-3923-48BE-A502-5488F9FA58D1}"/>
              </a:ext>
            </a:extLst>
          </p:cNvPr>
          <p:cNvSpPr>
            <a:spLocks xmlns:a="http://schemas.openxmlformats.org/drawingml/2006/main" noGrp="1"/>
          </p:cNvSpPr>
          <p:nvPr/>
        </p:nvSpPr>
        <p:spPr>
          <a:xfrm xmlns:a="http://schemas.openxmlformats.org/drawingml/2006/main">
            <a:off x="400050" y="590550"/>
            <a:ext cx="113728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625" b="1" i="0">
                <a:solidFill>
                  <a:srgbClr val="141A24"/>
                </a:solidFill>
                <a:latin typeface="Helvetica Neue"/>
                <a:ea typeface="Helvetica Neue"/>
                <a:cs typeface="Helvetica Neue"/>
              </a:defRPr>
            </a:pPr>
            <a:r>
              <a:rPr sz="2625" b="1" i="0">
                <a:solidFill>
                  <a:srgbClr val="141A24"/>
                </a:solidFill>
                <a:latin typeface="Helvetica Neue"/>
                <a:ea typeface="Helvetica Neue"/>
                <a:cs typeface="Helvetica Neue"/>
              </a:rPr>
              <a:t>At 50 members, the practical criterion was held back by M₆ uncertainty</a:t>
            </a:r>
          </a:p>
        </p:txBody>
      </p:sp>
      <p:cxnSp>
        <p:nvCxnSpPr>
          <p:cNvPr id="16" name=""/>
          <p:cNvCxnSpPr/>
          <p:nvPr/>
        </p:nvCxnSpPr>
        <p:spPr>
          <a:xfrm xmlns:a="http://schemas.openxmlformats.org/drawingml/2006/main">
            <a:off x="400050" y="6343650"/>
            <a:ext cx="11391900" cy="0"/>
          </a:xfrm>
          <a:prstGeom xmlns:a="http://schemas.openxmlformats.org/drawingml/2006/main" prst="straightConnector1">
            <a:avLst/>
          </a:prstGeom>
          <a:ln xmlns:a="http://schemas.openxmlformats.org/drawingml/2006/main" w="9525">
            <a:solidFill>
              <a:srgbClr val="C6CDD5"/>
            </a:solidFill>
            <a:prstDash val="solid"/>
          </a:ln>
        </p:spPr>
      </p:cxnSp>
      <p:sp>
        <p:nvSpPr>
          <p:cNvPr id="4" name="">
            <a:extLst xmlns:a="http://schemas.openxmlformats.org/drawingml/2006/main">
              <a:ext uri="{FF2B5EF4-FFF2-40B4-BE49-F238E27FC236}">
                <a16:creationId xmlns:a16="http://schemas.microsoft.com/office/drawing/2014/main" id="{5BBB84F8-291E-493B-9913-26762D1CA701}"/>
              </a:ext>
            </a:extLst>
          </p:cNvPr>
          <p:cNvSpPr>
            <a:spLocks xmlns:a="http://schemas.openxmlformats.org/drawingml/2006/main" noGrp="1"/>
          </p:cNvSpPr>
          <p:nvPr/>
        </p:nvSpPr>
        <p:spPr>
          <a:xfrm xmlns:a="http://schemas.openxmlformats.org/drawingml/2006/main">
            <a:off x="400050" y="6457950"/>
            <a:ext cx="4095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825" b="0" i="0">
                <a:solidFill>
                  <a:srgbClr val="556170"/>
                </a:solidFill>
                <a:latin typeface="Helvetica Neue"/>
                <a:ea typeface="Helvetica Neue"/>
                <a:cs typeface="Helvetica Neue"/>
              </a:defRPr>
            </a:pPr>
            <a:r>
              <a:rPr sz="825" b="0" i="0">
                <a:solidFill>
                  <a:srgbClr val="556170"/>
                </a:solidFill>
                <a:latin typeface="Helvetica Neue"/>
                <a:ea typeface="Helvetica Neue"/>
                <a:cs typeface="Helvetica Neue"/>
              </a:rPr>
              <a:t>CLEO controlled Golovin calibration</a:t>
            </a:r>
          </a:p>
        </p:txBody>
      </p:sp>
      <p:sp>
        <p:nvSpPr>
          <p:cNvPr id="5" name="">
            <a:extLst xmlns:a="http://schemas.openxmlformats.org/drawingml/2006/main">
              <a:ext uri="{FF2B5EF4-FFF2-40B4-BE49-F238E27FC236}">
                <a16:creationId xmlns:a16="http://schemas.microsoft.com/office/drawing/2014/main" id="{81AB5208-50BE-4FC5-8C5B-2D444083D3BB}"/>
              </a:ext>
            </a:extLst>
          </p:cNvPr>
          <p:cNvSpPr>
            <a:spLocks xmlns:a="http://schemas.openxmlformats.org/drawingml/2006/main" noGrp="1"/>
          </p:cNvSpPr>
          <p:nvPr/>
        </p:nvSpPr>
        <p:spPr>
          <a:xfrm xmlns:a="http://schemas.openxmlformats.org/drawingml/2006/main">
            <a:off x="9191625" y="6457950"/>
            <a:ext cx="1524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825" b="0" i="0">
                <a:solidFill>
                  <a:srgbClr val="556170"/>
                </a:solidFill>
                <a:latin typeface="Helvetica Neue"/>
                <a:ea typeface="Helvetica Neue"/>
                <a:cs typeface="Helvetica Neue"/>
              </a:defRPr>
            </a:pPr>
            <a:r>
              <a:rPr sz="825" b="0" i="0">
                <a:solidFill>
                  <a:srgbClr val="556170"/>
                </a:solidFill>
                <a:latin typeface="Helvetica Neue"/>
                <a:ea typeface="Helvetica Neue"/>
                <a:cs typeface="Helvetica Neue"/>
              </a:rPr>
              <a:t>02 AUG 2026</a:t>
            </a:r>
          </a:p>
        </p:txBody>
      </p:sp>
      <p:sp>
        <p:nvSpPr>
          <p:cNvPr id="6" name="">
            <a:extLst xmlns:a="http://schemas.openxmlformats.org/drawingml/2006/main">
              <a:ext uri="{FF2B5EF4-FFF2-40B4-BE49-F238E27FC236}">
                <a16:creationId xmlns:a16="http://schemas.microsoft.com/office/drawing/2014/main" id="{535CBD9A-E813-4361-AB15-3FAB11159BE8}"/>
              </a:ext>
            </a:extLst>
          </p:cNvPr>
          <p:cNvSpPr>
            <a:spLocks xmlns:a="http://schemas.openxmlformats.org/drawingml/2006/main" noGrp="1"/>
          </p:cNvSpPr>
          <p:nvPr/>
        </p:nvSpPr>
        <p:spPr>
          <a:xfrm xmlns:a="http://schemas.openxmlformats.org/drawingml/2006/main">
            <a:off x="11049000" y="6438900"/>
            <a:ext cx="7429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00" b="1" i="0">
                <a:solidFill>
                  <a:srgbClr val="141A24"/>
                </a:solidFill>
                <a:latin typeface="Helvetica Neue"/>
                <a:ea typeface="Helvetica Neue"/>
                <a:cs typeface="Helvetica Neue"/>
              </a:defRPr>
            </a:pPr>
            <a:r>
              <a:rPr sz="900" b="1" i="0">
                <a:solidFill>
                  <a:srgbClr val="141A24"/>
                </a:solidFill>
                <a:latin typeface="Helvetica Neue"/>
                <a:ea typeface="Helvetica Neue"/>
                <a:cs typeface="Helvetica Neue"/>
              </a:rPr>
              <a:t>10</a:t>
            </a:r>
          </a:p>
        </p:txBody>
      </p:sp>
      <p:pic>
        <p:nvPicPr>
          <p:cNvPr id="20" name=""/>
          <p:cNvPicPr>
            <a:picLocks xmlns:a="http://schemas.openxmlformats.org/drawingml/2006/main" noChangeAspect="1"/>
          </p:cNvPicPr>
          <p:nvPr/>
        </p:nvPicPr>
        <p:blipFill>
          <a:blip xmlns:r="http://schemas.openxmlformats.org/officeDocument/2006/relationships" xmlns:a="http://schemas.openxmlformats.org/drawingml/2006/main" r:embed="R838017d4f0124ce0"/>
          <a:stretch xmlns:a="http://schemas.openxmlformats.org/drawingml/2006/main"/>
        </p:blipFill>
        <p:spPr>
          <a:xfrm xmlns:a="http://schemas.openxmlformats.org/drawingml/2006/main">
            <a:off x="361950" y="2388870"/>
            <a:ext cx="7334250" cy="2346960"/>
          </a:xfrm>
          <a:prstGeom xmlns:a="http://schemas.openxmlformats.org/drawingml/2006/main" prst="rect">
            <a:avLst/>
          </a:prstGeom>
        </p:spPr>
      </p:pic>
      <p:sp>
        <p:nvSpPr>
          <p:cNvPr id="8" name="">
            <a:extLst xmlns:a="http://schemas.openxmlformats.org/drawingml/2006/main">
              <a:ext uri="{FF2B5EF4-FFF2-40B4-BE49-F238E27FC236}">
                <a16:creationId xmlns:a16="http://schemas.microsoft.com/office/drawing/2014/main" id="{6CAA123A-F508-4E10-8C6B-3EF7951743C7}"/>
              </a:ext>
            </a:extLst>
          </p:cNvPr>
          <p:cNvSpPr>
            <a:spLocks xmlns:a="http://schemas.openxmlformats.org/drawingml/2006/main" noGrp="1"/>
          </p:cNvSpPr>
          <p:nvPr/>
        </p:nvSpPr>
        <p:spPr>
          <a:xfrm xmlns:a="http://schemas.openxmlformats.org/drawingml/2006/main">
            <a:off x="8029575" y="1590675"/>
            <a:ext cx="3324225" cy="3276600"/>
          </a:xfrm>
          <a:prstGeom xmlns:a="http://schemas.openxmlformats.org/drawingml/2006/main" prst="rect">
            <a:avLst/>
          </a:prstGeom>
          <a:solidFill xmlns:a="http://schemas.openxmlformats.org/drawingml/2006/main">
            <a:srgbClr val="F6F8FA"/>
          </a:solidFill>
          <a:ln xmlns:a="http://schemas.openxmlformats.org/drawingml/2006/main" w="9525">
            <a:solidFill>
              <a:srgbClr val="C6CDD5"/>
            </a:solidFill>
            <a:prstDash val="solid"/>
          </a:ln>
        </p:spPr>
      </p:sp>
      <p:sp>
        <p:nvSpPr>
          <p:cNvPr id="9" name="">
            <a:extLst xmlns:a="http://schemas.openxmlformats.org/drawingml/2006/main">
              <a:ext uri="{FF2B5EF4-FFF2-40B4-BE49-F238E27FC236}">
                <a16:creationId xmlns:a16="http://schemas.microsoft.com/office/drawing/2014/main" id="{E4273636-6A4C-4D29-BF5B-75A9C6B478F7}"/>
              </a:ext>
            </a:extLst>
          </p:cNvPr>
          <p:cNvSpPr>
            <a:spLocks xmlns:a="http://schemas.openxmlformats.org/drawingml/2006/main" noGrp="1"/>
          </p:cNvSpPr>
          <p:nvPr/>
        </p:nvSpPr>
        <p:spPr>
          <a:xfrm xmlns:a="http://schemas.openxmlformats.org/drawingml/2006/main">
            <a:off x="8334375" y="1914525"/>
            <a:ext cx="2476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825" b="1" i="0">
                <a:solidFill>
                  <a:srgbClr val="556170"/>
                </a:solidFill>
                <a:latin typeface="Helvetica Neue"/>
                <a:ea typeface="Helvetica Neue"/>
                <a:cs typeface="Helvetica Neue"/>
              </a:defRPr>
            </a:pPr>
            <a:r>
              <a:rPr sz="825" b="1" i="0">
                <a:solidFill>
                  <a:srgbClr val="556170"/>
                </a:solidFill>
                <a:latin typeface="Helvetica Neue"/>
                <a:ea typeface="Helvetica Neue"/>
                <a:cs typeface="Helvetica Neue"/>
              </a:rPr>
              <a:t>WHY THE FOLLOW-UP WAS NEEDED</a:t>
            </a:r>
          </a:p>
        </p:txBody>
      </p:sp>
      <p:sp>
        <p:nvSpPr>
          <p:cNvPr id="10" name="">
            <a:extLst xmlns:a="http://schemas.openxmlformats.org/drawingml/2006/main">
              <a:ext uri="{FF2B5EF4-FFF2-40B4-BE49-F238E27FC236}">
                <a16:creationId xmlns:a16="http://schemas.microsoft.com/office/drawing/2014/main" id="{C40AB3C2-8DD0-45B7-9E7F-6EA218EBA6C8}"/>
              </a:ext>
            </a:extLst>
          </p:cNvPr>
          <p:cNvSpPr>
            <a:spLocks xmlns:a="http://schemas.openxmlformats.org/drawingml/2006/main" noGrp="1"/>
          </p:cNvSpPr>
          <p:nvPr/>
        </p:nvSpPr>
        <p:spPr>
          <a:xfrm xmlns:a="http://schemas.openxmlformats.org/drawingml/2006/main">
            <a:off x="8334375" y="2333625"/>
            <a:ext cx="25717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950" b="1" i="0">
                <a:solidFill>
                  <a:srgbClr val="141A24"/>
                </a:solidFill>
                <a:latin typeface="Helvetica Neue"/>
                <a:ea typeface="Helvetica Neue"/>
                <a:cs typeface="Helvetica Neue"/>
              </a:defRPr>
            </a:pPr>
            <a:r>
              <a:rPr sz="1950" b="1" i="0">
                <a:solidFill>
                  <a:srgbClr val="141A24"/>
                </a:solidFill>
                <a:latin typeface="Helvetica Neue"/>
                <a:ea typeface="Helvetica Neue"/>
                <a:cs typeface="Helvetica Neue"/>
              </a:rPr>
              <a:t>262k → 512k</a:t>
            </a:r>
          </a:p>
          <a:p xmlns:a="http://schemas.openxmlformats.org/drawingml/2006/main">
            <a:pPr algn="l">
              <a:defRPr sz="1950" b="1" i="0">
                <a:solidFill>
                  <a:srgbClr val="141A24"/>
                </a:solidFill>
                <a:latin typeface="Helvetica Neue"/>
                <a:ea typeface="Helvetica Neue"/>
                <a:cs typeface="Helvetica Neue"/>
              </a:defRPr>
            </a:pPr>
            <a:r>
              <a:rPr sz="1950" b="1" i="0">
                <a:solidFill>
                  <a:srgbClr val="141A24"/>
                </a:solidFill>
                <a:latin typeface="Helvetica Neue"/>
                <a:ea typeface="Helvetica Neue"/>
                <a:cs typeface="Helvetica Neue"/>
              </a:rPr>
              <a:t>late-time M₆</a:t>
            </a:r>
          </a:p>
        </p:txBody>
      </p:sp>
      <p:sp>
        <p:nvSpPr>
          <p:cNvPr id="11" name="">
            <a:extLst xmlns:a="http://schemas.openxmlformats.org/drawingml/2006/main">
              <a:ext uri="{FF2B5EF4-FFF2-40B4-BE49-F238E27FC236}">
                <a16:creationId xmlns:a16="http://schemas.microsoft.com/office/drawing/2014/main" id="{01B19603-6B13-4D1C-B739-4A0CEF56EE30}"/>
              </a:ext>
            </a:extLst>
          </p:cNvPr>
          <p:cNvSpPr>
            <a:spLocks xmlns:a="http://schemas.openxmlformats.org/drawingml/2006/main" noGrp="1"/>
          </p:cNvSpPr>
          <p:nvPr/>
        </p:nvSpPr>
        <p:spPr>
          <a:xfrm xmlns:a="http://schemas.openxmlformats.org/drawingml/2006/main">
            <a:off x="8334375" y="3190875"/>
            <a:ext cx="2476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3075" b="1" i="0">
                <a:solidFill>
                  <a:srgbClr val="C53D3D"/>
                </a:solidFill>
                <a:latin typeface="Helvetica Neue"/>
                <a:ea typeface="Helvetica Neue"/>
                <a:cs typeface="Helvetica Neue"/>
              </a:defRPr>
            </a:pPr>
            <a:r>
              <a:rPr sz="3075" b="1" i="0">
                <a:solidFill>
                  <a:srgbClr val="C53D3D"/>
                </a:solidFill>
                <a:latin typeface="Helvetica Neue"/>
                <a:ea typeface="Helvetica Neue"/>
                <a:cs typeface="Helvetica Neue"/>
              </a:rPr>
              <a:t>1.174 pp</a:t>
            </a:r>
          </a:p>
        </p:txBody>
      </p:sp>
      <p:sp>
        <p:nvSpPr>
          <p:cNvPr id="12" name="">
            <a:extLst xmlns:a="http://schemas.openxmlformats.org/drawingml/2006/main">
              <a:ext uri="{FF2B5EF4-FFF2-40B4-BE49-F238E27FC236}">
                <a16:creationId xmlns:a16="http://schemas.microsoft.com/office/drawing/2014/main" id="{6D0B74DB-E0F4-451B-935F-DB0C6486C569}"/>
              </a:ext>
            </a:extLst>
          </p:cNvPr>
          <p:cNvSpPr>
            <a:spLocks xmlns:a="http://schemas.openxmlformats.org/drawingml/2006/main" noGrp="1"/>
          </p:cNvSpPr>
          <p:nvPr/>
        </p:nvSpPr>
        <p:spPr>
          <a:xfrm xmlns:a="http://schemas.openxmlformats.org/drawingml/2006/main">
            <a:off x="8334375" y="3857625"/>
            <a:ext cx="23812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75" b="0" i="0">
                <a:solidFill>
                  <a:srgbClr val="556170"/>
                </a:solidFill>
                <a:latin typeface="Helvetica Neue"/>
                <a:ea typeface="Helvetica Neue"/>
                <a:cs typeface="Helvetica Neue"/>
              </a:defRPr>
            </a:pPr>
            <a:r>
              <a:rPr sz="1275" b="0" i="0">
                <a:solidFill>
                  <a:srgbClr val="556170"/>
                </a:solidFill>
                <a:latin typeface="Helvetica Neue"/>
                <a:ea typeface="Helvetica Neue"/>
                <a:cs typeface="Helvetica Neue"/>
              </a:rPr>
              <a:t>one-sided 95% upper bound versus 1.0-pp practical margin</a:t>
            </a:r>
          </a:p>
        </p:txBody>
      </p:sp>
      <p:sp>
        <p:nvSpPr>
          <p:cNvPr id="13" name="">
            <a:extLst xmlns:a="http://schemas.openxmlformats.org/drawingml/2006/main">
              <a:ext uri="{FF2B5EF4-FFF2-40B4-BE49-F238E27FC236}">
                <a16:creationId xmlns:a16="http://schemas.microsoft.com/office/drawing/2014/main" id="{611B230C-E01A-4944-BB1A-7CAB30E20D29}"/>
              </a:ext>
            </a:extLst>
          </p:cNvPr>
          <p:cNvSpPr>
            <a:spLocks xmlns:a="http://schemas.openxmlformats.org/drawingml/2006/main" noGrp="1"/>
          </p:cNvSpPr>
          <p:nvPr/>
        </p:nvSpPr>
        <p:spPr>
          <a:xfrm xmlns:a="http://schemas.openxmlformats.org/drawingml/2006/main">
            <a:off x="8029575" y="5191125"/>
            <a:ext cx="3324225"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425" b="1" i="0">
                <a:solidFill>
                  <a:srgbClr val="4D3C93"/>
                </a:solidFill>
                <a:latin typeface="Helvetica Neue"/>
                <a:ea typeface="Helvetica Neue"/>
                <a:cs typeface="Helvetica Neue"/>
              </a:defRPr>
            </a:pPr>
            <a:r>
              <a:rPr sz="1425" b="1" i="0">
                <a:solidFill>
                  <a:srgbClr val="4D3C93"/>
                </a:solidFill>
                <a:latin typeface="Helvetica Neue"/>
                <a:ea typeface="Helvetica Neue"/>
                <a:cs typeface="Helvetica Neue"/>
              </a:rPr>
              <a:t>This was an uncertainty failure—not a failed model or mass-conservation result.</a:t>
            </a:r>
          </a:p>
        </p:txBody>
      </p:sp>
    </p:spTree>
    <p:extLst>
      <p:ext uri="{BB962C8B-B14F-4D97-AF65-F5344CB8AC3E}">
        <p14:creationId xmlns:p14="http://schemas.microsoft.com/office/powerpoint/2010/main" val="1642352731"/>
      </p:ext>
    </p:extLst>
  </p:cSld>
</p:sld>
</file>

<file path=ppt/slides/slide11.xml><?xml version="1.0" encoding="utf-8"?>
<p:sld xmlns:p="http://schemas.openxmlformats.org/presentationml/2006/main">
  <p:cSld>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10B6C590-A0FC-447A-A237-6CE0DE586094}"/>
              </a:ext>
            </a:extLst>
          </p:cNvPr>
          <p:cNvSpPr>
            <a:spLocks xmlns:a="http://schemas.openxmlformats.org/drawingml/2006/main" noGrp="1"/>
          </p:cNvSpPr>
          <p:nvPr/>
        </p:nvSpPr>
        <p:spPr>
          <a:xfrm xmlns:a="http://schemas.openxmlformats.org/drawingml/2006/main">
            <a:off x="400050" y="285750"/>
            <a:ext cx="7239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1" i="0">
                <a:solidFill>
                  <a:srgbClr val="1774D1"/>
                </a:solidFill>
                <a:latin typeface="Helvetica Neue"/>
                <a:ea typeface="Helvetica Neue"/>
                <a:cs typeface="Helvetica Neue"/>
              </a:defRPr>
            </a:pPr>
            <a:r>
              <a:rPr sz="900" b="1" i="0">
                <a:solidFill>
                  <a:srgbClr val="1774D1"/>
                </a:solidFill>
                <a:latin typeface="Helvetica Neue"/>
                <a:ea typeface="Helvetica Neue"/>
                <a:cs typeface="Helvetica Neue"/>
              </a:rPr>
              <a:t>GOLOVIN CONVERGENCE CALIBRATION</a:t>
            </a:r>
          </a:p>
        </p:txBody>
      </p:sp>
      <p:sp>
        <p:nvSpPr>
          <p:cNvPr id="2" name="">
            <a:extLst xmlns:a="http://schemas.openxmlformats.org/drawingml/2006/main">
              <a:ext uri="{FF2B5EF4-FFF2-40B4-BE49-F238E27FC236}">
                <a16:creationId xmlns:a16="http://schemas.microsoft.com/office/drawing/2014/main" id="{B781B4E3-ED06-4978-9138-170C92458AB5}"/>
              </a:ext>
            </a:extLst>
          </p:cNvPr>
          <p:cNvSpPr>
            <a:spLocks xmlns:a="http://schemas.openxmlformats.org/drawingml/2006/main" noGrp="1"/>
          </p:cNvSpPr>
          <p:nvPr/>
        </p:nvSpPr>
        <p:spPr>
          <a:xfrm xmlns:a="http://schemas.openxmlformats.org/drawingml/2006/main">
            <a:off x="400050" y="590550"/>
            <a:ext cx="113728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625" b="1" i="0">
                <a:solidFill>
                  <a:srgbClr val="141A24"/>
                </a:solidFill>
                <a:latin typeface="Helvetica Neue"/>
                <a:ea typeface="Helvetica Neue"/>
                <a:cs typeface="Helvetica Neue"/>
              </a:defRPr>
            </a:pPr>
            <a:r>
              <a:rPr sz="2625" b="1" i="0">
                <a:solidFill>
                  <a:srgbClr val="141A24"/>
                </a:solidFill>
                <a:latin typeface="Helvetica Neue"/>
                <a:ea typeface="Helvetica Neue"/>
                <a:cs typeface="Helvetica Neue"/>
              </a:rPr>
              <a:t>The follow-up adds members only at the uncertainty-limiting resolutions</a:t>
            </a:r>
          </a:p>
        </p:txBody>
      </p:sp>
      <p:cxnSp>
        <p:nvCxnSpPr>
          <p:cNvPr id="22" name=""/>
          <p:cNvCxnSpPr/>
          <p:nvPr/>
        </p:nvCxnSpPr>
        <p:spPr>
          <a:xfrm xmlns:a="http://schemas.openxmlformats.org/drawingml/2006/main">
            <a:off x="400050" y="6343650"/>
            <a:ext cx="11391900" cy="0"/>
          </a:xfrm>
          <a:prstGeom xmlns:a="http://schemas.openxmlformats.org/drawingml/2006/main" prst="straightConnector1">
            <a:avLst/>
          </a:prstGeom>
          <a:ln xmlns:a="http://schemas.openxmlformats.org/drawingml/2006/main" w="9525">
            <a:solidFill>
              <a:srgbClr val="C6CDD5"/>
            </a:solidFill>
            <a:prstDash val="solid"/>
          </a:ln>
        </p:spPr>
      </p:cxnSp>
      <p:sp>
        <p:nvSpPr>
          <p:cNvPr id="4" name="">
            <a:extLst xmlns:a="http://schemas.openxmlformats.org/drawingml/2006/main">
              <a:ext uri="{FF2B5EF4-FFF2-40B4-BE49-F238E27FC236}">
                <a16:creationId xmlns:a16="http://schemas.microsoft.com/office/drawing/2014/main" id="{52BEAA10-AD9C-47A4-844B-1C8EC13F883D}"/>
              </a:ext>
            </a:extLst>
          </p:cNvPr>
          <p:cNvSpPr>
            <a:spLocks xmlns:a="http://schemas.openxmlformats.org/drawingml/2006/main" noGrp="1"/>
          </p:cNvSpPr>
          <p:nvPr/>
        </p:nvSpPr>
        <p:spPr>
          <a:xfrm xmlns:a="http://schemas.openxmlformats.org/drawingml/2006/main">
            <a:off x="400050" y="6457950"/>
            <a:ext cx="4095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825" b="0" i="0">
                <a:solidFill>
                  <a:srgbClr val="556170"/>
                </a:solidFill>
                <a:latin typeface="Helvetica Neue"/>
                <a:ea typeface="Helvetica Neue"/>
                <a:cs typeface="Helvetica Neue"/>
              </a:defRPr>
            </a:pPr>
            <a:r>
              <a:rPr sz="825" b="0" i="0">
                <a:solidFill>
                  <a:srgbClr val="556170"/>
                </a:solidFill>
                <a:latin typeface="Helvetica Neue"/>
                <a:ea typeface="Helvetica Neue"/>
                <a:cs typeface="Helvetica Neue"/>
              </a:rPr>
              <a:t>CLEO controlled Golovin calibration</a:t>
            </a:r>
          </a:p>
        </p:txBody>
      </p:sp>
      <p:sp>
        <p:nvSpPr>
          <p:cNvPr id="5" name="">
            <a:extLst xmlns:a="http://schemas.openxmlformats.org/drawingml/2006/main">
              <a:ext uri="{FF2B5EF4-FFF2-40B4-BE49-F238E27FC236}">
                <a16:creationId xmlns:a16="http://schemas.microsoft.com/office/drawing/2014/main" id="{B8734F6F-D7E0-4137-924A-97B91735A33D}"/>
              </a:ext>
            </a:extLst>
          </p:cNvPr>
          <p:cNvSpPr>
            <a:spLocks xmlns:a="http://schemas.openxmlformats.org/drawingml/2006/main" noGrp="1"/>
          </p:cNvSpPr>
          <p:nvPr/>
        </p:nvSpPr>
        <p:spPr>
          <a:xfrm xmlns:a="http://schemas.openxmlformats.org/drawingml/2006/main">
            <a:off x="9191625" y="6457950"/>
            <a:ext cx="1524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825" b="0" i="0">
                <a:solidFill>
                  <a:srgbClr val="556170"/>
                </a:solidFill>
                <a:latin typeface="Helvetica Neue"/>
                <a:ea typeface="Helvetica Neue"/>
                <a:cs typeface="Helvetica Neue"/>
              </a:defRPr>
            </a:pPr>
            <a:r>
              <a:rPr sz="825" b="0" i="0">
                <a:solidFill>
                  <a:srgbClr val="556170"/>
                </a:solidFill>
                <a:latin typeface="Helvetica Neue"/>
                <a:ea typeface="Helvetica Neue"/>
                <a:cs typeface="Helvetica Neue"/>
              </a:rPr>
              <a:t>02 AUG 2026</a:t>
            </a:r>
          </a:p>
        </p:txBody>
      </p:sp>
      <p:sp>
        <p:nvSpPr>
          <p:cNvPr id="6" name="">
            <a:extLst xmlns:a="http://schemas.openxmlformats.org/drawingml/2006/main">
              <a:ext uri="{FF2B5EF4-FFF2-40B4-BE49-F238E27FC236}">
                <a16:creationId xmlns:a16="http://schemas.microsoft.com/office/drawing/2014/main" id="{AEB9DECC-ED22-40C5-9CC6-19BB6DFE19B6}"/>
              </a:ext>
            </a:extLst>
          </p:cNvPr>
          <p:cNvSpPr>
            <a:spLocks xmlns:a="http://schemas.openxmlformats.org/drawingml/2006/main" noGrp="1"/>
          </p:cNvSpPr>
          <p:nvPr/>
        </p:nvSpPr>
        <p:spPr>
          <a:xfrm xmlns:a="http://schemas.openxmlformats.org/drawingml/2006/main">
            <a:off x="11049000" y="6438900"/>
            <a:ext cx="7429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00" b="1" i="0">
                <a:solidFill>
                  <a:srgbClr val="141A24"/>
                </a:solidFill>
                <a:latin typeface="Helvetica Neue"/>
                <a:ea typeface="Helvetica Neue"/>
                <a:cs typeface="Helvetica Neue"/>
              </a:defRPr>
            </a:pPr>
            <a:r>
              <a:rPr sz="900" b="1" i="0">
                <a:solidFill>
                  <a:srgbClr val="141A24"/>
                </a:solidFill>
                <a:latin typeface="Helvetica Neue"/>
                <a:ea typeface="Helvetica Neue"/>
                <a:cs typeface="Helvetica Neue"/>
              </a:rPr>
              <a:t>11</a:t>
            </a:r>
          </a:p>
        </p:txBody>
      </p:sp>
      <p:sp>
        <p:nvSpPr>
          <p:cNvPr id="7" name="">
            <a:extLst xmlns:a="http://schemas.openxmlformats.org/drawingml/2006/main">
              <a:ext uri="{FF2B5EF4-FFF2-40B4-BE49-F238E27FC236}">
                <a16:creationId xmlns:a16="http://schemas.microsoft.com/office/drawing/2014/main" id="{2B96FCA0-0AB5-4BD3-8AB1-A4AA824AA358}"/>
              </a:ext>
            </a:extLst>
          </p:cNvPr>
          <p:cNvSpPr>
            <a:spLocks xmlns:a="http://schemas.openxmlformats.org/drawingml/2006/main" noGrp="1"/>
          </p:cNvSpPr>
          <p:nvPr/>
        </p:nvSpPr>
        <p:spPr>
          <a:xfrm xmlns:a="http://schemas.openxmlformats.org/drawingml/2006/main">
            <a:off x="571500" y="1981200"/>
            <a:ext cx="3238500" cy="2409825"/>
          </a:xfrm>
          <a:prstGeom xmlns:a="http://schemas.openxmlformats.org/drawingml/2006/main" prst="rect">
            <a:avLst/>
          </a:prstGeom>
          <a:solidFill xmlns:a="http://schemas.openxmlformats.org/drawingml/2006/main">
            <a:srgbClr val="E8F5EC"/>
          </a:solidFill>
          <a:ln xmlns:a="http://schemas.openxmlformats.org/drawingml/2006/main" w="9525">
            <a:solidFill>
              <a:srgbClr val="198754"/>
            </a:solidFill>
            <a:prstDash val="solid"/>
          </a:ln>
        </p:spPr>
      </p:sp>
      <p:sp>
        <p:nvSpPr>
          <p:cNvPr id="8" name="">
            <a:extLst xmlns:a="http://schemas.openxmlformats.org/drawingml/2006/main">
              <a:ext uri="{FF2B5EF4-FFF2-40B4-BE49-F238E27FC236}">
                <a16:creationId xmlns:a16="http://schemas.microsoft.com/office/drawing/2014/main" id="{32B0A04C-3F74-4510-BBCA-D4C417EB989F}"/>
              </a:ext>
            </a:extLst>
          </p:cNvPr>
          <p:cNvSpPr>
            <a:spLocks xmlns:a="http://schemas.openxmlformats.org/drawingml/2006/main" noGrp="1"/>
          </p:cNvSpPr>
          <p:nvPr/>
        </p:nvSpPr>
        <p:spPr>
          <a:xfrm xmlns:a="http://schemas.openxmlformats.org/drawingml/2006/main">
            <a:off x="819150" y="2295525"/>
            <a:ext cx="2714625"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025" b="1" i="0">
                <a:solidFill>
                  <a:srgbClr val="198754"/>
                </a:solidFill>
                <a:latin typeface="Helvetica Neue"/>
                <a:ea typeface="Helvetica Neue"/>
                <a:cs typeface="Helvetica Neue"/>
              </a:defRPr>
            </a:pPr>
            <a:r>
              <a:rPr sz="2025" b="1" i="0">
                <a:solidFill>
                  <a:srgbClr val="198754"/>
                </a:solidFill>
                <a:latin typeface="Helvetica Neue"/>
                <a:ea typeface="Helvetica Neue"/>
                <a:cs typeface="Helvetica Neue"/>
              </a:rPr>
              <a:t>262,144 SDs</a:t>
            </a:r>
          </a:p>
        </p:txBody>
      </p:sp>
      <p:sp>
        <p:nvSpPr>
          <p:cNvPr id="9" name="">
            <a:extLst xmlns:a="http://schemas.openxmlformats.org/drawingml/2006/main">
              <a:ext uri="{FF2B5EF4-FFF2-40B4-BE49-F238E27FC236}">
                <a16:creationId xmlns:a16="http://schemas.microsoft.com/office/drawing/2014/main" id="{ECDE52D9-53F0-4335-A7DF-6098041F2691}"/>
              </a:ext>
            </a:extLst>
          </p:cNvPr>
          <p:cNvSpPr>
            <a:spLocks xmlns:a="http://schemas.openxmlformats.org/drawingml/2006/main" noGrp="1"/>
          </p:cNvSpPr>
          <p:nvPr/>
        </p:nvSpPr>
        <p:spPr>
          <a:xfrm xmlns:a="http://schemas.openxmlformats.org/drawingml/2006/main">
            <a:off x="819150" y="2990850"/>
            <a:ext cx="271462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425" b="1" i="0">
                <a:solidFill>
                  <a:srgbClr val="141A24"/>
                </a:solidFill>
                <a:latin typeface="Helvetica Neue"/>
                <a:ea typeface="Helvetica Neue"/>
                <a:cs typeface="Helvetica Neue"/>
              </a:defRPr>
            </a:pPr>
            <a:r>
              <a:rPr sz="1425" b="1" i="0">
                <a:solidFill>
                  <a:srgbClr val="141A24"/>
                </a:solidFill>
                <a:latin typeface="Helvetica Neue"/>
                <a:ea typeface="Helvetica Neue"/>
                <a:cs typeface="Helvetica Neue"/>
              </a:rPr>
              <a:t>50 existing + 100 new</a:t>
            </a:r>
          </a:p>
        </p:txBody>
      </p:sp>
      <p:sp>
        <p:nvSpPr>
          <p:cNvPr id="10" name="">
            <a:extLst xmlns:a="http://schemas.openxmlformats.org/drawingml/2006/main">
              <a:ext uri="{FF2B5EF4-FFF2-40B4-BE49-F238E27FC236}">
                <a16:creationId xmlns:a16="http://schemas.microsoft.com/office/drawing/2014/main" id="{9ECF2653-E946-4C27-A891-2D6CD361AAEA}"/>
              </a:ext>
            </a:extLst>
          </p:cNvPr>
          <p:cNvSpPr>
            <a:spLocks xmlns:a="http://schemas.openxmlformats.org/drawingml/2006/main" noGrp="1"/>
          </p:cNvSpPr>
          <p:nvPr/>
        </p:nvSpPr>
        <p:spPr>
          <a:xfrm xmlns:a="http://schemas.openxmlformats.org/drawingml/2006/main">
            <a:off x="819150" y="3524250"/>
            <a:ext cx="27146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75" b="0" i="0">
                <a:solidFill>
                  <a:srgbClr val="141A24"/>
                </a:solidFill>
                <a:latin typeface="Helvetica Neue"/>
                <a:ea typeface="Helvetica Neue"/>
                <a:cs typeface="Helvetica Neue"/>
              </a:defRPr>
            </a:pPr>
            <a:r>
              <a:rPr sz="1575" b="0" i="0">
                <a:solidFill>
                  <a:srgbClr val="141A24"/>
                </a:solidFill>
                <a:latin typeface="Helvetica Neue"/>
                <a:ea typeface="Helvetica Neue"/>
                <a:cs typeface="Helvetica Neue"/>
              </a:rPr>
              <a:t>150 final members</a:t>
            </a:r>
          </a:p>
        </p:txBody>
      </p:sp>
      <p:sp>
        <p:nvSpPr>
          <p:cNvPr id="11" name="">
            <a:extLst xmlns:a="http://schemas.openxmlformats.org/drawingml/2006/main">
              <a:ext uri="{FF2B5EF4-FFF2-40B4-BE49-F238E27FC236}">
                <a16:creationId xmlns:a16="http://schemas.microsoft.com/office/drawing/2014/main" id="{5C7EC516-5D08-472A-B4E6-40CDE4FD62F3}"/>
              </a:ext>
            </a:extLst>
          </p:cNvPr>
          <p:cNvSpPr>
            <a:spLocks xmlns:a="http://schemas.openxmlformats.org/drawingml/2006/main" noGrp="1"/>
          </p:cNvSpPr>
          <p:nvPr/>
        </p:nvSpPr>
        <p:spPr>
          <a:xfrm xmlns:a="http://schemas.openxmlformats.org/drawingml/2006/main">
            <a:off x="4305300" y="1981200"/>
            <a:ext cx="3238500" cy="2409825"/>
          </a:xfrm>
          <a:prstGeom xmlns:a="http://schemas.openxmlformats.org/drawingml/2006/main" prst="rect">
            <a:avLst/>
          </a:prstGeom>
          <a:solidFill xmlns:a="http://schemas.openxmlformats.org/drawingml/2006/main">
            <a:srgbClr val="E8F5EC"/>
          </a:solidFill>
          <a:ln xmlns:a="http://schemas.openxmlformats.org/drawingml/2006/main" w="9525">
            <a:solidFill>
              <a:srgbClr val="198754"/>
            </a:solidFill>
            <a:prstDash val="solid"/>
          </a:ln>
        </p:spPr>
      </p:sp>
      <p:sp>
        <p:nvSpPr>
          <p:cNvPr id="12" name="">
            <a:extLst xmlns:a="http://schemas.openxmlformats.org/drawingml/2006/main">
              <a:ext uri="{FF2B5EF4-FFF2-40B4-BE49-F238E27FC236}">
                <a16:creationId xmlns:a16="http://schemas.microsoft.com/office/drawing/2014/main" id="{312011C1-3058-4383-8002-9F771CC46507}"/>
              </a:ext>
            </a:extLst>
          </p:cNvPr>
          <p:cNvSpPr>
            <a:spLocks xmlns:a="http://schemas.openxmlformats.org/drawingml/2006/main" noGrp="1"/>
          </p:cNvSpPr>
          <p:nvPr/>
        </p:nvSpPr>
        <p:spPr>
          <a:xfrm xmlns:a="http://schemas.openxmlformats.org/drawingml/2006/main">
            <a:off x="4552950" y="2295525"/>
            <a:ext cx="2714625"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025" b="1" i="0">
                <a:solidFill>
                  <a:srgbClr val="198754"/>
                </a:solidFill>
                <a:latin typeface="Helvetica Neue"/>
                <a:ea typeface="Helvetica Neue"/>
                <a:cs typeface="Helvetica Neue"/>
              </a:defRPr>
            </a:pPr>
            <a:r>
              <a:rPr sz="2025" b="1" i="0">
                <a:solidFill>
                  <a:srgbClr val="198754"/>
                </a:solidFill>
                <a:latin typeface="Helvetica Neue"/>
                <a:ea typeface="Helvetica Neue"/>
                <a:cs typeface="Helvetica Neue"/>
              </a:rPr>
              <a:t>524,288 SDs</a:t>
            </a:r>
          </a:p>
        </p:txBody>
      </p:sp>
      <p:sp>
        <p:nvSpPr>
          <p:cNvPr id="13" name="">
            <a:extLst xmlns:a="http://schemas.openxmlformats.org/drawingml/2006/main">
              <a:ext uri="{FF2B5EF4-FFF2-40B4-BE49-F238E27FC236}">
                <a16:creationId xmlns:a16="http://schemas.microsoft.com/office/drawing/2014/main" id="{75EE13CF-F6A0-486E-8D7D-0C721069E690}"/>
              </a:ext>
            </a:extLst>
          </p:cNvPr>
          <p:cNvSpPr>
            <a:spLocks xmlns:a="http://schemas.openxmlformats.org/drawingml/2006/main" noGrp="1"/>
          </p:cNvSpPr>
          <p:nvPr/>
        </p:nvSpPr>
        <p:spPr>
          <a:xfrm xmlns:a="http://schemas.openxmlformats.org/drawingml/2006/main">
            <a:off x="4552950" y="2990850"/>
            <a:ext cx="271462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425" b="1" i="0">
                <a:solidFill>
                  <a:srgbClr val="141A24"/>
                </a:solidFill>
                <a:latin typeface="Helvetica Neue"/>
                <a:ea typeface="Helvetica Neue"/>
                <a:cs typeface="Helvetica Neue"/>
              </a:defRPr>
            </a:pPr>
            <a:r>
              <a:rPr sz="1425" b="1" i="0">
                <a:solidFill>
                  <a:srgbClr val="141A24"/>
                </a:solidFill>
                <a:latin typeface="Helvetica Neue"/>
                <a:ea typeface="Helvetica Neue"/>
                <a:cs typeface="Helvetica Neue"/>
              </a:rPr>
              <a:t>50 existing + 100 new</a:t>
            </a:r>
          </a:p>
        </p:txBody>
      </p:sp>
      <p:sp>
        <p:nvSpPr>
          <p:cNvPr id="14" name="">
            <a:extLst xmlns:a="http://schemas.openxmlformats.org/drawingml/2006/main">
              <a:ext uri="{FF2B5EF4-FFF2-40B4-BE49-F238E27FC236}">
                <a16:creationId xmlns:a16="http://schemas.microsoft.com/office/drawing/2014/main" id="{C7C457D1-CA91-4E66-804C-64348536DCCF}"/>
              </a:ext>
            </a:extLst>
          </p:cNvPr>
          <p:cNvSpPr>
            <a:spLocks xmlns:a="http://schemas.openxmlformats.org/drawingml/2006/main" noGrp="1"/>
          </p:cNvSpPr>
          <p:nvPr/>
        </p:nvSpPr>
        <p:spPr>
          <a:xfrm xmlns:a="http://schemas.openxmlformats.org/drawingml/2006/main">
            <a:off x="4552950" y="3524250"/>
            <a:ext cx="27146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75" b="0" i="0">
                <a:solidFill>
                  <a:srgbClr val="141A24"/>
                </a:solidFill>
                <a:latin typeface="Helvetica Neue"/>
                <a:ea typeface="Helvetica Neue"/>
                <a:cs typeface="Helvetica Neue"/>
              </a:defRPr>
            </a:pPr>
            <a:r>
              <a:rPr sz="1575" b="0" i="0">
                <a:solidFill>
                  <a:srgbClr val="141A24"/>
                </a:solidFill>
                <a:latin typeface="Helvetica Neue"/>
                <a:ea typeface="Helvetica Neue"/>
                <a:cs typeface="Helvetica Neue"/>
              </a:rPr>
              <a:t>150 final members</a:t>
            </a:r>
          </a:p>
        </p:txBody>
      </p:sp>
      <p:sp>
        <p:nvSpPr>
          <p:cNvPr id="15" name="">
            <a:extLst xmlns:a="http://schemas.openxmlformats.org/drawingml/2006/main">
              <a:ext uri="{FF2B5EF4-FFF2-40B4-BE49-F238E27FC236}">
                <a16:creationId xmlns:a16="http://schemas.microsoft.com/office/drawing/2014/main" id="{E8BD0DFE-76C3-400C-A472-755DBF53DA4A}"/>
              </a:ext>
            </a:extLst>
          </p:cNvPr>
          <p:cNvSpPr>
            <a:spLocks xmlns:a="http://schemas.openxmlformats.org/drawingml/2006/main" noGrp="1"/>
          </p:cNvSpPr>
          <p:nvPr/>
        </p:nvSpPr>
        <p:spPr>
          <a:xfrm xmlns:a="http://schemas.openxmlformats.org/drawingml/2006/main">
            <a:off x="8039100" y="1981200"/>
            <a:ext cx="3238500" cy="2409825"/>
          </a:xfrm>
          <a:prstGeom xmlns:a="http://schemas.openxmlformats.org/drawingml/2006/main" prst="rect">
            <a:avLst/>
          </a:prstGeom>
          <a:solidFill xmlns:a="http://schemas.openxmlformats.org/drawingml/2006/main">
            <a:srgbClr val="E8F2FF"/>
          </a:solidFill>
          <a:ln xmlns:a="http://schemas.openxmlformats.org/drawingml/2006/main" w="9525">
            <a:solidFill>
              <a:srgbClr val="1774D1"/>
            </a:solidFill>
            <a:prstDash val="solid"/>
          </a:ln>
        </p:spPr>
      </p:sp>
      <p:sp>
        <p:nvSpPr>
          <p:cNvPr id="16" name="">
            <a:extLst xmlns:a="http://schemas.openxmlformats.org/drawingml/2006/main">
              <a:ext uri="{FF2B5EF4-FFF2-40B4-BE49-F238E27FC236}">
                <a16:creationId xmlns:a16="http://schemas.microsoft.com/office/drawing/2014/main" id="{8BC36758-FBD6-41C2-94C7-D91470AADF08}"/>
              </a:ext>
            </a:extLst>
          </p:cNvPr>
          <p:cNvSpPr>
            <a:spLocks xmlns:a="http://schemas.openxmlformats.org/drawingml/2006/main" noGrp="1"/>
          </p:cNvSpPr>
          <p:nvPr/>
        </p:nvSpPr>
        <p:spPr>
          <a:xfrm xmlns:a="http://schemas.openxmlformats.org/drawingml/2006/main">
            <a:off x="8286750" y="2295525"/>
            <a:ext cx="2714625"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025" b="1" i="0">
                <a:solidFill>
                  <a:srgbClr val="1774D1"/>
                </a:solidFill>
                <a:latin typeface="Helvetica Neue"/>
                <a:ea typeface="Helvetica Neue"/>
                <a:cs typeface="Helvetica Neue"/>
              </a:defRPr>
            </a:pPr>
            <a:r>
              <a:rPr sz="2025" b="1" i="0">
                <a:solidFill>
                  <a:srgbClr val="1774D1"/>
                </a:solidFill>
                <a:latin typeface="Helvetica Neue"/>
                <a:ea typeface="Helvetica Neue"/>
                <a:cs typeface="Helvetica Neue"/>
              </a:rPr>
              <a:t>1,048,576 SDs</a:t>
            </a:r>
          </a:p>
        </p:txBody>
      </p:sp>
      <p:sp>
        <p:nvSpPr>
          <p:cNvPr id="17" name="">
            <a:extLst xmlns:a="http://schemas.openxmlformats.org/drawingml/2006/main">
              <a:ext uri="{FF2B5EF4-FFF2-40B4-BE49-F238E27FC236}">
                <a16:creationId xmlns:a16="http://schemas.microsoft.com/office/drawing/2014/main" id="{BB814C78-5EA0-4587-ABEA-FC78E6A6F7F7}"/>
              </a:ext>
            </a:extLst>
          </p:cNvPr>
          <p:cNvSpPr>
            <a:spLocks xmlns:a="http://schemas.openxmlformats.org/drawingml/2006/main" noGrp="1"/>
          </p:cNvSpPr>
          <p:nvPr/>
        </p:nvSpPr>
        <p:spPr>
          <a:xfrm xmlns:a="http://schemas.openxmlformats.org/drawingml/2006/main">
            <a:off x="8286750" y="2990850"/>
            <a:ext cx="271462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425" b="1" i="0">
                <a:solidFill>
                  <a:srgbClr val="141A24"/>
                </a:solidFill>
                <a:latin typeface="Helvetica Neue"/>
                <a:ea typeface="Helvetica Neue"/>
                <a:cs typeface="Helvetica Neue"/>
              </a:defRPr>
            </a:pPr>
            <a:r>
              <a:rPr sz="1425" b="1" i="0">
                <a:solidFill>
                  <a:srgbClr val="141A24"/>
                </a:solidFill>
                <a:latin typeface="Helvetica Neue"/>
                <a:ea typeface="Helvetica Neue"/>
                <a:cs typeface="Helvetica Neue"/>
              </a:rPr>
              <a:t>50 existing + 0 new</a:t>
            </a:r>
          </a:p>
        </p:txBody>
      </p:sp>
      <p:sp>
        <p:nvSpPr>
          <p:cNvPr id="18" name="">
            <a:extLst xmlns:a="http://schemas.openxmlformats.org/drawingml/2006/main">
              <a:ext uri="{FF2B5EF4-FFF2-40B4-BE49-F238E27FC236}">
                <a16:creationId xmlns:a16="http://schemas.microsoft.com/office/drawing/2014/main" id="{3368A133-CD84-4426-A479-EB0F482516D7}"/>
              </a:ext>
            </a:extLst>
          </p:cNvPr>
          <p:cNvSpPr>
            <a:spLocks xmlns:a="http://schemas.openxmlformats.org/drawingml/2006/main" noGrp="1"/>
          </p:cNvSpPr>
          <p:nvPr/>
        </p:nvSpPr>
        <p:spPr>
          <a:xfrm xmlns:a="http://schemas.openxmlformats.org/drawingml/2006/main">
            <a:off x="8286750" y="3524250"/>
            <a:ext cx="27146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75" b="0" i="0">
                <a:solidFill>
                  <a:srgbClr val="141A24"/>
                </a:solidFill>
                <a:latin typeface="Helvetica Neue"/>
                <a:ea typeface="Helvetica Neue"/>
                <a:cs typeface="Helvetica Neue"/>
              </a:defRPr>
            </a:pPr>
            <a:r>
              <a:rPr sz="1575" b="0" i="0">
                <a:solidFill>
                  <a:srgbClr val="141A24"/>
                </a:solidFill>
                <a:latin typeface="Helvetica Neue"/>
                <a:ea typeface="Helvetica Neue"/>
                <a:cs typeface="Helvetica Neue"/>
              </a:rPr>
              <a:t>50 confirmation members</a:t>
            </a:r>
          </a:p>
        </p:txBody>
      </p:sp>
      <p:sp>
        <p:nvSpPr>
          <p:cNvPr id="19" name="">
            <a:extLst xmlns:a="http://schemas.openxmlformats.org/drawingml/2006/main">
              <a:ext uri="{FF2B5EF4-FFF2-40B4-BE49-F238E27FC236}">
                <a16:creationId xmlns:a16="http://schemas.microsoft.com/office/drawing/2014/main" id="{83CAF124-9965-486F-8604-FC1CD11CA7C7}"/>
              </a:ext>
            </a:extLst>
          </p:cNvPr>
          <p:cNvSpPr>
            <a:spLocks xmlns:a="http://schemas.openxmlformats.org/drawingml/2006/main" noGrp="1"/>
          </p:cNvSpPr>
          <p:nvPr/>
        </p:nvSpPr>
        <p:spPr>
          <a:xfrm xmlns:a="http://schemas.openxmlformats.org/drawingml/2006/main">
            <a:off x="571500" y="4972050"/>
            <a:ext cx="105727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75" b="1" i="0">
                <a:solidFill>
                  <a:srgbClr val="4D3C93"/>
                </a:solidFill>
                <a:latin typeface="Helvetica Neue"/>
                <a:ea typeface="Helvetica Neue"/>
                <a:cs typeface="Helvetica Neue"/>
              </a:defRPr>
            </a:pPr>
            <a:r>
              <a:rPr sz="1575" b="1" i="0">
                <a:solidFill>
                  <a:srgbClr val="4D3C93"/>
                </a:solidFill>
                <a:latin typeface="Helvetica Neue"/>
                <a:ea typeface="Helvetica Neue"/>
                <a:cs typeface="Helvetica Neue"/>
              </a:rPr>
              <a:t>200 new collision histories; frozen input bundles reused read-only; no old collision seeds, outputs or run labels overwritten.</a:t>
            </a:r>
          </a:p>
        </p:txBody>
      </p:sp>
    </p:spTree>
    <p:extLst>
      <p:ext uri="{BB962C8B-B14F-4D97-AF65-F5344CB8AC3E}">
        <p14:creationId xmlns:p14="http://schemas.microsoft.com/office/powerpoint/2010/main" val="1389993169"/>
      </p:ext>
    </p:extLst>
  </p:cSld>
</p:sld>
</file>

<file path=ppt/slides/slide12.xml><?xml version="1.0" encoding="utf-8"?>
<p:sld xmlns:p="http://schemas.openxmlformats.org/presentationml/2006/main">
  <p:cSld>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EB760E43-664C-43B8-89FC-F2FE996DC107}"/>
              </a:ext>
            </a:extLst>
          </p:cNvPr>
          <p:cNvSpPr>
            <a:spLocks xmlns:a="http://schemas.openxmlformats.org/drawingml/2006/main" noGrp="1"/>
          </p:cNvSpPr>
          <p:nvPr/>
        </p:nvSpPr>
        <p:spPr>
          <a:xfrm xmlns:a="http://schemas.openxmlformats.org/drawingml/2006/main">
            <a:off x="400050" y="285750"/>
            <a:ext cx="7239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1" i="0">
                <a:solidFill>
                  <a:srgbClr val="1774D1"/>
                </a:solidFill>
                <a:latin typeface="Helvetica Neue"/>
                <a:ea typeface="Helvetica Neue"/>
                <a:cs typeface="Helvetica Neue"/>
              </a:defRPr>
            </a:pPr>
            <a:r>
              <a:rPr sz="900" b="1" i="0">
                <a:solidFill>
                  <a:srgbClr val="1774D1"/>
                </a:solidFill>
                <a:latin typeface="Helvetica Neue"/>
                <a:ea typeface="Helvetica Neue"/>
                <a:cs typeface="Helvetica Neue"/>
              </a:rPr>
              <a:t>GOLOVIN CONVERGENCE CALIBRATION</a:t>
            </a:r>
          </a:p>
        </p:txBody>
      </p:sp>
      <p:sp>
        <p:nvSpPr>
          <p:cNvPr id="2" name="">
            <a:extLst xmlns:a="http://schemas.openxmlformats.org/drawingml/2006/main">
              <a:ext uri="{FF2B5EF4-FFF2-40B4-BE49-F238E27FC236}">
                <a16:creationId xmlns:a16="http://schemas.microsoft.com/office/drawing/2014/main" id="{661DBD45-0C0D-4CA7-960D-1B38B15A4782}"/>
              </a:ext>
            </a:extLst>
          </p:cNvPr>
          <p:cNvSpPr>
            <a:spLocks xmlns:a="http://schemas.openxmlformats.org/drawingml/2006/main" noGrp="1"/>
          </p:cNvSpPr>
          <p:nvPr/>
        </p:nvSpPr>
        <p:spPr>
          <a:xfrm xmlns:a="http://schemas.openxmlformats.org/drawingml/2006/main">
            <a:off x="400050" y="590550"/>
            <a:ext cx="113728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625" b="1" i="0">
                <a:solidFill>
                  <a:srgbClr val="141A24"/>
                </a:solidFill>
                <a:latin typeface="Helvetica Neue"/>
                <a:ea typeface="Helvetica Neue"/>
                <a:cs typeface="Helvetica Neue"/>
              </a:defRPr>
            </a:pPr>
            <a:r>
              <a:rPr sz="2625" b="1" i="0">
                <a:solidFill>
                  <a:srgbClr val="141A24"/>
                </a:solidFill>
                <a:latin typeface="Helvetica Neue"/>
                <a:ea typeface="Helvetica Neue"/>
                <a:cs typeface="Helvetica Neue"/>
              </a:rPr>
              <a:t>Final practical result: every high-resolution bound is below 1 percentage point</a:t>
            </a:r>
          </a:p>
        </p:txBody>
      </p:sp>
      <p:cxnSp>
        <p:nvCxnSpPr>
          <p:cNvPr id="11" name=""/>
          <p:cNvCxnSpPr/>
          <p:nvPr/>
        </p:nvCxnSpPr>
        <p:spPr>
          <a:xfrm xmlns:a="http://schemas.openxmlformats.org/drawingml/2006/main">
            <a:off x="400050" y="6343650"/>
            <a:ext cx="11391900" cy="0"/>
          </a:xfrm>
          <a:prstGeom xmlns:a="http://schemas.openxmlformats.org/drawingml/2006/main" prst="straightConnector1">
            <a:avLst/>
          </a:prstGeom>
          <a:ln xmlns:a="http://schemas.openxmlformats.org/drawingml/2006/main" w="9525">
            <a:solidFill>
              <a:srgbClr val="C6CDD5"/>
            </a:solidFill>
            <a:prstDash val="solid"/>
          </a:ln>
        </p:spPr>
      </p:cxnSp>
      <p:sp>
        <p:nvSpPr>
          <p:cNvPr id="4" name="">
            <a:extLst xmlns:a="http://schemas.openxmlformats.org/drawingml/2006/main">
              <a:ext uri="{FF2B5EF4-FFF2-40B4-BE49-F238E27FC236}">
                <a16:creationId xmlns:a16="http://schemas.microsoft.com/office/drawing/2014/main" id="{37FDF581-A153-40F4-A938-2FCB2BF26EF7}"/>
              </a:ext>
            </a:extLst>
          </p:cNvPr>
          <p:cNvSpPr>
            <a:spLocks xmlns:a="http://schemas.openxmlformats.org/drawingml/2006/main" noGrp="1"/>
          </p:cNvSpPr>
          <p:nvPr/>
        </p:nvSpPr>
        <p:spPr>
          <a:xfrm xmlns:a="http://schemas.openxmlformats.org/drawingml/2006/main">
            <a:off x="400050" y="6457950"/>
            <a:ext cx="4095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825" b="0" i="0">
                <a:solidFill>
                  <a:srgbClr val="556170"/>
                </a:solidFill>
                <a:latin typeface="Helvetica Neue"/>
                <a:ea typeface="Helvetica Neue"/>
                <a:cs typeface="Helvetica Neue"/>
              </a:defRPr>
            </a:pPr>
            <a:r>
              <a:rPr sz="825" b="0" i="0">
                <a:solidFill>
                  <a:srgbClr val="556170"/>
                </a:solidFill>
                <a:latin typeface="Helvetica Neue"/>
                <a:ea typeface="Helvetica Neue"/>
                <a:cs typeface="Helvetica Neue"/>
              </a:rPr>
              <a:t>CLEO controlled Golovin calibration</a:t>
            </a:r>
          </a:p>
        </p:txBody>
      </p:sp>
      <p:sp>
        <p:nvSpPr>
          <p:cNvPr id="5" name="">
            <a:extLst xmlns:a="http://schemas.openxmlformats.org/drawingml/2006/main">
              <a:ext uri="{FF2B5EF4-FFF2-40B4-BE49-F238E27FC236}">
                <a16:creationId xmlns:a16="http://schemas.microsoft.com/office/drawing/2014/main" id="{1D3B3F60-FC8A-4A23-B5DE-156313022426}"/>
              </a:ext>
            </a:extLst>
          </p:cNvPr>
          <p:cNvSpPr>
            <a:spLocks xmlns:a="http://schemas.openxmlformats.org/drawingml/2006/main" noGrp="1"/>
          </p:cNvSpPr>
          <p:nvPr/>
        </p:nvSpPr>
        <p:spPr>
          <a:xfrm xmlns:a="http://schemas.openxmlformats.org/drawingml/2006/main">
            <a:off x="9191625" y="6457950"/>
            <a:ext cx="1524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825" b="0" i="0">
                <a:solidFill>
                  <a:srgbClr val="556170"/>
                </a:solidFill>
                <a:latin typeface="Helvetica Neue"/>
                <a:ea typeface="Helvetica Neue"/>
                <a:cs typeface="Helvetica Neue"/>
              </a:defRPr>
            </a:pPr>
            <a:r>
              <a:rPr sz="825" b="0" i="0">
                <a:solidFill>
                  <a:srgbClr val="556170"/>
                </a:solidFill>
                <a:latin typeface="Helvetica Neue"/>
                <a:ea typeface="Helvetica Neue"/>
                <a:cs typeface="Helvetica Neue"/>
              </a:rPr>
              <a:t>02 AUG 2026</a:t>
            </a:r>
          </a:p>
        </p:txBody>
      </p:sp>
      <p:sp>
        <p:nvSpPr>
          <p:cNvPr id="6" name="">
            <a:extLst xmlns:a="http://schemas.openxmlformats.org/drawingml/2006/main">
              <a:ext uri="{FF2B5EF4-FFF2-40B4-BE49-F238E27FC236}">
                <a16:creationId xmlns:a16="http://schemas.microsoft.com/office/drawing/2014/main" id="{78CF66B0-421E-49C6-A0D9-2A83C6D2698D}"/>
              </a:ext>
            </a:extLst>
          </p:cNvPr>
          <p:cNvSpPr>
            <a:spLocks xmlns:a="http://schemas.openxmlformats.org/drawingml/2006/main" noGrp="1"/>
          </p:cNvSpPr>
          <p:nvPr/>
        </p:nvSpPr>
        <p:spPr>
          <a:xfrm xmlns:a="http://schemas.openxmlformats.org/drawingml/2006/main">
            <a:off x="11049000" y="6438900"/>
            <a:ext cx="7429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00" b="1" i="0">
                <a:solidFill>
                  <a:srgbClr val="141A24"/>
                </a:solidFill>
                <a:latin typeface="Helvetica Neue"/>
                <a:ea typeface="Helvetica Neue"/>
                <a:cs typeface="Helvetica Neue"/>
              </a:defRPr>
            </a:pPr>
            <a:r>
              <a:rPr sz="900" b="1" i="0">
                <a:solidFill>
                  <a:srgbClr val="141A24"/>
                </a:solidFill>
                <a:latin typeface="Helvetica Neue"/>
                <a:ea typeface="Helvetica Neue"/>
                <a:cs typeface="Helvetica Neue"/>
              </a:rPr>
              <a:t>12</a:t>
            </a:r>
          </a:p>
        </p:txBody>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5cf90553c3334aef"/>
          <a:stretch xmlns:a="http://schemas.openxmlformats.org/drawingml/2006/main"/>
        </p:blipFill>
        <p:spPr>
          <a:xfrm xmlns:a="http://schemas.openxmlformats.org/drawingml/2006/main">
            <a:off x="304800" y="1749438"/>
            <a:ext cx="11582400" cy="3521050"/>
          </a:xfrm>
          <a:prstGeom xmlns:a="http://schemas.openxmlformats.org/drawingml/2006/main" prst="rect">
            <a:avLst/>
          </a:prstGeom>
        </p:spPr>
      </p:pic>
      <p:sp>
        <p:nvSpPr>
          <p:cNvPr id="8" name="">
            <a:extLst xmlns:a="http://schemas.openxmlformats.org/drawingml/2006/main">
              <a:ext uri="{FF2B5EF4-FFF2-40B4-BE49-F238E27FC236}">
                <a16:creationId xmlns:a16="http://schemas.microsoft.com/office/drawing/2014/main" id="{4D47AD9D-0FF7-4A69-BAC7-04BBC3E4A9B6}"/>
              </a:ext>
            </a:extLst>
          </p:cNvPr>
          <p:cNvSpPr>
            <a:spLocks xmlns:a="http://schemas.openxmlformats.org/drawingml/2006/main" noGrp="1"/>
          </p:cNvSpPr>
          <p:nvPr/>
        </p:nvSpPr>
        <p:spPr>
          <a:xfrm xmlns:a="http://schemas.openxmlformats.org/drawingml/2006/main">
            <a:off x="400050" y="5934075"/>
            <a:ext cx="10953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200" b="0" i="0">
                <a:solidFill>
                  <a:srgbClr val="556170"/>
                </a:solidFill>
                <a:latin typeface="Helvetica Neue"/>
                <a:ea typeface="Helvetica Neue"/>
                <a:cs typeface="Helvetica Neue"/>
              </a:defRPr>
            </a:pPr>
            <a:r>
              <a:rPr sz="1200" b="0" i="0">
                <a:solidFill>
                  <a:srgbClr val="556170"/>
                </a:solidFill>
                <a:latin typeface="Helvetica Neue"/>
                <a:ea typeface="Helvetica Neue"/>
                <a:cs typeface="Helvetica Neue"/>
              </a:rPr>
              <a:t>Filled circles = one-sided 95% upper bounds  •  Crosses = point changes  •  Green band = predeclared 0–1 pp acceptance region</a:t>
            </a:r>
          </a:p>
        </p:txBody>
      </p:sp>
    </p:spTree>
    <p:extLst>
      <p:ext uri="{BB962C8B-B14F-4D97-AF65-F5344CB8AC3E}">
        <p14:creationId xmlns:p14="http://schemas.microsoft.com/office/powerpoint/2010/main" val="1938144384"/>
      </p:ext>
    </p:extLst>
  </p:cSld>
</p:sld>
</file>

<file path=ppt/slides/slide13.xml><?xml version="1.0" encoding="utf-8"?>
<p:sld xmlns:p="http://schemas.openxmlformats.org/presentationml/2006/main">
  <p:cSld>
    <p:spTree>
      <p:nvGrpSpPr>
        <p:cNvPr id="1" name=""/>
        <p:cNvGrpSpPr/>
        <p:nvPr/>
      </p:nvGrpSpPr>
      <p:grpSpPr>
        <a:xfrm xmlns:a="http://schemas.openxmlformats.org/drawingml/2006/main"/>
      </p:grpSpPr>
      <p:sp>
        <p:nvSpPr>
          <p:cNvPr id="64" name="">
            <a:extLst xmlns:a="http://schemas.openxmlformats.org/drawingml/2006/main">
              <a:ext uri="{FF2B5EF4-FFF2-40B4-BE49-F238E27FC236}">
                <a16:creationId xmlns:a16="http://schemas.microsoft.com/office/drawing/2014/main" id="{B2579DB4-25A2-4BF1-8D21-A94768D55453}"/>
              </a:ext>
            </a:extLst>
          </p:cNvPr>
          <p:cNvSpPr>
            <a:spLocks xmlns:a="http://schemas.openxmlformats.org/drawingml/2006/main" noGrp="1"/>
          </p:cNvSpPr>
          <p:nvPr/>
        </p:nvSpPr>
        <p:spPr>
          <a:xfrm xmlns:a="http://schemas.openxmlformats.org/drawingml/2006/main">
            <a:off x="400050" y="285750"/>
            <a:ext cx="7239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1" i="0">
                <a:solidFill>
                  <a:srgbClr val="1774D1"/>
                </a:solidFill>
                <a:latin typeface="Helvetica Neue"/>
                <a:ea typeface="Helvetica Neue"/>
                <a:cs typeface="Helvetica Neue"/>
              </a:defRPr>
            </a:pPr>
            <a:r>
              <a:rPr sz="900" b="1" i="0">
                <a:solidFill>
                  <a:srgbClr val="1774D1"/>
                </a:solidFill>
                <a:latin typeface="Helvetica Neue"/>
                <a:ea typeface="Helvetica Neue"/>
                <a:cs typeface="Helvetica Neue"/>
              </a:rPr>
              <a:t>GOLOVIN CONVERGENCE CALIBRATION</a:t>
            </a:r>
          </a:p>
        </p:txBody>
      </p:sp>
      <p:sp>
        <p:nvSpPr>
          <p:cNvPr id="2" name="">
            <a:extLst xmlns:a="http://schemas.openxmlformats.org/drawingml/2006/main">
              <a:ext uri="{FF2B5EF4-FFF2-40B4-BE49-F238E27FC236}">
                <a16:creationId xmlns:a16="http://schemas.microsoft.com/office/drawing/2014/main" id="{D1C10C2B-B3B7-4476-B0BD-6A6CE93BC1AF}"/>
              </a:ext>
            </a:extLst>
          </p:cNvPr>
          <p:cNvSpPr>
            <a:spLocks xmlns:a="http://schemas.openxmlformats.org/drawingml/2006/main" noGrp="1"/>
          </p:cNvSpPr>
          <p:nvPr/>
        </p:nvSpPr>
        <p:spPr>
          <a:xfrm xmlns:a="http://schemas.openxmlformats.org/drawingml/2006/main">
            <a:off x="400050" y="590550"/>
            <a:ext cx="113728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625" b="1" i="0">
                <a:solidFill>
                  <a:srgbClr val="141A24"/>
                </a:solidFill>
                <a:latin typeface="Helvetica Neue"/>
                <a:ea typeface="Helvetica Neue"/>
                <a:cs typeface="Helvetica Neue"/>
              </a:defRPr>
            </a:pPr>
            <a:r>
              <a:rPr sz="2625" b="1" i="0">
                <a:solidFill>
                  <a:srgbClr val="141A24"/>
                </a:solidFill>
                <a:latin typeface="Helvetica Neue"/>
                <a:ea typeface="Helvetica Neue"/>
                <a:cs typeface="Helvetica Neue"/>
              </a:rPr>
              <a:t>The late-time M₆ bound is limiting—but it now passes the prespecified rule</a:t>
            </a:r>
          </a:p>
        </p:txBody>
      </p:sp>
      <p:cxnSp>
        <p:nvCxnSpPr>
          <p:cNvPr id="66" name=""/>
          <p:cNvCxnSpPr/>
          <p:nvPr/>
        </p:nvCxnSpPr>
        <p:spPr>
          <a:xfrm xmlns:a="http://schemas.openxmlformats.org/drawingml/2006/main">
            <a:off x="400050" y="6343650"/>
            <a:ext cx="11391900" cy="0"/>
          </a:xfrm>
          <a:prstGeom xmlns:a="http://schemas.openxmlformats.org/drawingml/2006/main" prst="straightConnector1">
            <a:avLst/>
          </a:prstGeom>
          <a:ln xmlns:a="http://schemas.openxmlformats.org/drawingml/2006/main" w="9525">
            <a:solidFill>
              <a:srgbClr val="C6CDD5"/>
            </a:solidFill>
            <a:prstDash val="solid"/>
          </a:ln>
        </p:spPr>
      </p:cxnSp>
      <p:sp>
        <p:nvSpPr>
          <p:cNvPr id="4" name="">
            <a:extLst xmlns:a="http://schemas.openxmlformats.org/drawingml/2006/main">
              <a:ext uri="{FF2B5EF4-FFF2-40B4-BE49-F238E27FC236}">
                <a16:creationId xmlns:a16="http://schemas.microsoft.com/office/drawing/2014/main" id="{376CAD0D-4DDE-45C6-88E9-93204BC3F2EA}"/>
              </a:ext>
            </a:extLst>
          </p:cNvPr>
          <p:cNvSpPr>
            <a:spLocks xmlns:a="http://schemas.openxmlformats.org/drawingml/2006/main" noGrp="1"/>
          </p:cNvSpPr>
          <p:nvPr/>
        </p:nvSpPr>
        <p:spPr>
          <a:xfrm xmlns:a="http://schemas.openxmlformats.org/drawingml/2006/main">
            <a:off x="400050" y="6457950"/>
            <a:ext cx="4095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825" b="0" i="0">
                <a:solidFill>
                  <a:srgbClr val="556170"/>
                </a:solidFill>
                <a:latin typeface="Helvetica Neue"/>
                <a:ea typeface="Helvetica Neue"/>
                <a:cs typeface="Helvetica Neue"/>
              </a:defRPr>
            </a:pPr>
            <a:r>
              <a:rPr sz="825" b="0" i="0">
                <a:solidFill>
                  <a:srgbClr val="556170"/>
                </a:solidFill>
                <a:latin typeface="Helvetica Neue"/>
                <a:ea typeface="Helvetica Neue"/>
                <a:cs typeface="Helvetica Neue"/>
              </a:rPr>
              <a:t>CLEO controlled Golovin calibration</a:t>
            </a:r>
          </a:p>
        </p:txBody>
      </p:sp>
      <p:sp>
        <p:nvSpPr>
          <p:cNvPr id="5" name="">
            <a:extLst xmlns:a="http://schemas.openxmlformats.org/drawingml/2006/main">
              <a:ext uri="{FF2B5EF4-FFF2-40B4-BE49-F238E27FC236}">
                <a16:creationId xmlns:a16="http://schemas.microsoft.com/office/drawing/2014/main" id="{8BC0BD09-41B3-4C28-9B2E-6F11048C80BC}"/>
              </a:ext>
            </a:extLst>
          </p:cNvPr>
          <p:cNvSpPr>
            <a:spLocks xmlns:a="http://schemas.openxmlformats.org/drawingml/2006/main" noGrp="1"/>
          </p:cNvSpPr>
          <p:nvPr/>
        </p:nvSpPr>
        <p:spPr>
          <a:xfrm xmlns:a="http://schemas.openxmlformats.org/drawingml/2006/main">
            <a:off x="9191625" y="6457950"/>
            <a:ext cx="1524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825" b="0" i="0">
                <a:solidFill>
                  <a:srgbClr val="556170"/>
                </a:solidFill>
                <a:latin typeface="Helvetica Neue"/>
                <a:ea typeface="Helvetica Neue"/>
                <a:cs typeface="Helvetica Neue"/>
              </a:defRPr>
            </a:pPr>
            <a:r>
              <a:rPr sz="825" b="0" i="0">
                <a:solidFill>
                  <a:srgbClr val="556170"/>
                </a:solidFill>
                <a:latin typeface="Helvetica Neue"/>
                <a:ea typeface="Helvetica Neue"/>
                <a:cs typeface="Helvetica Neue"/>
              </a:rPr>
              <a:t>02 AUG 2026</a:t>
            </a:r>
          </a:p>
        </p:txBody>
      </p:sp>
      <p:sp>
        <p:nvSpPr>
          <p:cNvPr id="6" name="">
            <a:extLst xmlns:a="http://schemas.openxmlformats.org/drawingml/2006/main">
              <a:ext uri="{FF2B5EF4-FFF2-40B4-BE49-F238E27FC236}">
                <a16:creationId xmlns:a16="http://schemas.microsoft.com/office/drawing/2014/main" id="{1B1801ED-6FC6-4089-AB46-4194AE9A625A}"/>
              </a:ext>
            </a:extLst>
          </p:cNvPr>
          <p:cNvSpPr>
            <a:spLocks xmlns:a="http://schemas.openxmlformats.org/drawingml/2006/main" noGrp="1"/>
          </p:cNvSpPr>
          <p:nvPr/>
        </p:nvSpPr>
        <p:spPr>
          <a:xfrm xmlns:a="http://schemas.openxmlformats.org/drawingml/2006/main">
            <a:off x="11049000" y="6438900"/>
            <a:ext cx="7429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00" b="1" i="0">
                <a:solidFill>
                  <a:srgbClr val="141A24"/>
                </a:solidFill>
                <a:latin typeface="Helvetica Neue"/>
                <a:ea typeface="Helvetica Neue"/>
                <a:cs typeface="Helvetica Neue"/>
              </a:defRPr>
            </a:pPr>
            <a:r>
              <a:rPr sz="900" b="1" i="0">
                <a:solidFill>
                  <a:srgbClr val="141A24"/>
                </a:solidFill>
                <a:latin typeface="Helvetica Neue"/>
                <a:ea typeface="Helvetica Neue"/>
                <a:cs typeface="Helvetica Neue"/>
              </a:rPr>
              <a:t>13</a:t>
            </a:r>
          </a:p>
        </p:txBody>
      </p:sp>
      <p:sp>
        <p:nvSpPr>
          <p:cNvPr id="7" name="">
            <a:extLst xmlns:a="http://schemas.openxmlformats.org/drawingml/2006/main">
              <a:ext uri="{FF2B5EF4-FFF2-40B4-BE49-F238E27FC236}">
                <a16:creationId xmlns:a16="http://schemas.microsoft.com/office/drawing/2014/main" id="{3004D12F-384F-4DFC-BB6B-11C94BA3329B}"/>
              </a:ext>
            </a:extLst>
          </p:cNvPr>
          <p:cNvSpPr>
            <a:spLocks xmlns:a="http://schemas.openxmlformats.org/drawingml/2006/main" noGrp="1"/>
          </p:cNvSpPr>
          <p:nvPr/>
        </p:nvSpPr>
        <p:spPr>
          <a:xfrm xmlns:a="http://schemas.openxmlformats.org/drawingml/2006/main">
            <a:off x="523875" y="1619250"/>
            <a:ext cx="3000375" cy="438150"/>
          </a:xfrm>
          <a:prstGeom xmlns:a="http://schemas.openxmlformats.org/drawingml/2006/main" prst="rect">
            <a:avLst/>
          </a:prstGeom>
          <a:solidFill xmlns:a="http://schemas.openxmlformats.org/drawingml/2006/main">
            <a:srgbClr val="141A24"/>
          </a:solidFill>
          <a:ln xmlns:a="http://schemas.openxmlformats.org/drawingml/2006/main" w="9525">
            <a:solidFill>
              <a:srgbClr val="141A24"/>
            </a:solidFill>
            <a:prstDash val="solid"/>
          </a:ln>
        </p:spPr>
      </p:sp>
      <p:sp>
        <p:nvSpPr>
          <p:cNvPr id="8" name="">
            <a:extLst xmlns:a="http://schemas.openxmlformats.org/drawingml/2006/main">
              <a:ext uri="{FF2B5EF4-FFF2-40B4-BE49-F238E27FC236}">
                <a16:creationId xmlns:a16="http://schemas.microsoft.com/office/drawing/2014/main" id="{A146768C-1452-46DC-A29A-F1518F381A93}"/>
              </a:ext>
            </a:extLst>
          </p:cNvPr>
          <p:cNvSpPr>
            <a:spLocks xmlns:a="http://schemas.openxmlformats.org/drawingml/2006/main" noGrp="1"/>
          </p:cNvSpPr>
          <p:nvPr/>
        </p:nvSpPr>
        <p:spPr>
          <a:xfrm xmlns:a="http://schemas.openxmlformats.org/drawingml/2006/main">
            <a:off x="638175" y="1733550"/>
            <a:ext cx="277177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125" b="1" i="0">
                <a:solidFill>
                  <a:srgbClr val="FFFFFF"/>
                </a:solidFill>
                <a:latin typeface="Helvetica Neue"/>
                <a:ea typeface="Helvetica Neue"/>
                <a:cs typeface="Helvetica Neue"/>
              </a:defRPr>
            </a:pPr>
            <a:r>
              <a:rPr sz="1125" b="1" i="0">
                <a:solidFill>
                  <a:srgbClr val="FFFFFF"/>
                </a:solidFill>
                <a:latin typeface="Helvetica Neue"/>
                <a:ea typeface="Helvetica Neue"/>
                <a:cs typeface="Helvetica Neue"/>
              </a:rPr>
              <a:t>Resolution pair</a:t>
            </a:r>
          </a:p>
        </p:txBody>
      </p:sp>
      <p:sp>
        <p:nvSpPr>
          <p:cNvPr id="9" name="">
            <a:extLst xmlns:a="http://schemas.openxmlformats.org/drawingml/2006/main">
              <a:ext uri="{FF2B5EF4-FFF2-40B4-BE49-F238E27FC236}">
                <a16:creationId xmlns:a16="http://schemas.microsoft.com/office/drawing/2014/main" id="{00EA2A1B-E13A-4532-8D67-A829F4F832C1}"/>
              </a:ext>
            </a:extLst>
          </p:cNvPr>
          <p:cNvSpPr>
            <a:spLocks xmlns:a="http://schemas.openxmlformats.org/drawingml/2006/main" noGrp="1"/>
          </p:cNvSpPr>
          <p:nvPr/>
        </p:nvSpPr>
        <p:spPr>
          <a:xfrm xmlns:a="http://schemas.openxmlformats.org/drawingml/2006/main">
            <a:off x="3571875" y="1619250"/>
            <a:ext cx="1714500" cy="438150"/>
          </a:xfrm>
          <a:prstGeom xmlns:a="http://schemas.openxmlformats.org/drawingml/2006/main" prst="rect">
            <a:avLst/>
          </a:prstGeom>
          <a:solidFill xmlns:a="http://schemas.openxmlformats.org/drawingml/2006/main">
            <a:srgbClr val="141A24"/>
          </a:solidFill>
          <a:ln xmlns:a="http://schemas.openxmlformats.org/drawingml/2006/main" w="9525">
            <a:solidFill>
              <a:srgbClr val="141A24"/>
            </a:solidFill>
            <a:prstDash val="solid"/>
          </a:ln>
        </p:spPr>
      </p:sp>
      <p:sp>
        <p:nvSpPr>
          <p:cNvPr id="10" name="">
            <a:extLst xmlns:a="http://schemas.openxmlformats.org/drawingml/2006/main">
              <a:ext uri="{FF2B5EF4-FFF2-40B4-BE49-F238E27FC236}">
                <a16:creationId xmlns:a16="http://schemas.microsoft.com/office/drawing/2014/main" id="{75F26F3F-1C61-4F69-B2C9-097D4246256B}"/>
              </a:ext>
            </a:extLst>
          </p:cNvPr>
          <p:cNvSpPr>
            <a:spLocks xmlns:a="http://schemas.openxmlformats.org/drawingml/2006/main" noGrp="1"/>
          </p:cNvSpPr>
          <p:nvPr/>
        </p:nvSpPr>
        <p:spPr>
          <a:xfrm xmlns:a="http://schemas.openxmlformats.org/drawingml/2006/main">
            <a:off x="3686175" y="1733550"/>
            <a:ext cx="14859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125" b="1" i="0">
                <a:solidFill>
                  <a:srgbClr val="FFFFFF"/>
                </a:solidFill>
                <a:latin typeface="Helvetica Neue"/>
                <a:ea typeface="Helvetica Neue"/>
                <a:cs typeface="Helvetica Neue"/>
              </a:defRPr>
            </a:pPr>
            <a:r>
              <a:rPr sz="1125" b="1" i="0">
                <a:solidFill>
                  <a:srgbClr val="FFFFFF"/>
                </a:solidFill>
                <a:latin typeface="Helvetica Neue"/>
                <a:ea typeface="Helvetica Neue"/>
                <a:cs typeface="Helvetica Neue"/>
              </a:rPr>
              <a:t>Metric</a:t>
            </a:r>
          </a:p>
        </p:txBody>
      </p:sp>
      <p:sp>
        <p:nvSpPr>
          <p:cNvPr id="11" name="">
            <a:extLst xmlns:a="http://schemas.openxmlformats.org/drawingml/2006/main">
              <a:ext uri="{FF2B5EF4-FFF2-40B4-BE49-F238E27FC236}">
                <a16:creationId xmlns:a16="http://schemas.microsoft.com/office/drawing/2014/main" id="{1AEC0351-30B7-42B3-85E3-416AE92A46DC}"/>
              </a:ext>
            </a:extLst>
          </p:cNvPr>
          <p:cNvSpPr>
            <a:spLocks xmlns:a="http://schemas.openxmlformats.org/drawingml/2006/main" noGrp="1"/>
          </p:cNvSpPr>
          <p:nvPr/>
        </p:nvSpPr>
        <p:spPr>
          <a:xfrm xmlns:a="http://schemas.openxmlformats.org/drawingml/2006/main">
            <a:off x="5381625" y="1619250"/>
            <a:ext cx="4238625" cy="438150"/>
          </a:xfrm>
          <a:prstGeom xmlns:a="http://schemas.openxmlformats.org/drawingml/2006/main" prst="rect">
            <a:avLst/>
          </a:prstGeom>
          <a:solidFill xmlns:a="http://schemas.openxmlformats.org/drawingml/2006/main">
            <a:srgbClr val="141A24"/>
          </a:solidFill>
          <a:ln xmlns:a="http://schemas.openxmlformats.org/drawingml/2006/main" w="9525">
            <a:solidFill>
              <a:srgbClr val="141A24"/>
            </a:solidFill>
            <a:prstDash val="solid"/>
          </a:ln>
        </p:spPr>
      </p:sp>
      <p:sp>
        <p:nvSpPr>
          <p:cNvPr id="12" name="">
            <a:extLst xmlns:a="http://schemas.openxmlformats.org/drawingml/2006/main">
              <a:ext uri="{FF2B5EF4-FFF2-40B4-BE49-F238E27FC236}">
                <a16:creationId xmlns:a16="http://schemas.microsoft.com/office/drawing/2014/main" id="{52FF2C70-FD97-4128-852B-3C53BE152D15}"/>
              </a:ext>
            </a:extLst>
          </p:cNvPr>
          <p:cNvSpPr>
            <a:spLocks xmlns:a="http://schemas.openxmlformats.org/drawingml/2006/main" noGrp="1"/>
          </p:cNvSpPr>
          <p:nvPr/>
        </p:nvSpPr>
        <p:spPr>
          <a:xfrm xmlns:a="http://schemas.openxmlformats.org/drawingml/2006/main">
            <a:off x="5495925" y="1733550"/>
            <a:ext cx="401002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125" b="1" i="0">
                <a:solidFill>
                  <a:srgbClr val="FFFFFF"/>
                </a:solidFill>
                <a:latin typeface="Helvetica Neue"/>
                <a:ea typeface="Helvetica Neue"/>
                <a:cs typeface="Helvetica Neue"/>
              </a:defRPr>
            </a:pPr>
            <a:r>
              <a:rPr sz="1125" b="1" i="0">
                <a:solidFill>
                  <a:srgbClr val="FFFFFF"/>
                </a:solidFill>
                <a:latin typeface="Helvetica Neue"/>
                <a:ea typeface="Helvetica Neue"/>
                <a:cs typeface="Helvetica Neue"/>
              </a:rPr>
              <a:t>Largest one-sided 95% upper bound</a:t>
            </a:r>
          </a:p>
        </p:txBody>
      </p:sp>
      <p:sp>
        <p:nvSpPr>
          <p:cNvPr id="13" name="">
            <a:extLst xmlns:a="http://schemas.openxmlformats.org/drawingml/2006/main">
              <a:ext uri="{FF2B5EF4-FFF2-40B4-BE49-F238E27FC236}">
                <a16:creationId xmlns:a16="http://schemas.microsoft.com/office/drawing/2014/main" id="{36A835A3-21E5-4999-A210-222CB5F682DF}"/>
              </a:ext>
            </a:extLst>
          </p:cNvPr>
          <p:cNvSpPr>
            <a:spLocks xmlns:a="http://schemas.openxmlformats.org/drawingml/2006/main" noGrp="1"/>
          </p:cNvSpPr>
          <p:nvPr/>
        </p:nvSpPr>
        <p:spPr>
          <a:xfrm xmlns:a="http://schemas.openxmlformats.org/drawingml/2006/main">
            <a:off x="9715500" y="1619250"/>
            <a:ext cx="1524000" cy="438150"/>
          </a:xfrm>
          <a:prstGeom xmlns:a="http://schemas.openxmlformats.org/drawingml/2006/main" prst="rect">
            <a:avLst/>
          </a:prstGeom>
          <a:solidFill xmlns:a="http://schemas.openxmlformats.org/drawingml/2006/main">
            <a:srgbClr val="141A24"/>
          </a:solidFill>
          <a:ln xmlns:a="http://schemas.openxmlformats.org/drawingml/2006/main" w="9525">
            <a:solidFill>
              <a:srgbClr val="141A24"/>
            </a:solidFill>
            <a:prstDash val="solid"/>
          </a:ln>
        </p:spPr>
      </p:sp>
      <p:sp>
        <p:nvSpPr>
          <p:cNvPr id="14" name="">
            <a:extLst xmlns:a="http://schemas.openxmlformats.org/drawingml/2006/main">
              <a:ext uri="{FF2B5EF4-FFF2-40B4-BE49-F238E27FC236}">
                <a16:creationId xmlns:a16="http://schemas.microsoft.com/office/drawing/2014/main" id="{B723E8DE-EFA8-4926-8F3C-C11FA83016CD}"/>
              </a:ext>
            </a:extLst>
          </p:cNvPr>
          <p:cNvSpPr>
            <a:spLocks xmlns:a="http://schemas.openxmlformats.org/drawingml/2006/main" noGrp="1"/>
          </p:cNvSpPr>
          <p:nvPr/>
        </p:nvSpPr>
        <p:spPr>
          <a:xfrm xmlns:a="http://schemas.openxmlformats.org/drawingml/2006/main">
            <a:off x="9829800" y="1733550"/>
            <a:ext cx="12954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125" b="1" i="0">
                <a:solidFill>
                  <a:srgbClr val="FFFFFF"/>
                </a:solidFill>
                <a:latin typeface="Helvetica Neue"/>
                <a:ea typeface="Helvetica Neue"/>
                <a:cs typeface="Helvetica Neue"/>
              </a:defRPr>
            </a:pPr>
            <a:r>
              <a:rPr sz="1125" b="1" i="0">
                <a:solidFill>
                  <a:srgbClr val="FFFFFF"/>
                </a:solidFill>
                <a:latin typeface="Helvetica Neue"/>
                <a:ea typeface="Helvetica Neue"/>
                <a:cs typeface="Helvetica Neue"/>
              </a:rPr>
              <a:t>Decision</a:t>
            </a:r>
          </a:p>
        </p:txBody>
      </p:sp>
      <p:sp>
        <p:nvSpPr>
          <p:cNvPr id="15" name="">
            <a:extLst xmlns:a="http://schemas.openxmlformats.org/drawingml/2006/main">
              <a:ext uri="{FF2B5EF4-FFF2-40B4-BE49-F238E27FC236}">
                <a16:creationId xmlns:a16="http://schemas.microsoft.com/office/drawing/2014/main" id="{03B7A5ED-FC71-4DF2-A40A-E5CB2CC57FD5}"/>
              </a:ext>
            </a:extLst>
          </p:cNvPr>
          <p:cNvSpPr>
            <a:spLocks xmlns:a="http://schemas.openxmlformats.org/drawingml/2006/main" noGrp="1"/>
          </p:cNvSpPr>
          <p:nvPr/>
        </p:nvSpPr>
        <p:spPr>
          <a:xfrm xmlns:a="http://schemas.openxmlformats.org/drawingml/2006/main">
            <a:off x="523875" y="2057400"/>
            <a:ext cx="3000375" cy="533400"/>
          </a:xfrm>
          <a:prstGeom xmlns:a="http://schemas.openxmlformats.org/drawingml/2006/main" prst="rect">
            <a:avLst/>
          </a:prstGeom>
          <a:solidFill xmlns:a="http://schemas.openxmlformats.org/drawingml/2006/main">
            <a:srgbClr val="F6F8FA"/>
          </a:solidFill>
          <a:ln xmlns:a="http://schemas.openxmlformats.org/drawingml/2006/main" w="9525">
            <a:solidFill>
              <a:srgbClr val="C6CDD5"/>
            </a:solidFill>
            <a:prstDash val="solid"/>
          </a:ln>
        </p:spPr>
      </p:sp>
      <p:sp>
        <p:nvSpPr>
          <p:cNvPr id="16" name="">
            <a:extLst xmlns:a="http://schemas.openxmlformats.org/drawingml/2006/main">
              <a:ext uri="{FF2B5EF4-FFF2-40B4-BE49-F238E27FC236}">
                <a16:creationId xmlns:a16="http://schemas.microsoft.com/office/drawing/2014/main" id="{7FF315FC-B8BE-4D11-9704-7C1F6122F870}"/>
              </a:ext>
            </a:extLst>
          </p:cNvPr>
          <p:cNvSpPr>
            <a:spLocks xmlns:a="http://schemas.openxmlformats.org/drawingml/2006/main" noGrp="1"/>
          </p:cNvSpPr>
          <p:nvPr/>
        </p:nvSpPr>
        <p:spPr>
          <a:xfrm xmlns:a="http://schemas.openxmlformats.org/drawingml/2006/main">
            <a:off x="638175" y="2219325"/>
            <a:ext cx="277177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350" b="0" i="0">
                <a:solidFill>
                  <a:srgbClr val="141A24"/>
                </a:solidFill>
                <a:latin typeface="Helvetica Neue"/>
                <a:ea typeface="Helvetica Neue"/>
                <a:cs typeface="Helvetica Neue"/>
              </a:defRPr>
            </a:pPr>
            <a:r>
              <a:rPr sz="1350" b="0" i="0">
                <a:solidFill>
                  <a:srgbClr val="141A24"/>
                </a:solidFill>
                <a:latin typeface="Helvetica Neue"/>
                <a:ea typeface="Helvetica Neue"/>
                <a:cs typeface="Helvetica Neue"/>
              </a:rPr>
              <a:t>262k → 512k</a:t>
            </a:r>
          </a:p>
        </p:txBody>
      </p:sp>
      <p:sp>
        <p:nvSpPr>
          <p:cNvPr id="17" name="">
            <a:extLst xmlns:a="http://schemas.openxmlformats.org/drawingml/2006/main">
              <a:ext uri="{FF2B5EF4-FFF2-40B4-BE49-F238E27FC236}">
                <a16:creationId xmlns:a16="http://schemas.microsoft.com/office/drawing/2014/main" id="{6329C7D0-D857-4489-9DDD-0ED6A50B2176}"/>
              </a:ext>
            </a:extLst>
          </p:cNvPr>
          <p:cNvSpPr>
            <a:spLocks xmlns:a="http://schemas.openxmlformats.org/drawingml/2006/main" noGrp="1"/>
          </p:cNvSpPr>
          <p:nvPr/>
        </p:nvSpPr>
        <p:spPr>
          <a:xfrm xmlns:a="http://schemas.openxmlformats.org/drawingml/2006/main">
            <a:off x="3571875" y="2057400"/>
            <a:ext cx="1714500" cy="533400"/>
          </a:xfrm>
          <a:prstGeom xmlns:a="http://schemas.openxmlformats.org/drawingml/2006/main" prst="rect">
            <a:avLst/>
          </a:prstGeom>
          <a:solidFill xmlns:a="http://schemas.openxmlformats.org/drawingml/2006/main">
            <a:srgbClr val="F6F8FA"/>
          </a:solidFill>
          <a:ln xmlns:a="http://schemas.openxmlformats.org/drawingml/2006/main" w="9525">
            <a:solidFill>
              <a:srgbClr val="C6CDD5"/>
            </a:solidFill>
            <a:prstDash val="solid"/>
          </a:ln>
        </p:spPr>
      </p:sp>
      <p:sp>
        <p:nvSpPr>
          <p:cNvPr id="18" name="">
            <a:extLst xmlns:a="http://schemas.openxmlformats.org/drawingml/2006/main">
              <a:ext uri="{FF2B5EF4-FFF2-40B4-BE49-F238E27FC236}">
                <a16:creationId xmlns:a16="http://schemas.microsoft.com/office/drawing/2014/main" id="{1249D5E1-5F32-4386-A80F-6E223B1EA9FD}"/>
              </a:ext>
            </a:extLst>
          </p:cNvPr>
          <p:cNvSpPr>
            <a:spLocks xmlns:a="http://schemas.openxmlformats.org/drawingml/2006/main" noGrp="1"/>
          </p:cNvSpPr>
          <p:nvPr/>
        </p:nvSpPr>
        <p:spPr>
          <a:xfrm xmlns:a="http://schemas.openxmlformats.org/drawingml/2006/main">
            <a:off x="3686175" y="2219325"/>
            <a:ext cx="1485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350" b="0" i="0">
                <a:solidFill>
                  <a:srgbClr val="141A24"/>
                </a:solidFill>
                <a:latin typeface="Helvetica Neue"/>
                <a:ea typeface="Helvetica Neue"/>
                <a:cs typeface="Helvetica Neue"/>
              </a:defRPr>
            </a:pPr>
            <a:r>
              <a:rPr sz="1350" b="0" i="0">
                <a:solidFill>
                  <a:srgbClr val="141A24"/>
                </a:solidFill>
                <a:latin typeface="Helvetica Neue"/>
                <a:ea typeface="Helvetica Neue"/>
                <a:cs typeface="Helvetica Neue"/>
              </a:rPr>
              <a:t>L1</a:t>
            </a:r>
          </a:p>
        </p:txBody>
      </p:sp>
      <p:sp>
        <p:nvSpPr>
          <p:cNvPr id="19" name="">
            <a:extLst xmlns:a="http://schemas.openxmlformats.org/drawingml/2006/main">
              <a:ext uri="{FF2B5EF4-FFF2-40B4-BE49-F238E27FC236}">
                <a16:creationId xmlns:a16="http://schemas.microsoft.com/office/drawing/2014/main" id="{BFABC2CB-7A5F-4824-B5DA-6A4AF6FD3E26}"/>
              </a:ext>
            </a:extLst>
          </p:cNvPr>
          <p:cNvSpPr>
            <a:spLocks xmlns:a="http://schemas.openxmlformats.org/drawingml/2006/main" noGrp="1"/>
          </p:cNvSpPr>
          <p:nvPr/>
        </p:nvSpPr>
        <p:spPr>
          <a:xfrm xmlns:a="http://schemas.openxmlformats.org/drawingml/2006/main">
            <a:off x="5381625" y="2057400"/>
            <a:ext cx="4238625" cy="533400"/>
          </a:xfrm>
          <a:prstGeom xmlns:a="http://schemas.openxmlformats.org/drawingml/2006/main" prst="rect">
            <a:avLst/>
          </a:prstGeom>
          <a:solidFill xmlns:a="http://schemas.openxmlformats.org/drawingml/2006/main">
            <a:srgbClr val="F6F8FA"/>
          </a:solidFill>
          <a:ln xmlns:a="http://schemas.openxmlformats.org/drawingml/2006/main" w="9525">
            <a:solidFill>
              <a:srgbClr val="C6CDD5"/>
            </a:solidFill>
            <a:prstDash val="solid"/>
          </a:ln>
        </p:spPr>
      </p:sp>
      <p:sp>
        <p:nvSpPr>
          <p:cNvPr id="20" name="">
            <a:extLst xmlns:a="http://schemas.openxmlformats.org/drawingml/2006/main">
              <a:ext uri="{FF2B5EF4-FFF2-40B4-BE49-F238E27FC236}">
                <a16:creationId xmlns:a16="http://schemas.microsoft.com/office/drawing/2014/main" id="{6BDAAEF4-F3FC-45B9-A50E-096C7D1D913A}"/>
              </a:ext>
            </a:extLst>
          </p:cNvPr>
          <p:cNvSpPr>
            <a:spLocks xmlns:a="http://schemas.openxmlformats.org/drawingml/2006/main" noGrp="1"/>
          </p:cNvSpPr>
          <p:nvPr/>
        </p:nvSpPr>
        <p:spPr>
          <a:xfrm xmlns:a="http://schemas.openxmlformats.org/drawingml/2006/main">
            <a:off x="5495925" y="2219325"/>
            <a:ext cx="401002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350" b="1" i="0">
                <a:solidFill>
                  <a:srgbClr val="141A24"/>
                </a:solidFill>
                <a:latin typeface="Helvetica Neue"/>
                <a:ea typeface="Helvetica Neue"/>
                <a:cs typeface="Helvetica Neue"/>
              </a:defRPr>
            </a:pPr>
            <a:r>
              <a:rPr sz="1350" b="1" i="0">
                <a:solidFill>
                  <a:srgbClr val="141A24"/>
                </a:solidFill>
                <a:latin typeface="Helvetica Neue"/>
                <a:ea typeface="Helvetica Neue"/>
                <a:cs typeface="Helvetica Neue"/>
              </a:rPr>
              <a:t>0.299 pp</a:t>
            </a:r>
          </a:p>
        </p:txBody>
      </p:sp>
      <p:sp>
        <p:nvSpPr>
          <p:cNvPr id="21" name="">
            <a:extLst xmlns:a="http://schemas.openxmlformats.org/drawingml/2006/main">
              <a:ext uri="{FF2B5EF4-FFF2-40B4-BE49-F238E27FC236}">
                <a16:creationId xmlns:a16="http://schemas.microsoft.com/office/drawing/2014/main" id="{8E113AE2-BF7D-4BCF-BD59-0EBA95E12DD4}"/>
              </a:ext>
            </a:extLst>
          </p:cNvPr>
          <p:cNvSpPr>
            <a:spLocks xmlns:a="http://schemas.openxmlformats.org/drawingml/2006/main" noGrp="1"/>
          </p:cNvSpPr>
          <p:nvPr/>
        </p:nvSpPr>
        <p:spPr>
          <a:xfrm xmlns:a="http://schemas.openxmlformats.org/drawingml/2006/main">
            <a:off x="9715500" y="2057400"/>
            <a:ext cx="1524000" cy="533400"/>
          </a:xfrm>
          <a:prstGeom xmlns:a="http://schemas.openxmlformats.org/drawingml/2006/main" prst="rect">
            <a:avLst/>
          </a:prstGeom>
          <a:solidFill xmlns:a="http://schemas.openxmlformats.org/drawingml/2006/main">
            <a:srgbClr val="F6F8FA"/>
          </a:solidFill>
          <a:ln xmlns:a="http://schemas.openxmlformats.org/drawingml/2006/main" w="9525">
            <a:solidFill>
              <a:srgbClr val="C6CDD5"/>
            </a:solidFill>
            <a:prstDash val="solid"/>
          </a:ln>
        </p:spPr>
      </p:sp>
      <p:sp>
        <p:nvSpPr>
          <p:cNvPr id="22" name="">
            <a:extLst xmlns:a="http://schemas.openxmlformats.org/drawingml/2006/main">
              <a:ext uri="{FF2B5EF4-FFF2-40B4-BE49-F238E27FC236}">
                <a16:creationId xmlns:a16="http://schemas.microsoft.com/office/drawing/2014/main" id="{C97632AC-C07F-4F7D-A635-519C4779097D}"/>
              </a:ext>
            </a:extLst>
          </p:cNvPr>
          <p:cNvSpPr>
            <a:spLocks xmlns:a="http://schemas.openxmlformats.org/drawingml/2006/main" noGrp="1"/>
          </p:cNvSpPr>
          <p:nvPr/>
        </p:nvSpPr>
        <p:spPr>
          <a:xfrm xmlns:a="http://schemas.openxmlformats.org/drawingml/2006/main">
            <a:off x="9829800" y="2219325"/>
            <a:ext cx="1295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350" b="1" i="0">
                <a:solidFill>
                  <a:srgbClr val="198754"/>
                </a:solidFill>
                <a:latin typeface="Helvetica Neue"/>
                <a:ea typeface="Helvetica Neue"/>
                <a:cs typeface="Helvetica Neue"/>
              </a:defRPr>
            </a:pPr>
            <a:r>
              <a:rPr sz="1350" b="1" i="0">
                <a:solidFill>
                  <a:srgbClr val="198754"/>
                </a:solidFill>
                <a:latin typeface="Helvetica Neue"/>
                <a:ea typeface="Helvetica Neue"/>
                <a:cs typeface="Helvetica Neue"/>
              </a:rPr>
              <a:t>PASS</a:t>
            </a:r>
          </a:p>
        </p:txBody>
      </p:sp>
      <p:sp>
        <p:nvSpPr>
          <p:cNvPr id="23" name="">
            <a:extLst xmlns:a="http://schemas.openxmlformats.org/drawingml/2006/main">
              <a:ext uri="{FF2B5EF4-FFF2-40B4-BE49-F238E27FC236}">
                <a16:creationId xmlns:a16="http://schemas.microsoft.com/office/drawing/2014/main" id="{17E3B700-F8E3-46AA-AE90-112654D18185}"/>
              </a:ext>
            </a:extLst>
          </p:cNvPr>
          <p:cNvSpPr>
            <a:spLocks xmlns:a="http://schemas.openxmlformats.org/drawingml/2006/main" noGrp="1"/>
          </p:cNvSpPr>
          <p:nvPr/>
        </p:nvSpPr>
        <p:spPr>
          <a:xfrm xmlns:a="http://schemas.openxmlformats.org/drawingml/2006/main">
            <a:off x="523875" y="2590800"/>
            <a:ext cx="3000375" cy="533400"/>
          </a:xfrm>
          <a:prstGeom xmlns:a="http://schemas.openxmlformats.org/drawingml/2006/main" prst="rect">
            <a:avLst/>
          </a:prstGeom>
          <a:solidFill xmlns:a="http://schemas.openxmlformats.org/drawingml/2006/main">
            <a:srgbClr val="FFFFFF"/>
          </a:solidFill>
          <a:ln xmlns:a="http://schemas.openxmlformats.org/drawingml/2006/main" w="9525">
            <a:solidFill>
              <a:srgbClr val="C6CDD5"/>
            </a:solidFill>
            <a:prstDash val="solid"/>
          </a:ln>
        </p:spPr>
      </p:sp>
      <p:sp>
        <p:nvSpPr>
          <p:cNvPr id="24" name="">
            <a:extLst xmlns:a="http://schemas.openxmlformats.org/drawingml/2006/main">
              <a:ext uri="{FF2B5EF4-FFF2-40B4-BE49-F238E27FC236}">
                <a16:creationId xmlns:a16="http://schemas.microsoft.com/office/drawing/2014/main" id="{6979EF88-694D-4DEF-AE94-9CA72516ED81}"/>
              </a:ext>
            </a:extLst>
          </p:cNvPr>
          <p:cNvSpPr>
            <a:spLocks xmlns:a="http://schemas.openxmlformats.org/drawingml/2006/main" noGrp="1"/>
          </p:cNvSpPr>
          <p:nvPr/>
        </p:nvSpPr>
        <p:spPr>
          <a:xfrm xmlns:a="http://schemas.openxmlformats.org/drawingml/2006/main">
            <a:off x="638175" y="2752725"/>
            <a:ext cx="277177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350" b="0" i="0">
                <a:solidFill>
                  <a:srgbClr val="141A24"/>
                </a:solidFill>
                <a:latin typeface="Helvetica Neue"/>
                <a:ea typeface="Helvetica Neue"/>
                <a:cs typeface="Helvetica Neue"/>
              </a:defRPr>
            </a:pPr>
            <a:r>
              <a:rPr sz="1350" b="0" i="0">
                <a:solidFill>
                  <a:srgbClr val="141A24"/>
                </a:solidFill>
                <a:latin typeface="Helvetica Neue"/>
                <a:ea typeface="Helvetica Neue"/>
                <a:cs typeface="Helvetica Neue"/>
              </a:rPr>
              <a:t>262k → 512k</a:t>
            </a:r>
          </a:p>
        </p:txBody>
      </p:sp>
      <p:sp>
        <p:nvSpPr>
          <p:cNvPr id="25" name="">
            <a:extLst xmlns:a="http://schemas.openxmlformats.org/drawingml/2006/main">
              <a:ext uri="{FF2B5EF4-FFF2-40B4-BE49-F238E27FC236}">
                <a16:creationId xmlns:a16="http://schemas.microsoft.com/office/drawing/2014/main" id="{661D4E77-C621-48F9-82D6-F544C8ACE607}"/>
              </a:ext>
            </a:extLst>
          </p:cNvPr>
          <p:cNvSpPr>
            <a:spLocks xmlns:a="http://schemas.openxmlformats.org/drawingml/2006/main" noGrp="1"/>
          </p:cNvSpPr>
          <p:nvPr/>
        </p:nvSpPr>
        <p:spPr>
          <a:xfrm xmlns:a="http://schemas.openxmlformats.org/drawingml/2006/main">
            <a:off x="3571875" y="2590800"/>
            <a:ext cx="1714500" cy="533400"/>
          </a:xfrm>
          <a:prstGeom xmlns:a="http://schemas.openxmlformats.org/drawingml/2006/main" prst="rect">
            <a:avLst/>
          </a:prstGeom>
          <a:solidFill xmlns:a="http://schemas.openxmlformats.org/drawingml/2006/main">
            <a:srgbClr val="FFFFFF"/>
          </a:solidFill>
          <a:ln xmlns:a="http://schemas.openxmlformats.org/drawingml/2006/main" w="9525">
            <a:solidFill>
              <a:srgbClr val="C6CDD5"/>
            </a:solidFill>
            <a:prstDash val="solid"/>
          </a:ln>
        </p:spPr>
      </p:sp>
      <p:sp>
        <p:nvSpPr>
          <p:cNvPr id="26" name="">
            <a:extLst xmlns:a="http://schemas.openxmlformats.org/drawingml/2006/main">
              <a:ext uri="{FF2B5EF4-FFF2-40B4-BE49-F238E27FC236}">
                <a16:creationId xmlns:a16="http://schemas.microsoft.com/office/drawing/2014/main" id="{1C74E995-9F63-4C96-8796-C93BAA35B6E8}"/>
              </a:ext>
            </a:extLst>
          </p:cNvPr>
          <p:cNvSpPr>
            <a:spLocks xmlns:a="http://schemas.openxmlformats.org/drawingml/2006/main" noGrp="1"/>
          </p:cNvSpPr>
          <p:nvPr/>
        </p:nvSpPr>
        <p:spPr>
          <a:xfrm xmlns:a="http://schemas.openxmlformats.org/drawingml/2006/main">
            <a:off x="3686175" y="2752725"/>
            <a:ext cx="1485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350" b="0" i="0">
                <a:solidFill>
                  <a:srgbClr val="141A24"/>
                </a:solidFill>
                <a:latin typeface="Helvetica Neue"/>
                <a:ea typeface="Helvetica Neue"/>
                <a:cs typeface="Helvetica Neue"/>
              </a:defRPr>
            </a:pPr>
            <a:r>
              <a:rPr sz="1350" b="0" i="0">
                <a:solidFill>
                  <a:srgbClr val="141A24"/>
                </a:solidFill>
                <a:latin typeface="Helvetica Neue"/>
                <a:ea typeface="Helvetica Neue"/>
                <a:cs typeface="Helvetica Neue"/>
              </a:rPr>
              <a:t>M₀</a:t>
            </a:r>
          </a:p>
        </p:txBody>
      </p:sp>
      <p:sp>
        <p:nvSpPr>
          <p:cNvPr id="27" name="">
            <a:extLst xmlns:a="http://schemas.openxmlformats.org/drawingml/2006/main">
              <a:ext uri="{FF2B5EF4-FFF2-40B4-BE49-F238E27FC236}">
                <a16:creationId xmlns:a16="http://schemas.microsoft.com/office/drawing/2014/main" id="{8E74CD43-9AFB-44A6-9702-95CAE3943A84}"/>
              </a:ext>
            </a:extLst>
          </p:cNvPr>
          <p:cNvSpPr>
            <a:spLocks xmlns:a="http://schemas.openxmlformats.org/drawingml/2006/main" noGrp="1"/>
          </p:cNvSpPr>
          <p:nvPr/>
        </p:nvSpPr>
        <p:spPr>
          <a:xfrm xmlns:a="http://schemas.openxmlformats.org/drawingml/2006/main">
            <a:off x="5381625" y="2590800"/>
            <a:ext cx="4238625" cy="533400"/>
          </a:xfrm>
          <a:prstGeom xmlns:a="http://schemas.openxmlformats.org/drawingml/2006/main" prst="rect">
            <a:avLst/>
          </a:prstGeom>
          <a:solidFill xmlns:a="http://schemas.openxmlformats.org/drawingml/2006/main">
            <a:srgbClr val="FFFFFF"/>
          </a:solidFill>
          <a:ln xmlns:a="http://schemas.openxmlformats.org/drawingml/2006/main" w="9525">
            <a:solidFill>
              <a:srgbClr val="C6CDD5"/>
            </a:solidFill>
            <a:prstDash val="solid"/>
          </a:ln>
        </p:spPr>
      </p:sp>
      <p:sp>
        <p:nvSpPr>
          <p:cNvPr id="28" name="">
            <a:extLst xmlns:a="http://schemas.openxmlformats.org/drawingml/2006/main">
              <a:ext uri="{FF2B5EF4-FFF2-40B4-BE49-F238E27FC236}">
                <a16:creationId xmlns:a16="http://schemas.microsoft.com/office/drawing/2014/main" id="{9EC5EF08-22E1-4829-97BA-93CB5FAFD1EE}"/>
              </a:ext>
            </a:extLst>
          </p:cNvPr>
          <p:cNvSpPr>
            <a:spLocks xmlns:a="http://schemas.openxmlformats.org/drawingml/2006/main" noGrp="1"/>
          </p:cNvSpPr>
          <p:nvPr/>
        </p:nvSpPr>
        <p:spPr>
          <a:xfrm xmlns:a="http://schemas.openxmlformats.org/drawingml/2006/main">
            <a:off x="5495925" y="2752725"/>
            <a:ext cx="401002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350" b="1" i="0">
                <a:solidFill>
                  <a:srgbClr val="141A24"/>
                </a:solidFill>
                <a:latin typeface="Helvetica Neue"/>
                <a:ea typeface="Helvetica Neue"/>
                <a:cs typeface="Helvetica Neue"/>
              </a:defRPr>
            </a:pPr>
            <a:r>
              <a:rPr sz="1350" b="1" i="0">
                <a:solidFill>
                  <a:srgbClr val="141A24"/>
                </a:solidFill>
                <a:latin typeface="Helvetica Neue"/>
                <a:ea typeface="Helvetica Neue"/>
                <a:cs typeface="Helvetica Neue"/>
              </a:rPr>
              <a:t>0.110 pp</a:t>
            </a:r>
          </a:p>
        </p:txBody>
      </p:sp>
      <p:sp>
        <p:nvSpPr>
          <p:cNvPr id="29" name="">
            <a:extLst xmlns:a="http://schemas.openxmlformats.org/drawingml/2006/main">
              <a:ext uri="{FF2B5EF4-FFF2-40B4-BE49-F238E27FC236}">
                <a16:creationId xmlns:a16="http://schemas.microsoft.com/office/drawing/2014/main" id="{A8D74B70-05BA-4E5B-872A-4BB0CD212716}"/>
              </a:ext>
            </a:extLst>
          </p:cNvPr>
          <p:cNvSpPr>
            <a:spLocks xmlns:a="http://schemas.openxmlformats.org/drawingml/2006/main" noGrp="1"/>
          </p:cNvSpPr>
          <p:nvPr/>
        </p:nvSpPr>
        <p:spPr>
          <a:xfrm xmlns:a="http://schemas.openxmlformats.org/drawingml/2006/main">
            <a:off x="9715500" y="2590800"/>
            <a:ext cx="1524000" cy="533400"/>
          </a:xfrm>
          <a:prstGeom xmlns:a="http://schemas.openxmlformats.org/drawingml/2006/main" prst="rect">
            <a:avLst/>
          </a:prstGeom>
          <a:solidFill xmlns:a="http://schemas.openxmlformats.org/drawingml/2006/main">
            <a:srgbClr val="FFFFFF"/>
          </a:solidFill>
          <a:ln xmlns:a="http://schemas.openxmlformats.org/drawingml/2006/main" w="9525">
            <a:solidFill>
              <a:srgbClr val="C6CDD5"/>
            </a:solidFill>
            <a:prstDash val="solid"/>
          </a:ln>
        </p:spPr>
      </p:sp>
      <p:sp>
        <p:nvSpPr>
          <p:cNvPr id="30" name="">
            <a:extLst xmlns:a="http://schemas.openxmlformats.org/drawingml/2006/main">
              <a:ext uri="{FF2B5EF4-FFF2-40B4-BE49-F238E27FC236}">
                <a16:creationId xmlns:a16="http://schemas.microsoft.com/office/drawing/2014/main" id="{E4D081A1-5C4F-4D03-8B46-41C62EDCF16D}"/>
              </a:ext>
            </a:extLst>
          </p:cNvPr>
          <p:cNvSpPr>
            <a:spLocks xmlns:a="http://schemas.openxmlformats.org/drawingml/2006/main" noGrp="1"/>
          </p:cNvSpPr>
          <p:nvPr/>
        </p:nvSpPr>
        <p:spPr>
          <a:xfrm xmlns:a="http://schemas.openxmlformats.org/drawingml/2006/main">
            <a:off x="9829800" y="2752725"/>
            <a:ext cx="1295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350" b="1" i="0">
                <a:solidFill>
                  <a:srgbClr val="198754"/>
                </a:solidFill>
                <a:latin typeface="Helvetica Neue"/>
                <a:ea typeface="Helvetica Neue"/>
                <a:cs typeface="Helvetica Neue"/>
              </a:defRPr>
            </a:pPr>
            <a:r>
              <a:rPr sz="1350" b="1" i="0">
                <a:solidFill>
                  <a:srgbClr val="198754"/>
                </a:solidFill>
                <a:latin typeface="Helvetica Neue"/>
                <a:ea typeface="Helvetica Neue"/>
                <a:cs typeface="Helvetica Neue"/>
              </a:rPr>
              <a:t>PASS</a:t>
            </a:r>
          </a:p>
        </p:txBody>
      </p:sp>
      <p:sp>
        <p:nvSpPr>
          <p:cNvPr id="31" name="">
            <a:extLst xmlns:a="http://schemas.openxmlformats.org/drawingml/2006/main">
              <a:ext uri="{FF2B5EF4-FFF2-40B4-BE49-F238E27FC236}">
                <a16:creationId xmlns:a16="http://schemas.microsoft.com/office/drawing/2014/main" id="{3CAFC127-CC6F-4829-A176-000E06B37708}"/>
              </a:ext>
            </a:extLst>
          </p:cNvPr>
          <p:cNvSpPr>
            <a:spLocks xmlns:a="http://schemas.openxmlformats.org/drawingml/2006/main" noGrp="1"/>
          </p:cNvSpPr>
          <p:nvPr/>
        </p:nvSpPr>
        <p:spPr>
          <a:xfrm xmlns:a="http://schemas.openxmlformats.org/drawingml/2006/main">
            <a:off x="523875" y="3124200"/>
            <a:ext cx="3000375" cy="533400"/>
          </a:xfrm>
          <a:prstGeom xmlns:a="http://schemas.openxmlformats.org/drawingml/2006/main" prst="rect">
            <a:avLst/>
          </a:prstGeom>
          <a:solidFill xmlns:a="http://schemas.openxmlformats.org/drawingml/2006/main">
            <a:srgbClr val="E8F5EC"/>
          </a:solidFill>
          <a:ln xmlns:a="http://schemas.openxmlformats.org/drawingml/2006/main" w="9525">
            <a:solidFill>
              <a:srgbClr val="C6CDD5"/>
            </a:solidFill>
            <a:prstDash val="solid"/>
          </a:ln>
        </p:spPr>
      </p:sp>
      <p:sp>
        <p:nvSpPr>
          <p:cNvPr id="32" name="">
            <a:extLst xmlns:a="http://schemas.openxmlformats.org/drawingml/2006/main">
              <a:ext uri="{FF2B5EF4-FFF2-40B4-BE49-F238E27FC236}">
                <a16:creationId xmlns:a16="http://schemas.microsoft.com/office/drawing/2014/main" id="{AC50DE7E-0146-4C50-9BEF-E9779A0D8E6C}"/>
              </a:ext>
            </a:extLst>
          </p:cNvPr>
          <p:cNvSpPr>
            <a:spLocks xmlns:a="http://schemas.openxmlformats.org/drawingml/2006/main" noGrp="1"/>
          </p:cNvSpPr>
          <p:nvPr/>
        </p:nvSpPr>
        <p:spPr>
          <a:xfrm xmlns:a="http://schemas.openxmlformats.org/drawingml/2006/main">
            <a:off x="638175" y="3286125"/>
            <a:ext cx="277177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350" b="1" i="0">
                <a:solidFill>
                  <a:srgbClr val="141A24"/>
                </a:solidFill>
                <a:latin typeface="Helvetica Neue"/>
                <a:ea typeface="Helvetica Neue"/>
                <a:cs typeface="Helvetica Neue"/>
              </a:defRPr>
            </a:pPr>
            <a:r>
              <a:rPr sz="1350" b="1" i="0">
                <a:solidFill>
                  <a:srgbClr val="141A24"/>
                </a:solidFill>
                <a:latin typeface="Helvetica Neue"/>
                <a:ea typeface="Helvetica Neue"/>
                <a:cs typeface="Helvetica Neue"/>
              </a:rPr>
              <a:t>262k → 512k</a:t>
            </a:r>
          </a:p>
        </p:txBody>
      </p:sp>
      <p:sp>
        <p:nvSpPr>
          <p:cNvPr id="33" name="">
            <a:extLst xmlns:a="http://schemas.openxmlformats.org/drawingml/2006/main">
              <a:ext uri="{FF2B5EF4-FFF2-40B4-BE49-F238E27FC236}">
                <a16:creationId xmlns:a16="http://schemas.microsoft.com/office/drawing/2014/main" id="{F0A96344-3A41-44F3-883A-B4F5F435A681}"/>
              </a:ext>
            </a:extLst>
          </p:cNvPr>
          <p:cNvSpPr>
            <a:spLocks xmlns:a="http://schemas.openxmlformats.org/drawingml/2006/main" noGrp="1"/>
          </p:cNvSpPr>
          <p:nvPr/>
        </p:nvSpPr>
        <p:spPr>
          <a:xfrm xmlns:a="http://schemas.openxmlformats.org/drawingml/2006/main">
            <a:off x="3571875" y="3124200"/>
            <a:ext cx="1714500" cy="533400"/>
          </a:xfrm>
          <a:prstGeom xmlns:a="http://schemas.openxmlformats.org/drawingml/2006/main" prst="rect">
            <a:avLst/>
          </a:prstGeom>
          <a:solidFill xmlns:a="http://schemas.openxmlformats.org/drawingml/2006/main">
            <a:srgbClr val="E8F5EC"/>
          </a:solidFill>
          <a:ln xmlns:a="http://schemas.openxmlformats.org/drawingml/2006/main" w="9525">
            <a:solidFill>
              <a:srgbClr val="C6CDD5"/>
            </a:solidFill>
            <a:prstDash val="solid"/>
          </a:ln>
        </p:spPr>
      </p:sp>
      <p:sp>
        <p:nvSpPr>
          <p:cNvPr id="34" name="">
            <a:extLst xmlns:a="http://schemas.openxmlformats.org/drawingml/2006/main">
              <a:ext uri="{FF2B5EF4-FFF2-40B4-BE49-F238E27FC236}">
                <a16:creationId xmlns:a16="http://schemas.microsoft.com/office/drawing/2014/main" id="{AC35AE68-3BDA-427C-B8AE-004EA8F231B1}"/>
              </a:ext>
            </a:extLst>
          </p:cNvPr>
          <p:cNvSpPr>
            <a:spLocks xmlns:a="http://schemas.openxmlformats.org/drawingml/2006/main" noGrp="1"/>
          </p:cNvSpPr>
          <p:nvPr/>
        </p:nvSpPr>
        <p:spPr>
          <a:xfrm xmlns:a="http://schemas.openxmlformats.org/drawingml/2006/main">
            <a:off x="3686175" y="3286125"/>
            <a:ext cx="1485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350" b="1" i="0">
                <a:solidFill>
                  <a:srgbClr val="141A24"/>
                </a:solidFill>
                <a:latin typeface="Helvetica Neue"/>
                <a:ea typeface="Helvetica Neue"/>
                <a:cs typeface="Helvetica Neue"/>
              </a:defRPr>
            </a:pPr>
            <a:r>
              <a:rPr sz="1350" b="1" i="0">
                <a:solidFill>
                  <a:srgbClr val="141A24"/>
                </a:solidFill>
                <a:latin typeface="Helvetica Neue"/>
                <a:ea typeface="Helvetica Neue"/>
                <a:cs typeface="Helvetica Neue"/>
              </a:rPr>
              <a:t>M₆</a:t>
            </a:r>
          </a:p>
        </p:txBody>
      </p:sp>
      <p:sp>
        <p:nvSpPr>
          <p:cNvPr id="35" name="">
            <a:extLst xmlns:a="http://schemas.openxmlformats.org/drawingml/2006/main">
              <a:ext uri="{FF2B5EF4-FFF2-40B4-BE49-F238E27FC236}">
                <a16:creationId xmlns:a16="http://schemas.microsoft.com/office/drawing/2014/main" id="{F742C0CD-C16C-41D6-A72F-ED69101FF035}"/>
              </a:ext>
            </a:extLst>
          </p:cNvPr>
          <p:cNvSpPr>
            <a:spLocks xmlns:a="http://schemas.openxmlformats.org/drawingml/2006/main" noGrp="1"/>
          </p:cNvSpPr>
          <p:nvPr/>
        </p:nvSpPr>
        <p:spPr>
          <a:xfrm xmlns:a="http://schemas.openxmlformats.org/drawingml/2006/main">
            <a:off x="5381625" y="3124200"/>
            <a:ext cx="4238625" cy="533400"/>
          </a:xfrm>
          <a:prstGeom xmlns:a="http://schemas.openxmlformats.org/drawingml/2006/main" prst="rect">
            <a:avLst/>
          </a:prstGeom>
          <a:solidFill xmlns:a="http://schemas.openxmlformats.org/drawingml/2006/main">
            <a:srgbClr val="E8F5EC"/>
          </a:solidFill>
          <a:ln xmlns:a="http://schemas.openxmlformats.org/drawingml/2006/main" w="9525">
            <a:solidFill>
              <a:srgbClr val="C6CDD5"/>
            </a:solidFill>
            <a:prstDash val="solid"/>
          </a:ln>
        </p:spPr>
      </p:sp>
      <p:sp>
        <p:nvSpPr>
          <p:cNvPr id="36" name="">
            <a:extLst xmlns:a="http://schemas.openxmlformats.org/drawingml/2006/main">
              <a:ext uri="{FF2B5EF4-FFF2-40B4-BE49-F238E27FC236}">
                <a16:creationId xmlns:a16="http://schemas.microsoft.com/office/drawing/2014/main" id="{80793335-C825-4D47-852F-CEB44B790F9E}"/>
              </a:ext>
            </a:extLst>
          </p:cNvPr>
          <p:cNvSpPr>
            <a:spLocks xmlns:a="http://schemas.openxmlformats.org/drawingml/2006/main" noGrp="1"/>
          </p:cNvSpPr>
          <p:nvPr/>
        </p:nvSpPr>
        <p:spPr>
          <a:xfrm xmlns:a="http://schemas.openxmlformats.org/drawingml/2006/main">
            <a:off x="5495925" y="3286125"/>
            <a:ext cx="401002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350" b="1" i="0">
                <a:solidFill>
                  <a:srgbClr val="141A24"/>
                </a:solidFill>
                <a:latin typeface="Helvetica Neue"/>
                <a:ea typeface="Helvetica Neue"/>
                <a:cs typeface="Helvetica Neue"/>
              </a:defRPr>
            </a:pPr>
            <a:r>
              <a:rPr sz="1350" b="1" i="0">
                <a:solidFill>
                  <a:srgbClr val="141A24"/>
                </a:solidFill>
                <a:latin typeface="Helvetica Neue"/>
                <a:ea typeface="Helvetica Neue"/>
                <a:cs typeface="Helvetica Neue"/>
              </a:rPr>
              <a:t>0.923 pp</a:t>
            </a:r>
          </a:p>
        </p:txBody>
      </p:sp>
      <p:sp>
        <p:nvSpPr>
          <p:cNvPr id="37" name="">
            <a:extLst xmlns:a="http://schemas.openxmlformats.org/drawingml/2006/main">
              <a:ext uri="{FF2B5EF4-FFF2-40B4-BE49-F238E27FC236}">
                <a16:creationId xmlns:a16="http://schemas.microsoft.com/office/drawing/2014/main" id="{313314C1-F9A1-4109-BF68-EE5E12B093A5}"/>
              </a:ext>
            </a:extLst>
          </p:cNvPr>
          <p:cNvSpPr>
            <a:spLocks xmlns:a="http://schemas.openxmlformats.org/drawingml/2006/main" noGrp="1"/>
          </p:cNvSpPr>
          <p:nvPr/>
        </p:nvSpPr>
        <p:spPr>
          <a:xfrm xmlns:a="http://schemas.openxmlformats.org/drawingml/2006/main">
            <a:off x="9715500" y="3124200"/>
            <a:ext cx="1524000" cy="533400"/>
          </a:xfrm>
          <a:prstGeom xmlns:a="http://schemas.openxmlformats.org/drawingml/2006/main" prst="rect">
            <a:avLst/>
          </a:prstGeom>
          <a:solidFill xmlns:a="http://schemas.openxmlformats.org/drawingml/2006/main">
            <a:srgbClr val="E8F5EC"/>
          </a:solidFill>
          <a:ln xmlns:a="http://schemas.openxmlformats.org/drawingml/2006/main" w="9525">
            <a:solidFill>
              <a:srgbClr val="C6CDD5"/>
            </a:solidFill>
            <a:prstDash val="solid"/>
          </a:ln>
        </p:spPr>
      </p:sp>
      <p:sp>
        <p:nvSpPr>
          <p:cNvPr id="38" name="">
            <a:extLst xmlns:a="http://schemas.openxmlformats.org/drawingml/2006/main">
              <a:ext uri="{FF2B5EF4-FFF2-40B4-BE49-F238E27FC236}">
                <a16:creationId xmlns:a16="http://schemas.microsoft.com/office/drawing/2014/main" id="{9D1BF1C4-1C52-4AA2-A3BC-B85E0AE299F6}"/>
              </a:ext>
            </a:extLst>
          </p:cNvPr>
          <p:cNvSpPr>
            <a:spLocks xmlns:a="http://schemas.openxmlformats.org/drawingml/2006/main" noGrp="1"/>
          </p:cNvSpPr>
          <p:nvPr/>
        </p:nvSpPr>
        <p:spPr>
          <a:xfrm xmlns:a="http://schemas.openxmlformats.org/drawingml/2006/main">
            <a:off x="9829800" y="3286125"/>
            <a:ext cx="1295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350" b="1" i="0">
                <a:solidFill>
                  <a:srgbClr val="198754"/>
                </a:solidFill>
                <a:latin typeface="Helvetica Neue"/>
                <a:ea typeface="Helvetica Neue"/>
                <a:cs typeface="Helvetica Neue"/>
              </a:defRPr>
            </a:pPr>
            <a:r>
              <a:rPr sz="1350" b="1" i="0">
                <a:solidFill>
                  <a:srgbClr val="198754"/>
                </a:solidFill>
                <a:latin typeface="Helvetica Neue"/>
                <a:ea typeface="Helvetica Neue"/>
                <a:cs typeface="Helvetica Neue"/>
              </a:rPr>
              <a:t>PASS</a:t>
            </a:r>
          </a:p>
        </p:txBody>
      </p:sp>
      <p:sp>
        <p:nvSpPr>
          <p:cNvPr id="39" name="">
            <a:extLst xmlns:a="http://schemas.openxmlformats.org/drawingml/2006/main">
              <a:ext uri="{FF2B5EF4-FFF2-40B4-BE49-F238E27FC236}">
                <a16:creationId xmlns:a16="http://schemas.microsoft.com/office/drawing/2014/main" id="{CA62B049-C347-4E95-9B7A-AACD10B3ED7D}"/>
              </a:ext>
            </a:extLst>
          </p:cNvPr>
          <p:cNvSpPr>
            <a:spLocks xmlns:a="http://schemas.openxmlformats.org/drawingml/2006/main" noGrp="1"/>
          </p:cNvSpPr>
          <p:nvPr/>
        </p:nvSpPr>
        <p:spPr>
          <a:xfrm xmlns:a="http://schemas.openxmlformats.org/drawingml/2006/main">
            <a:off x="523875" y="3657600"/>
            <a:ext cx="3000375" cy="533400"/>
          </a:xfrm>
          <a:prstGeom xmlns:a="http://schemas.openxmlformats.org/drawingml/2006/main" prst="rect">
            <a:avLst/>
          </a:prstGeom>
          <a:solidFill xmlns:a="http://schemas.openxmlformats.org/drawingml/2006/main">
            <a:srgbClr val="FFFFFF"/>
          </a:solidFill>
          <a:ln xmlns:a="http://schemas.openxmlformats.org/drawingml/2006/main" w="9525">
            <a:solidFill>
              <a:srgbClr val="C6CDD5"/>
            </a:solidFill>
            <a:prstDash val="solid"/>
          </a:ln>
        </p:spPr>
      </p:sp>
      <p:sp>
        <p:nvSpPr>
          <p:cNvPr id="40" name="">
            <a:extLst xmlns:a="http://schemas.openxmlformats.org/drawingml/2006/main">
              <a:ext uri="{FF2B5EF4-FFF2-40B4-BE49-F238E27FC236}">
                <a16:creationId xmlns:a16="http://schemas.microsoft.com/office/drawing/2014/main" id="{19AE71AD-8786-4816-9FF9-A6983569D33F}"/>
              </a:ext>
            </a:extLst>
          </p:cNvPr>
          <p:cNvSpPr>
            <a:spLocks xmlns:a="http://schemas.openxmlformats.org/drawingml/2006/main" noGrp="1"/>
          </p:cNvSpPr>
          <p:nvPr/>
        </p:nvSpPr>
        <p:spPr>
          <a:xfrm xmlns:a="http://schemas.openxmlformats.org/drawingml/2006/main">
            <a:off x="638175" y="3819525"/>
            <a:ext cx="277177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350" b="0" i="0">
                <a:solidFill>
                  <a:srgbClr val="141A24"/>
                </a:solidFill>
                <a:latin typeface="Helvetica Neue"/>
                <a:ea typeface="Helvetica Neue"/>
                <a:cs typeface="Helvetica Neue"/>
              </a:defRPr>
            </a:pPr>
            <a:r>
              <a:rPr sz="1350" b="0" i="0">
                <a:solidFill>
                  <a:srgbClr val="141A24"/>
                </a:solidFill>
                <a:latin typeface="Helvetica Neue"/>
                <a:ea typeface="Helvetica Neue"/>
                <a:cs typeface="Helvetica Neue"/>
              </a:rPr>
              <a:t>512k → 1,024k</a:t>
            </a:r>
          </a:p>
        </p:txBody>
      </p:sp>
      <p:sp>
        <p:nvSpPr>
          <p:cNvPr id="41" name="">
            <a:extLst xmlns:a="http://schemas.openxmlformats.org/drawingml/2006/main">
              <a:ext uri="{FF2B5EF4-FFF2-40B4-BE49-F238E27FC236}">
                <a16:creationId xmlns:a16="http://schemas.microsoft.com/office/drawing/2014/main" id="{93284640-649B-4D3C-9065-D9A5C95A61ED}"/>
              </a:ext>
            </a:extLst>
          </p:cNvPr>
          <p:cNvSpPr>
            <a:spLocks xmlns:a="http://schemas.openxmlformats.org/drawingml/2006/main" noGrp="1"/>
          </p:cNvSpPr>
          <p:nvPr/>
        </p:nvSpPr>
        <p:spPr>
          <a:xfrm xmlns:a="http://schemas.openxmlformats.org/drawingml/2006/main">
            <a:off x="3571875" y="3657600"/>
            <a:ext cx="1714500" cy="533400"/>
          </a:xfrm>
          <a:prstGeom xmlns:a="http://schemas.openxmlformats.org/drawingml/2006/main" prst="rect">
            <a:avLst/>
          </a:prstGeom>
          <a:solidFill xmlns:a="http://schemas.openxmlformats.org/drawingml/2006/main">
            <a:srgbClr val="FFFFFF"/>
          </a:solidFill>
          <a:ln xmlns:a="http://schemas.openxmlformats.org/drawingml/2006/main" w="9525">
            <a:solidFill>
              <a:srgbClr val="C6CDD5"/>
            </a:solidFill>
            <a:prstDash val="solid"/>
          </a:ln>
        </p:spPr>
      </p:sp>
      <p:sp>
        <p:nvSpPr>
          <p:cNvPr id="42" name="">
            <a:extLst xmlns:a="http://schemas.openxmlformats.org/drawingml/2006/main">
              <a:ext uri="{FF2B5EF4-FFF2-40B4-BE49-F238E27FC236}">
                <a16:creationId xmlns:a16="http://schemas.microsoft.com/office/drawing/2014/main" id="{0220A71A-68E6-4082-810F-3F31F00DB27B}"/>
              </a:ext>
            </a:extLst>
          </p:cNvPr>
          <p:cNvSpPr>
            <a:spLocks xmlns:a="http://schemas.openxmlformats.org/drawingml/2006/main" noGrp="1"/>
          </p:cNvSpPr>
          <p:nvPr/>
        </p:nvSpPr>
        <p:spPr>
          <a:xfrm xmlns:a="http://schemas.openxmlformats.org/drawingml/2006/main">
            <a:off x="3686175" y="3819525"/>
            <a:ext cx="1485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350" b="0" i="0">
                <a:solidFill>
                  <a:srgbClr val="141A24"/>
                </a:solidFill>
                <a:latin typeface="Helvetica Neue"/>
                <a:ea typeface="Helvetica Neue"/>
                <a:cs typeface="Helvetica Neue"/>
              </a:defRPr>
            </a:pPr>
            <a:r>
              <a:rPr sz="1350" b="0" i="0">
                <a:solidFill>
                  <a:srgbClr val="141A24"/>
                </a:solidFill>
                <a:latin typeface="Helvetica Neue"/>
                <a:ea typeface="Helvetica Neue"/>
                <a:cs typeface="Helvetica Neue"/>
              </a:rPr>
              <a:t>L1</a:t>
            </a:r>
          </a:p>
        </p:txBody>
      </p:sp>
      <p:sp>
        <p:nvSpPr>
          <p:cNvPr id="43" name="">
            <a:extLst xmlns:a="http://schemas.openxmlformats.org/drawingml/2006/main">
              <a:ext uri="{FF2B5EF4-FFF2-40B4-BE49-F238E27FC236}">
                <a16:creationId xmlns:a16="http://schemas.microsoft.com/office/drawing/2014/main" id="{755FAA13-68CA-4313-8E56-B2B017CE1515}"/>
              </a:ext>
            </a:extLst>
          </p:cNvPr>
          <p:cNvSpPr>
            <a:spLocks xmlns:a="http://schemas.openxmlformats.org/drawingml/2006/main" noGrp="1"/>
          </p:cNvSpPr>
          <p:nvPr/>
        </p:nvSpPr>
        <p:spPr>
          <a:xfrm xmlns:a="http://schemas.openxmlformats.org/drawingml/2006/main">
            <a:off x="5381625" y="3657600"/>
            <a:ext cx="4238625" cy="533400"/>
          </a:xfrm>
          <a:prstGeom xmlns:a="http://schemas.openxmlformats.org/drawingml/2006/main" prst="rect">
            <a:avLst/>
          </a:prstGeom>
          <a:solidFill xmlns:a="http://schemas.openxmlformats.org/drawingml/2006/main">
            <a:srgbClr val="FFFFFF"/>
          </a:solidFill>
          <a:ln xmlns:a="http://schemas.openxmlformats.org/drawingml/2006/main" w="9525">
            <a:solidFill>
              <a:srgbClr val="C6CDD5"/>
            </a:solidFill>
            <a:prstDash val="solid"/>
          </a:ln>
        </p:spPr>
      </p:sp>
      <p:sp>
        <p:nvSpPr>
          <p:cNvPr id="44" name="">
            <a:extLst xmlns:a="http://schemas.openxmlformats.org/drawingml/2006/main">
              <a:ext uri="{FF2B5EF4-FFF2-40B4-BE49-F238E27FC236}">
                <a16:creationId xmlns:a16="http://schemas.microsoft.com/office/drawing/2014/main" id="{5172E7F2-B5D0-413F-B1A1-73A5EB285854}"/>
              </a:ext>
            </a:extLst>
          </p:cNvPr>
          <p:cNvSpPr>
            <a:spLocks xmlns:a="http://schemas.openxmlformats.org/drawingml/2006/main" noGrp="1"/>
          </p:cNvSpPr>
          <p:nvPr/>
        </p:nvSpPr>
        <p:spPr>
          <a:xfrm xmlns:a="http://schemas.openxmlformats.org/drawingml/2006/main">
            <a:off x="5495925" y="3819525"/>
            <a:ext cx="401002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350" b="1" i="0">
                <a:solidFill>
                  <a:srgbClr val="141A24"/>
                </a:solidFill>
                <a:latin typeface="Helvetica Neue"/>
                <a:ea typeface="Helvetica Neue"/>
                <a:cs typeface="Helvetica Neue"/>
              </a:defRPr>
            </a:pPr>
            <a:r>
              <a:rPr sz="1350" b="1" i="0">
                <a:solidFill>
                  <a:srgbClr val="141A24"/>
                </a:solidFill>
                <a:latin typeface="Helvetica Neue"/>
                <a:ea typeface="Helvetica Neue"/>
                <a:cs typeface="Helvetica Neue"/>
              </a:rPr>
              <a:t>0.140 pp</a:t>
            </a:r>
          </a:p>
        </p:txBody>
      </p:sp>
      <p:sp>
        <p:nvSpPr>
          <p:cNvPr id="45" name="">
            <a:extLst xmlns:a="http://schemas.openxmlformats.org/drawingml/2006/main">
              <a:ext uri="{FF2B5EF4-FFF2-40B4-BE49-F238E27FC236}">
                <a16:creationId xmlns:a16="http://schemas.microsoft.com/office/drawing/2014/main" id="{D0E0C3BF-7820-42B1-9ECF-AA0E2F7D16BC}"/>
              </a:ext>
            </a:extLst>
          </p:cNvPr>
          <p:cNvSpPr>
            <a:spLocks xmlns:a="http://schemas.openxmlformats.org/drawingml/2006/main" noGrp="1"/>
          </p:cNvSpPr>
          <p:nvPr/>
        </p:nvSpPr>
        <p:spPr>
          <a:xfrm xmlns:a="http://schemas.openxmlformats.org/drawingml/2006/main">
            <a:off x="9715500" y="3657600"/>
            <a:ext cx="1524000" cy="533400"/>
          </a:xfrm>
          <a:prstGeom xmlns:a="http://schemas.openxmlformats.org/drawingml/2006/main" prst="rect">
            <a:avLst/>
          </a:prstGeom>
          <a:solidFill xmlns:a="http://schemas.openxmlformats.org/drawingml/2006/main">
            <a:srgbClr val="FFFFFF"/>
          </a:solidFill>
          <a:ln xmlns:a="http://schemas.openxmlformats.org/drawingml/2006/main" w="9525">
            <a:solidFill>
              <a:srgbClr val="C6CDD5"/>
            </a:solidFill>
            <a:prstDash val="solid"/>
          </a:ln>
        </p:spPr>
      </p:sp>
      <p:sp>
        <p:nvSpPr>
          <p:cNvPr id="46" name="">
            <a:extLst xmlns:a="http://schemas.openxmlformats.org/drawingml/2006/main">
              <a:ext uri="{FF2B5EF4-FFF2-40B4-BE49-F238E27FC236}">
                <a16:creationId xmlns:a16="http://schemas.microsoft.com/office/drawing/2014/main" id="{FF20759E-B2D4-4174-B222-39DEA3BD8F05}"/>
              </a:ext>
            </a:extLst>
          </p:cNvPr>
          <p:cNvSpPr>
            <a:spLocks xmlns:a="http://schemas.openxmlformats.org/drawingml/2006/main" noGrp="1"/>
          </p:cNvSpPr>
          <p:nvPr/>
        </p:nvSpPr>
        <p:spPr>
          <a:xfrm xmlns:a="http://schemas.openxmlformats.org/drawingml/2006/main">
            <a:off x="9829800" y="3819525"/>
            <a:ext cx="1295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350" b="1" i="0">
                <a:solidFill>
                  <a:srgbClr val="198754"/>
                </a:solidFill>
                <a:latin typeface="Helvetica Neue"/>
                <a:ea typeface="Helvetica Neue"/>
                <a:cs typeface="Helvetica Neue"/>
              </a:defRPr>
            </a:pPr>
            <a:r>
              <a:rPr sz="1350" b="1" i="0">
                <a:solidFill>
                  <a:srgbClr val="198754"/>
                </a:solidFill>
                <a:latin typeface="Helvetica Neue"/>
                <a:ea typeface="Helvetica Neue"/>
                <a:cs typeface="Helvetica Neue"/>
              </a:rPr>
              <a:t>PASS</a:t>
            </a:r>
          </a:p>
        </p:txBody>
      </p:sp>
      <p:sp>
        <p:nvSpPr>
          <p:cNvPr id="47" name="">
            <a:extLst xmlns:a="http://schemas.openxmlformats.org/drawingml/2006/main">
              <a:ext uri="{FF2B5EF4-FFF2-40B4-BE49-F238E27FC236}">
                <a16:creationId xmlns:a16="http://schemas.microsoft.com/office/drawing/2014/main" id="{F7F3B230-7B0B-41C9-9B3A-AFA850CA5825}"/>
              </a:ext>
            </a:extLst>
          </p:cNvPr>
          <p:cNvSpPr>
            <a:spLocks xmlns:a="http://schemas.openxmlformats.org/drawingml/2006/main" noGrp="1"/>
          </p:cNvSpPr>
          <p:nvPr/>
        </p:nvSpPr>
        <p:spPr>
          <a:xfrm xmlns:a="http://schemas.openxmlformats.org/drawingml/2006/main">
            <a:off x="523875" y="4191000"/>
            <a:ext cx="3000375" cy="533400"/>
          </a:xfrm>
          <a:prstGeom xmlns:a="http://schemas.openxmlformats.org/drawingml/2006/main" prst="rect">
            <a:avLst/>
          </a:prstGeom>
          <a:solidFill xmlns:a="http://schemas.openxmlformats.org/drawingml/2006/main">
            <a:srgbClr val="F6F8FA"/>
          </a:solidFill>
          <a:ln xmlns:a="http://schemas.openxmlformats.org/drawingml/2006/main" w="9525">
            <a:solidFill>
              <a:srgbClr val="C6CDD5"/>
            </a:solidFill>
            <a:prstDash val="solid"/>
          </a:ln>
        </p:spPr>
      </p:sp>
      <p:sp>
        <p:nvSpPr>
          <p:cNvPr id="48" name="">
            <a:extLst xmlns:a="http://schemas.openxmlformats.org/drawingml/2006/main">
              <a:ext uri="{FF2B5EF4-FFF2-40B4-BE49-F238E27FC236}">
                <a16:creationId xmlns:a16="http://schemas.microsoft.com/office/drawing/2014/main" id="{A5DB01B7-126F-4FE0-A7B9-619B71E9D25E}"/>
              </a:ext>
            </a:extLst>
          </p:cNvPr>
          <p:cNvSpPr>
            <a:spLocks xmlns:a="http://schemas.openxmlformats.org/drawingml/2006/main" noGrp="1"/>
          </p:cNvSpPr>
          <p:nvPr/>
        </p:nvSpPr>
        <p:spPr>
          <a:xfrm xmlns:a="http://schemas.openxmlformats.org/drawingml/2006/main">
            <a:off x="638175" y="4352925"/>
            <a:ext cx="277177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350" b="0" i="0">
                <a:solidFill>
                  <a:srgbClr val="141A24"/>
                </a:solidFill>
                <a:latin typeface="Helvetica Neue"/>
                <a:ea typeface="Helvetica Neue"/>
                <a:cs typeface="Helvetica Neue"/>
              </a:defRPr>
            </a:pPr>
            <a:r>
              <a:rPr sz="1350" b="0" i="0">
                <a:solidFill>
                  <a:srgbClr val="141A24"/>
                </a:solidFill>
                <a:latin typeface="Helvetica Neue"/>
                <a:ea typeface="Helvetica Neue"/>
                <a:cs typeface="Helvetica Neue"/>
              </a:rPr>
              <a:t>512k → 1,024k</a:t>
            </a:r>
          </a:p>
        </p:txBody>
      </p:sp>
      <p:sp>
        <p:nvSpPr>
          <p:cNvPr id="49" name="">
            <a:extLst xmlns:a="http://schemas.openxmlformats.org/drawingml/2006/main">
              <a:ext uri="{FF2B5EF4-FFF2-40B4-BE49-F238E27FC236}">
                <a16:creationId xmlns:a16="http://schemas.microsoft.com/office/drawing/2014/main" id="{1DB7C0FE-2CBF-48AB-A3CB-BFD21F65DB7C}"/>
              </a:ext>
            </a:extLst>
          </p:cNvPr>
          <p:cNvSpPr>
            <a:spLocks xmlns:a="http://schemas.openxmlformats.org/drawingml/2006/main" noGrp="1"/>
          </p:cNvSpPr>
          <p:nvPr/>
        </p:nvSpPr>
        <p:spPr>
          <a:xfrm xmlns:a="http://schemas.openxmlformats.org/drawingml/2006/main">
            <a:off x="3571875" y="4191000"/>
            <a:ext cx="1714500" cy="533400"/>
          </a:xfrm>
          <a:prstGeom xmlns:a="http://schemas.openxmlformats.org/drawingml/2006/main" prst="rect">
            <a:avLst/>
          </a:prstGeom>
          <a:solidFill xmlns:a="http://schemas.openxmlformats.org/drawingml/2006/main">
            <a:srgbClr val="F6F8FA"/>
          </a:solidFill>
          <a:ln xmlns:a="http://schemas.openxmlformats.org/drawingml/2006/main" w="9525">
            <a:solidFill>
              <a:srgbClr val="C6CDD5"/>
            </a:solidFill>
            <a:prstDash val="solid"/>
          </a:ln>
        </p:spPr>
      </p:sp>
      <p:sp>
        <p:nvSpPr>
          <p:cNvPr id="50" name="">
            <a:extLst xmlns:a="http://schemas.openxmlformats.org/drawingml/2006/main">
              <a:ext uri="{FF2B5EF4-FFF2-40B4-BE49-F238E27FC236}">
                <a16:creationId xmlns:a16="http://schemas.microsoft.com/office/drawing/2014/main" id="{86191F2E-BB1F-46C3-9235-424C6DC22D3A}"/>
              </a:ext>
            </a:extLst>
          </p:cNvPr>
          <p:cNvSpPr>
            <a:spLocks xmlns:a="http://schemas.openxmlformats.org/drawingml/2006/main" noGrp="1"/>
          </p:cNvSpPr>
          <p:nvPr/>
        </p:nvSpPr>
        <p:spPr>
          <a:xfrm xmlns:a="http://schemas.openxmlformats.org/drawingml/2006/main">
            <a:off x="3686175" y="4352925"/>
            <a:ext cx="1485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350" b="0" i="0">
                <a:solidFill>
                  <a:srgbClr val="141A24"/>
                </a:solidFill>
                <a:latin typeface="Helvetica Neue"/>
                <a:ea typeface="Helvetica Neue"/>
                <a:cs typeface="Helvetica Neue"/>
              </a:defRPr>
            </a:pPr>
            <a:r>
              <a:rPr sz="1350" b="0" i="0">
                <a:solidFill>
                  <a:srgbClr val="141A24"/>
                </a:solidFill>
                <a:latin typeface="Helvetica Neue"/>
                <a:ea typeface="Helvetica Neue"/>
                <a:cs typeface="Helvetica Neue"/>
              </a:rPr>
              <a:t>M₀</a:t>
            </a:r>
          </a:p>
        </p:txBody>
      </p:sp>
      <p:sp>
        <p:nvSpPr>
          <p:cNvPr id="51" name="">
            <a:extLst xmlns:a="http://schemas.openxmlformats.org/drawingml/2006/main">
              <a:ext uri="{FF2B5EF4-FFF2-40B4-BE49-F238E27FC236}">
                <a16:creationId xmlns:a16="http://schemas.microsoft.com/office/drawing/2014/main" id="{63A8C326-9605-4BC8-8C41-5307CC928D14}"/>
              </a:ext>
            </a:extLst>
          </p:cNvPr>
          <p:cNvSpPr>
            <a:spLocks xmlns:a="http://schemas.openxmlformats.org/drawingml/2006/main" noGrp="1"/>
          </p:cNvSpPr>
          <p:nvPr/>
        </p:nvSpPr>
        <p:spPr>
          <a:xfrm xmlns:a="http://schemas.openxmlformats.org/drawingml/2006/main">
            <a:off x="5381625" y="4191000"/>
            <a:ext cx="4238625" cy="533400"/>
          </a:xfrm>
          <a:prstGeom xmlns:a="http://schemas.openxmlformats.org/drawingml/2006/main" prst="rect">
            <a:avLst/>
          </a:prstGeom>
          <a:solidFill xmlns:a="http://schemas.openxmlformats.org/drawingml/2006/main">
            <a:srgbClr val="F6F8FA"/>
          </a:solidFill>
          <a:ln xmlns:a="http://schemas.openxmlformats.org/drawingml/2006/main" w="9525">
            <a:solidFill>
              <a:srgbClr val="C6CDD5"/>
            </a:solidFill>
            <a:prstDash val="solid"/>
          </a:ln>
        </p:spPr>
      </p:sp>
      <p:sp>
        <p:nvSpPr>
          <p:cNvPr id="52" name="">
            <a:extLst xmlns:a="http://schemas.openxmlformats.org/drawingml/2006/main">
              <a:ext uri="{FF2B5EF4-FFF2-40B4-BE49-F238E27FC236}">
                <a16:creationId xmlns:a16="http://schemas.microsoft.com/office/drawing/2014/main" id="{F0C31BE5-BDE6-495E-ABC4-5B99A4DCA8EC}"/>
              </a:ext>
            </a:extLst>
          </p:cNvPr>
          <p:cNvSpPr>
            <a:spLocks xmlns:a="http://schemas.openxmlformats.org/drawingml/2006/main" noGrp="1"/>
          </p:cNvSpPr>
          <p:nvPr/>
        </p:nvSpPr>
        <p:spPr>
          <a:xfrm xmlns:a="http://schemas.openxmlformats.org/drawingml/2006/main">
            <a:off x="5495925" y="4352925"/>
            <a:ext cx="401002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350" b="1" i="0">
                <a:solidFill>
                  <a:srgbClr val="141A24"/>
                </a:solidFill>
                <a:latin typeface="Helvetica Neue"/>
                <a:ea typeface="Helvetica Neue"/>
                <a:cs typeface="Helvetica Neue"/>
              </a:defRPr>
            </a:pPr>
            <a:r>
              <a:rPr sz="1350" b="1" i="0">
                <a:solidFill>
                  <a:srgbClr val="141A24"/>
                </a:solidFill>
                <a:latin typeface="Helvetica Neue"/>
                <a:ea typeface="Helvetica Neue"/>
                <a:cs typeface="Helvetica Neue"/>
              </a:rPr>
              <a:t>0.067 pp</a:t>
            </a:r>
          </a:p>
        </p:txBody>
      </p:sp>
      <p:sp>
        <p:nvSpPr>
          <p:cNvPr id="53" name="">
            <a:extLst xmlns:a="http://schemas.openxmlformats.org/drawingml/2006/main">
              <a:ext uri="{FF2B5EF4-FFF2-40B4-BE49-F238E27FC236}">
                <a16:creationId xmlns:a16="http://schemas.microsoft.com/office/drawing/2014/main" id="{7AA66666-D120-4115-95FA-EE2AFEFF07CC}"/>
              </a:ext>
            </a:extLst>
          </p:cNvPr>
          <p:cNvSpPr>
            <a:spLocks xmlns:a="http://schemas.openxmlformats.org/drawingml/2006/main" noGrp="1"/>
          </p:cNvSpPr>
          <p:nvPr/>
        </p:nvSpPr>
        <p:spPr>
          <a:xfrm xmlns:a="http://schemas.openxmlformats.org/drawingml/2006/main">
            <a:off x="9715500" y="4191000"/>
            <a:ext cx="1524000" cy="533400"/>
          </a:xfrm>
          <a:prstGeom xmlns:a="http://schemas.openxmlformats.org/drawingml/2006/main" prst="rect">
            <a:avLst/>
          </a:prstGeom>
          <a:solidFill xmlns:a="http://schemas.openxmlformats.org/drawingml/2006/main">
            <a:srgbClr val="F6F8FA"/>
          </a:solidFill>
          <a:ln xmlns:a="http://schemas.openxmlformats.org/drawingml/2006/main" w="9525">
            <a:solidFill>
              <a:srgbClr val="C6CDD5"/>
            </a:solidFill>
            <a:prstDash val="solid"/>
          </a:ln>
        </p:spPr>
      </p:sp>
      <p:sp>
        <p:nvSpPr>
          <p:cNvPr id="54" name="">
            <a:extLst xmlns:a="http://schemas.openxmlformats.org/drawingml/2006/main">
              <a:ext uri="{FF2B5EF4-FFF2-40B4-BE49-F238E27FC236}">
                <a16:creationId xmlns:a16="http://schemas.microsoft.com/office/drawing/2014/main" id="{F5356129-5BA7-40FE-8586-20ECCE9FD498}"/>
              </a:ext>
            </a:extLst>
          </p:cNvPr>
          <p:cNvSpPr>
            <a:spLocks xmlns:a="http://schemas.openxmlformats.org/drawingml/2006/main" noGrp="1"/>
          </p:cNvSpPr>
          <p:nvPr/>
        </p:nvSpPr>
        <p:spPr>
          <a:xfrm xmlns:a="http://schemas.openxmlformats.org/drawingml/2006/main">
            <a:off x="9829800" y="4352925"/>
            <a:ext cx="1295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350" b="1" i="0">
                <a:solidFill>
                  <a:srgbClr val="198754"/>
                </a:solidFill>
                <a:latin typeface="Helvetica Neue"/>
                <a:ea typeface="Helvetica Neue"/>
                <a:cs typeface="Helvetica Neue"/>
              </a:defRPr>
            </a:pPr>
            <a:r>
              <a:rPr sz="1350" b="1" i="0">
                <a:solidFill>
                  <a:srgbClr val="198754"/>
                </a:solidFill>
                <a:latin typeface="Helvetica Neue"/>
                <a:ea typeface="Helvetica Neue"/>
                <a:cs typeface="Helvetica Neue"/>
              </a:rPr>
              <a:t>PASS</a:t>
            </a:r>
          </a:p>
        </p:txBody>
      </p:sp>
      <p:sp>
        <p:nvSpPr>
          <p:cNvPr id="55" name="">
            <a:extLst xmlns:a="http://schemas.openxmlformats.org/drawingml/2006/main">
              <a:ext uri="{FF2B5EF4-FFF2-40B4-BE49-F238E27FC236}">
                <a16:creationId xmlns:a16="http://schemas.microsoft.com/office/drawing/2014/main" id="{B19AC7E5-C4CB-4994-8D4E-4A48066EEB7D}"/>
              </a:ext>
            </a:extLst>
          </p:cNvPr>
          <p:cNvSpPr>
            <a:spLocks xmlns:a="http://schemas.openxmlformats.org/drawingml/2006/main" noGrp="1"/>
          </p:cNvSpPr>
          <p:nvPr/>
        </p:nvSpPr>
        <p:spPr>
          <a:xfrm xmlns:a="http://schemas.openxmlformats.org/drawingml/2006/main">
            <a:off x="523875" y="4724400"/>
            <a:ext cx="3000375" cy="533400"/>
          </a:xfrm>
          <a:prstGeom xmlns:a="http://schemas.openxmlformats.org/drawingml/2006/main" prst="rect">
            <a:avLst/>
          </a:prstGeom>
          <a:solidFill xmlns:a="http://schemas.openxmlformats.org/drawingml/2006/main">
            <a:srgbClr val="FFFFFF"/>
          </a:solidFill>
          <a:ln xmlns:a="http://schemas.openxmlformats.org/drawingml/2006/main" w="9525">
            <a:solidFill>
              <a:srgbClr val="C6CDD5"/>
            </a:solidFill>
            <a:prstDash val="solid"/>
          </a:ln>
        </p:spPr>
      </p:sp>
      <p:sp>
        <p:nvSpPr>
          <p:cNvPr id="56" name="">
            <a:extLst xmlns:a="http://schemas.openxmlformats.org/drawingml/2006/main">
              <a:ext uri="{FF2B5EF4-FFF2-40B4-BE49-F238E27FC236}">
                <a16:creationId xmlns:a16="http://schemas.microsoft.com/office/drawing/2014/main" id="{B3D368A6-3DFD-47AB-94C7-0D7B8C045742}"/>
              </a:ext>
            </a:extLst>
          </p:cNvPr>
          <p:cNvSpPr>
            <a:spLocks xmlns:a="http://schemas.openxmlformats.org/drawingml/2006/main" noGrp="1"/>
          </p:cNvSpPr>
          <p:nvPr/>
        </p:nvSpPr>
        <p:spPr>
          <a:xfrm xmlns:a="http://schemas.openxmlformats.org/drawingml/2006/main">
            <a:off x="638175" y="4886325"/>
            <a:ext cx="277177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350" b="0" i="0">
                <a:solidFill>
                  <a:srgbClr val="141A24"/>
                </a:solidFill>
                <a:latin typeface="Helvetica Neue"/>
                <a:ea typeface="Helvetica Neue"/>
                <a:cs typeface="Helvetica Neue"/>
              </a:defRPr>
            </a:pPr>
            <a:r>
              <a:rPr sz="1350" b="0" i="0">
                <a:solidFill>
                  <a:srgbClr val="141A24"/>
                </a:solidFill>
                <a:latin typeface="Helvetica Neue"/>
                <a:ea typeface="Helvetica Neue"/>
                <a:cs typeface="Helvetica Neue"/>
              </a:rPr>
              <a:t>512k → 1,024k</a:t>
            </a:r>
          </a:p>
        </p:txBody>
      </p:sp>
      <p:sp>
        <p:nvSpPr>
          <p:cNvPr id="57" name="">
            <a:extLst xmlns:a="http://schemas.openxmlformats.org/drawingml/2006/main">
              <a:ext uri="{FF2B5EF4-FFF2-40B4-BE49-F238E27FC236}">
                <a16:creationId xmlns:a16="http://schemas.microsoft.com/office/drawing/2014/main" id="{77A97255-CD31-4538-BCC0-61864593B6B5}"/>
              </a:ext>
            </a:extLst>
          </p:cNvPr>
          <p:cNvSpPr>
            <a:spLocks xmlns:a="http://schemas.openxmlformats.org/drawingml/2006/main" noGrp="1"/>
          </p:cNvSpPr>
          <p:nvPr/>
        </p:nvSpPr>
        <p:spPr>
          <a:xfrm xmlns:a="http://schemas.openxmlformats.org/drawingml/2006/main">
            <a:off x="3571875" y="4724400"/>
            <a:ext cx="1714500" cy="533400"/>
          </a:xfrm>
          <a:prstGeom xmlns:a="http://schemas.openxmlformats.org/drawingml/2006/main" prst="rect">
            <a:avLst/>
          </a:prstGeom>
          <a:solidFill xmlns:a="http://schemas.openxmlformats.org/drawingml/2006/main">
            <a:srgbClr val="FFFFFF"/>
          </a:solidFill>
          <a:ln xmlns:a="http://schemas.openxmlformats.org/drawingml/2006/main" w="9525">
            <a:solidFill>
              <a:srgbClr val="C6CDD5"/>
            </a:solidFill>
            <a:prstDash val="solid"/>
          </a:ln>
        </p:spPr>
      </p:sp>
      <p:sp>
        <p:nvSpPr>
          <p:cNvPr id="58" name="">
            <a:extLst xmlns:a="http://schemas.openxmlformats.org/drawingml/2006/main">
              <a:ext uri="{FF2B5EF4-FFF2-40B4-BE49-F238E27FC236}">
                <a16:creationId xmlns:a16="http://schemas.microsoft.com/office/drawing/2014/main" id="{DCE41F0C-10EA-429A-BFEF-7BD635DD4DE9}"/>
              </a:ext>
            </a:extLst>
          </p:cNvPr>
          <p:cNvSpPr>
            <a:spLocks xmlns:a="http://schemas.openxmlformats.org/drawingml/2006/main" noGrp="1"/>
          </p:cNvSpPr>
          <p:nvPr/>
        </p:nvSpPr>
        <p:spPr>
          <a:xfrm xmlns:a="http://schemas.openxmlformats.org/drawingml/2006/main">
            <a:off x="3686175" y="4886325"/>
            <a:ext cx="1485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350" b="0" i="0">
                <a:solidFill>
                  <a:srgbClr val="141A24"/>
                </a:solidFill>
                <a:latin typeface="Helvetica Neue"/>
                <a:ea typeface="Helvetica Neue"/>
                <a:cs typeface="Helvetica Neue"/>
              </a:defRPr>
            </a:pPr>
            <a:r>
              <a:rPr sz="1350" b="0" i="0">
                <a:solidFill>
                  <a:srgbClr val="141A24"/>
                </a:solidFill>
                <a:latin typeface="Helvetica Neue"/>
                <a:ea typeface="Helvetica Neue"/>
                <a:cs typeface="Helvetica Neue"/>
              </a:rPr>
              <a:t>M₆</a:t>
            </a:r>
          </a:p>
        </p:txBody>
      </p:sp>
      <p:sp>
        <p:nvSpPr>
          <p:cNvPr id="59" name="">
            <a:extLst xmlns:a="http://schemas.openxmlformats.org/drawingml/2006/main">
              <a:ext uri="{FF2B5EF4-FFF2-40B4-BE49-F238E27FC236}">
                <a16:creationId xmlns:a16="http://schemas.microsoft.com/office/drawing/2014/main" id="{EA7F6B3B-E309-4232-A314-B14B0D1B6042}"/>
              </a:ext>
            </a:extLst>
          </p:cNvPr>
          <p:cNvSpPr>
            <a:spLocks xmlns:a="http://schemas.openxmlformats.org/drawingml/2006/main" noGrp="1"/>
          </p:cNvSpPr>
          <p:nvPr/>
        </p:nvSpPr>
        <p:spPr>
          <a:xfrm xmlns:a="http://schemas.openxmlformats.org/drawingml/2006/main">
            <a:off x="5381625" y="4724400"/>
            <a:ext cx="4238625" cy="533400"/>
          </a:xfrm>
          <a:prstGeom xmlns:a="http://schemas.openxmlformats.org/drawingml/2006/main" prst="rect">
            <a:avLst/>
          </a:prstGeom>
          <a:solidFill xmlns:a="http://schemas.openxmlformats.org/drawingml/2006/main">
            <a:srgbClr val="FFFFFF"/>
          </a:solidFill>
          <a:ln xmlns:a="http://schemas.openxmlformats.org/drawingml/2006/main" w="9525">
            <a:solidFill>
              <a:srgbClr val="C6CDD5"/>
            </a:solidFill>
            <a:prstDash val="solid"/>
          </a:ln>
        </p:spPr>
      </p:sp>
      <p:sp>
        <p:nvSpPr>
          <p:cNvPr id="60" name="">
            <a:extLst xmlns:a="http://schemas.openxmlformats.org/drawingml/2006/main">
              <a:ext uri="{FF2B5EF4-FFF2-40B4-BE49-F238E27FC236}">
                <a16:creationId xmlns:a16="http://schemas.microsoft.com/office/drawing/2014/main" id="{B7A8B64B-BA56-4D7E-8A71-B7A8C229FB2B}"/>
              </a:ext>
            </a:extLst>
          </p:cNvPr>
          <p:cNvSpPr>
            <a:spLocks xmlns:a="http://schemas.openxmlformats.org/drawingml/2006/main" noGrp="1"/>
          </p:cNvSpPr>
          <p:nvPr/>
        </p:nvSpPr>
        <p:spPr>
          <a:xfrm xmlns:a="http://schemas.openxmlformats.org/drawingml/2006/main">
            <a:off x="5495925" y="4886325"/>
            <a:ext cx="401002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350" b="1" i="0">
                <a:solidFill>
                  <a:srgbClr val="141A24"/>
                </a:solidFill>
                <a:latin typeface="Helvetica Neue"/>
                <a:ea typeface="Helvetica Neue"/>
                <a:cs typeface="Helvetica Neue"/>
              </a:defRPr>
            </a:pPr>
            <a:r>
              <a:rPr sz="1350" b="1" i="0">
                <a:solidFill>
                  <a:srgbClr val="141A24"/>
                </a:solidFill>
                <a:latin typeface="Helvetica Neue"/>
                <a:ea typeface="Helvetica Neue"/>
                <a:cs typeface="Helvetica Neue"/>
              </a:rPr>
              <a:t>0.490 pp</a:t>
            </a:r>
          </a:p>
        </p:txBody>
      </p:sp>
      <p:sp>
        <p:nvSpPr>
          <p:cNvPr id="61" name="">
            <a:extLst xmlns:a="http://schemas.openxmlformats.org/drawingml/2006/main">
              <a:ext uri="{FF2B5EF4-FFF2-40B4-BE49-F238E27FC236}">
                <a16:creationId xmlns:a16="http://schemas.microsoft.com/office/drawing/2014/main" id="{22F76316-D52A-4EB5-B1D0-F74F2F2BFACF}"/>
              </a:ext>
            </a:extLst>
          </p:cNvPr>
          <p:cNvSpPr>
            <a:spLocks xmlns:a="http://schemas.openxmlformats.org/drawingml/2006/main" noGrp="1"/>
          </p:cNvSpPr>
          <p:nvPr/>
        </p:nvSpPr>
        <p:spPr>
          <a:xfrm xmlns:a="http://schemas.openxmlformats.org/drawingml/2006/main">
            <a:off x="9715500" y="4724400"/>
            <a:ext cx="1524000" cy="533400"/>
          </a:xfrm>
          <a:prstGeom xmlns:a="http://schemas.openxmlformats.org/drawingml/2006/main" prst="rect">
            <a:avLst/>
          </a:prstGeom>
          <a:solidFill xmlns:a="http://schemas.openxmlformats.org/drawingml/2006/main">
            <a:srgbClr val="FFFFFF"/>
          </a:solidFill>
          <a:ln xmlns:a="http://schemas.openxmlformats.org/drawingml/2006/main" w="9525">
            <a:solidFill>
              <a:srgbClr val="C6CDD5"/>
            </a:solidFill>
            <a:prstDash val="solid"/>
          </a:ln>
        </p:spPr>
      </p:sp>
      <p:sp>
        <p:nvSpPr>
          <p:cNvPr id="62" name="">
            <a:extLst xmlns:a="http://schemas.openxmlformats.org/drawingml/2006/main">
              <a:ext uri="{FF2B5EF4-FFF2-40B4-BE49-F238E27FC236}">
                <a16:creationId xmlns:a16="http://schemas.microsoft.com/office/drawing/2014/main" id="{9F47CE44-56C2-409E-BAFF-89D4E04A1607}"/>
              </a:ext>
            </a:extLst>
          </p:cNvPr>
          <p:cNvSpPr>
            <a:spLocks xmlns:a="http://schemas.openxmlformats.org/drawingml/2006/main" noGrp="1"/>
          </p:cNvSpPr>
          <p:nvPr/>
        </p:nvSpPr>
        <p:spPr>
          <a:xfrm xmlns:a="http://schemas.openxmlformats.org/drawingml/2006/main">
            <a:off x="9829800" y="4886325"/>
            <a:ext cx="1295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350" b="1" i="0">
                <a:solidFill>
                  <a:srgbClr val="198754"/>
                </a:solidFill>
                <a:latin typeface="Helvetica Neue"/>
                <a:ea typeface="Helvetica Neue"/>
                <a:cs typeface="Helvetica Neue"/>
              </a:defRPr>
            </a:pPr>
            <a:r>
              <a:rPr sz="1350" b="1" i="0">
                <a:solidFill>
                  <a:srgbClr val="198754"/>
                </a:solidFill>
                <a:latin typeface="Helvetica Neue"/>
                <a:ea typeface="Helvetica Neue"/>
                <a:cs typeface="Helvetica Neue"/>
              </a:rPr>
              <a:t>PASS</a:t>
            </a:r>
          </a:p>
        </p:txBody>
      </p:sp>
      <p:sp>
        <p:nvSpPr>
          <p:cNvPr id="63" name="">
            <a:extLst xmlns:a="http://schemas.openxmlformats.org/drawingml/2006/main">
              <a:ext uri="{FF2B5EF4-FFF2-40B4-BE49-F238E27FC236}">
                <a16:creationId xmlns:a16="http://schemas.microsoft.com/office/drawing/2014/main" id="{01D67783-D301-4C43-B611-2279B12C047F}"/>
              </a:ext>
            </a:extLst>
          </p:cNvPr>
          <p:cNvSpPr>
            <a:spLocks xmlns:a="http://schemas.openxmlformats.org/drawingml/2006/main" noGrp="1"/>
          </p:cNvSpPr>
          <p:nvPr/>
        </p:nvSpPr>
        <p:spPr>
          <a:xfrm xmlns:a="http://schemas.openxmlformats.org/drawingml/2006/main">
            <a:off x="523875" y="5372100"/>
            <a:ext cx="10477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75" b="1" i="0">
                <a:solidFill>
                  <a:srgbClr val="4D3C93"/>
                </a:solidFill>
                <a:latin typeface="Helvetica Neue"/>
                <a:ea typeface="Helvetica Neue"/>
                <a:cs typeface="Helvetica Neue"/>
              </a:defRPr>
            </a:pPr>
            <a:r>
              <a:rPr sz="1575" b="1" i="0">
                <a:solidFill>
                  <a:srgbClr val="4D3C93"/>
                </a:solidFill>
                <a:latin typeface="Helvetica Neue"/>
                <a:ea typeface="Helvetica Neue"/>
                <a:cs typeface="Helvetica Neue"/>
              </a:rPr>
              <a:t>Acceptance threshold = 1.000 pp. The closest row is M₆ at 262k → 512k: 0.923 pp at 3600 s.</a:t>
            </a:r>
          </a:p>
        </p:txBody>
      </p:sp>
    </p:spTree>
    <p:extLst>
      <p:ext uri="{BB962C8B-B14F-4D97-AF65-F5344CB8AC3E}">
        <p14:creationId xmlns:p14="http://schemas.microsoft.com/office/powerpoint/2010/main" val="1804698516"/>
      </p:ext>
    </p:extLst>
  </p:cSld>
</p:sld>
</file>

<file path=ppt/slides/slide14.xml><?xml version="1.0" encoding="utf-8"?>
<p:sld xmlns:p="http://schemas.openxmlformats.org/presentationml/2006/main">
  <p:cSld>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3880A768-C2E1-489D-AADA-18813DCEB403}"/>
              </a:ext>
            </a:extLst>
          </p:cNvPr>
          <p:cNvSpPr>
            <a:spLocks xmlns:a="http://schemas.openxmlformats.org/drawingml/2006/main" noGrp="1"/>
          </p:cNvSpPr>
          <p:nvPr/>
        </p:nvSpPr>
        <p:spPr>
          <a:xfrm xmlns:a="http://schemas.openxmlformats.org/drawingml/2006/main">
            <a:off x="400050" y="285750"/>
            <a:ext cx="7239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1" i="0">
                <a:solidFill>
                  <a:srgbClr val="1774D1"/>
                </a:solidFill>
                <a:latin typeface="Helvetica Neue"/>
                <a:ea typeface="Helvetica Neue"/>
                <a:cs typeface="Helvetica Neue"/>
              </a:defRPr>
            </a:pPr>
            <a:r>
              <a:rPr sz="900" b="1" i="0">
                <a:solidFill>
                  <a:srgbClr val="1774D1"/>
                </a:solidFill>
                <a:latin typeface="Helvetica Neue"/>
                <a:ea typeface="Helvetica Neue"/>
                <a:cs typeface="Helvetica Neue"/>
              </a:rPr>
              <a:t>GOLOVIN CONVERGENCE CALIBRATION</a:t>
            </a:r>
          </a:p>
        </p:txBody>
      </p:sp>
      <p:sp>
        <p:nvSpPr>
          <p:cNvPr id="2" name="">
            <a:extLst xmlns:a="http://schemas.openxmlformats.org/drawingml/2006/main">
              <a:ext uri="{FF2B5EF4-FFF2-40B4-BE49-F238E27FC236}">
                <a16:creationId xmlns:a16="http://schemas.microsoft.com/office/drawing/2014/main" id="{613D6C25-9559-49E5-B582-152CB44FA386}"/>
              </a:ext>
            </a:extLst>
          </p:cNvPr>
          <p:cNvSpPr>
            <a:spLocks xmlns:a="http://schemas.openxmlformats.org/drawingml/2006/main" noGrp="1"/>
          </p:cNvSpPr>
          <p:nvPr/>
        </p:nvSpPr>
        <p:spPr>
          <a:xfrm xmlns:a="http://schemas.openxmlformats.org/drawingml/2006/main">
            <a:off x="400050" y="590550"/>
            <a:ext cx="113728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625" b="1" i="0">
                <a:solidFill>
                  <a:srgbClr val="141A24"/>
                </a:solidFill>
                <a:latin typeface="Helvetica Neue"/>
                <a:ea typeface="Helvetica Neue"/>
                <a:cs typeface="Helvetica Neue"/>
              </a:defRPr>
            </a:pPr>
            <a:r>
              <a:rPr sz="2625" b="1" i="0">
                <a:solidFill>
                  <a:srgbClr val="141A24"/>
                </a:solidFill>
                <a:latin typeface="Helvetica Neue"/>
                <a:ea typeface="Helvetica Neue"/>
                <a:cs typeface="Helvetica Neue"/>
              </a:rPr>
              <a:t>Accuracy, conservation and range coverage also pass at every targeted level</a:t>
            </a:r>
          </a:p>
        </p:txBody>
      </p:sp>
      <p:cxnSp>
        <p:nvCxnSpPr>
          <p:cNvPr id="16" name=""/>
          <p:cNvCxnSpPr/>
          <p:nvPr/>
        </p:nvCxnSpPr>
        <p:spPr>
          <a:xfrm xmlns:a="http://schemas.openxmlformats.org/drawingml/2006/main">
            <a:off x="400050" y="6343650"/>
            <a:ext cx="11391900" cy="0"/>
          </a:xfrm>
          <a:prstGeom xmlns:a="http://schemas.openxmlformats.org/drawingml/2006/main" prst="straightConnector1">
            <a:avLst/>
          </a:prstGeom>
          <a:ln xmlns:a="http://schemas.openxmlformats.org/drawingml/2006/main" w="9525">
            <a:solidFill>
              <a:srgbClr val="C6CDD5"/>
            </a:solidFill>
            <a:prstDash val="solid"/>
          </a:ln>
        </p:spPr>
      </p:cxnSp>
      <p:sp>
        <p:nvSpPr>
          <p:cNvPr id="4" name="">
            <a:extLst xmlns:a="http://schemas.openxmlformats.org/drawingml/2006/main">
              <a:ext uri="{FF2B5EF4-FFF2-40B4-BE49-F238E27FC236}">
                <a16:creationId xmlns:a16="http://schemas.microsoft.com/office/drawing/2014/main" id="{1896B1D0-2E5C-4A19-8E01-6C22F2536919}"/>
              </a:ext>
            </a:extLst>
          </p:cNvPr>
          <p:cNvSpPr>
            <a:spLocks xmlns:a="http://schemas.openxmlformats.org/drawingml/2006/main" noGrp="1"/>
          </p:cNvSpPr>
          <p:nvPr/>
        </p:nvSpPr>
        <p:spPr>
          <a:xfrm xmlns:a="http://schemas.openxmlformats.org/drawingml/2006/main">
            <a:off x="400050" y="6457950"/>
            <a:ext cx="4095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825" b="0" i="0">
                <a:solidFill>
                  <a:srgbClr val="556170"/>
                </a:solidFill>
                <a:latin typeface="Helvetica Neue"/>
                <a:ea typeface="Helvetica Neue"/>
                <a:cs typeface="Helvetica Neue"/>
              </a:defRPr>
            </a:pPr>
            <a:r>
              <a:rPr sz="825" b="0" i="0">
                <a:solidFill>
                  <a:srgbClr val="556170"/>
                </a:solidFill>
                <a:latin typeface="Helvetica Neue"/>
                <a:ea typeface="Helvetica Neue"/>
                <a:cs typeface="Helvetica Neue"/>
              </a:rPr>
              <a:t>CLEO controlled Golovin calibration</a:t>
            </a:r>
          </a:p>
        </p:txBody>
      </p:sp>
      <p:sp>
        <p:nvSpPr>
          <p:cNvPr id="5" name="">
            <a:extLst xmlns:a="http://schemas.openxmlformats.org/drawingml/2006/main">
              <a:ext uri="{FF2B5EF4-FFF2-40B4-BE49-F238E27FC236}">
                <a16:creationId xmlns:a16="http://schemas.microsoft.com/office/drawing/2014/main" id="{31C26480-9C7F-443E-B208-EC966A591D99}"/>
              </a:ext>
            </a:extLst>
          </p:cNvPr>
          <p:cNvSpPr>
            <a:spLocks xmlns:a="http://schemas.openxmlformats.org/drawingml/2006/main" noGrp="1"/>
          </p:cNvSpPr>
          <p:nvPr/>
        </p:nvSpPr>
        <p:spPr>
          <a:xfrm xmlns:a="http://schemas.openxmlformats.org/drawingml/2006/main">
            <a:off x="9191625" y="6457950"/>
            <a:ext cx="1524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825" b="0" i="0">
                <a:solidFill>
                  <a:srgbClr val="556170"/>
                </a:solidFill>
                <a:latin typeface="Helvetica Neue"/>
                <a:ea typeface="Helvetica Neue"/>
                <a:cs typeface="Helvetica Neue"/>
              </a:defRPr>
            </a:pPr>
            <a:r>
              <a:rPr sz="825" b="0" i="0">
                <a:solidFill>
                  <a:srgbClr val="556170"/>
                </a:solidFill>
                <a:latin typeface="Helvetica Neue"/>
                <a:ea typeface="Helvetica Neue"/>
                <a:cs typeface="Helvetica Neue"/>
              </a:rPr>
              <a:t>02 AUG 2026</a:t>
            </a:r>
          </a:p>
        </p:txBody>
      </p:sp>
      <p:sp>
        <p:nvSpPr>
          <p:cNvPr id="6" name="">
            <a:extLst xmlns:a="http://schemas.openxmlformats.org/drawingml/2006/main">
              <a:ext uri="{FF2B5EF4-FFF2-40B4-BE49-F238E27FC236}">
                <a16:creationId xmlns:a16="http://schemas.microsoft.com/office/drawing/2014/main" id="{3612D9B7-8D55-4086-9D3A-12FEDCA4958A}"/>
              </a:ext>
            </a:extLst>
          </p:cNvPr>
          <p:cNvSpPr>
            <a:spLocks xmlns:a="http://schemas.openxmlformats.org/drawingml/2006/main" noGrp="1"/>
          </p:cNvSpPr>
          <p:nvPr/>
        </p:nvSpPr>
        <p:spPr>
          <a:xfrm xmlns:a="http://schemas.openxmlformats.org/drawingml/2006/main">
            <a:off x="11049000" y="6438900"/>
            <a:ext cx="7429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00" b="1" i="0">
                <a:solidFill>
                  <a:srgbClr val="141A24"/>
                </a:solidFill>
                <a:latin typeface="Helvetica Neue"/>
                <a:ea typeface="Helvetica Neue"/>
                <a:cs typeface="Helvetica Neue"/>
              </a:defRPr>
            </a:pPr>
            <a:r>
              <a:rPr sz="900" b="1" i="0">
                <a:solidFill>
                  <a:srgbClr val="141A24"/>
                </a:solidFill>
                <a:latin typeface="Helvetica Neue"/>
                <a:ea typeface="Helvetica Neue"/>
                <a:cs typeface="Helvetica Neue"/>
              </a:rPr>
              <a:t>14</a:t>
            </a:r>
          </a:p>
        </p:txBody>
      </p:sp>
      <p:pic>
        <p:nvPicPr>
          <p:cNvPr id="20" name=""/>
          <p:cNvPicPr>
            <a:picLocks xmlns:a="http://schemas.openxmlformats.org/drawingml/2006/main" noChangeAspect="1"/>
          </p:cNvPicPr>
          <p:nvPr/>
        </p:nvPicPr>
        <p:blipFill>
          <a:blip xmlns:r="http://schemas.openxmlformats.org/officeDocument/2006/relationships" xmlns:a="http://schemas.openxmlformats.org/drawingml/2006/main" r:embed="R96ef1a891c60471e"/>
          <a:stretch xmlns:a="http://schemas.openxmlformats.org/drawingml/2006/main"/>
        </p:blipFill>
        <p:spPr>
          <a:xfrm xmlns:a="http://schemas.openxmlformats.org/drawingml/2006/main">
            <a:off x="400050" y="2188434"/>
            <a:ext cx="7905750" cy="2538282"/>
          </a:xfrm>
          <a:prstGeom xmlns:a="http://schemas.openxmlformats.org/drawingml/2006/main" prst="rect">
            <a:avLst/>
          </a:prstGeom>
        </p:spPr>
      </p:pic>
      <p:sp>
        <p:nvSpPr>
          <p:cNvPr id="8" name="">
            <a:extLst xmlns:a="http://schemas.openxmlformats.org/drawingml/2006/main">
              <a:ext uri="{FF2B5EF4-FFF2-40B4-BE49-F238E27FC236}">
                <a16:creationId xmlns:a16="http://schemas.microsoft.com/office/drawing/2014/main" id="{3E4AF80C-19A7-421A-AA32-4CDBA5305E22}"/>
              </a:ext>
            </a:extLst>
          </p:cNvPr>
          <p:cNvSpPr>
            <a:spLocks xmlns:a="http://schemas.openxmlformats.org/drawingml/2006/main" noGrp="1"/>
          </p:cNvSpPr>
          <p:nvPr/>
        </p:nvSpPr>
        <p:spPr>
          <a:xfrm xmlns:a="http://schemas.openxmlformats.org/drawingml/2006/main">
            <a:off x="8696325" y="1638300"/>
            <a:ext cx="2667000" cy="2962275"/>
          </a:xfrm>
          <a:prstGeom xmlns:a="http://schemas.openxmlformats.org/drawingml/2006/main" prst="rect">
            <a:avLst/>
          </a:prstGeom>
          <a:solidFill xmlns:a="http://schemas.openxmlformats.org/drawingml/2006/main">
            <a:srgbClr val="E8F5EC"/>
          </a:solidFill>
          <a:ln xmlns:a="http://schemas.openxmlformats.org/drawingml/2006/main" w="9525">
            <a:solidFill>
              <a:srgbClr val="198754"/>
            </a:solidFill>
            <a:prstDash val="solid"/>
          </a:ln>
        </p:spPr>
      </p:sp>
      <p:sp>
        <p:nvSpPr>
          <p:cNvPr id="9" name="">
            <a:extLst xmlns:a="http://schemas.openxmlformats.org/drawingml/2006/main">
              <a:ext uri="{FF2B5EF4-FFF2-40B4-BE49-F238E27FC236}">
                <a16:creationId xmlns:a16="http://schemas.microsoft.com/office/drawing/2014/main" id="{96A3DB06-726E-4C30-876D-FD2395CC0051}"/>
              </a:ext>
            </a:extLst>
          </p:cNvPr>
          <p:cNvSpPr>
            <a:spLocks xmlns:a="http://schemas.openxmlformats.org/drawingml/2006/main" noGrp="1"/>
          </p:cNvSpPr>
          <p:nvPr/>
        </p:nvSpPr>
        <p:spPr>
          <a:xfrm xmlns:a="http://schemas.openxmlformats.org/drawingml/2006/main">
            <a:off x="8953500" y="1952625"/>
            <a:ext cx="190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825" b="1" i="0">
                <a:solidFill>
                  <a:srgbClr val="198754"/>
                </a:solidFill>
                <a:latin typeface="Helvetica Neue"/>
                <a:ea typeface="Helvetica Neue"/>
                <a:cs typeface="Helvetica Neue"/>
              </a:defRPr>
            </a:pPr>
            <a:r>
              <a:rPr sz="825" b="1" i="0">
                <a:solidFill>
                  <a:srgbClr val="198754"/>
                </a:solidFill>
                <a:latin typeface="Helvetica Neue"/>
                <a:ea typeface="Helvetica Neue"/>
                <a:cs typeface="Helvetica Neue"/>
              </a:rPr>
              <a:t>HARD VALIDITY GATES</a:t>
            </a:r>
          </a:p>
        </p:txBody>
      </p:sp>
      <p:sp>
        <p:nvSpPr>
          <p:cNvPr id="10" name="">
            <a:extLst xmlns:a="http://schemas.openxmlformats.org/drawingml/2006/main">
              <a:ext uri="{FF2B5EF4-FFF2-40B4-BE49-F238E27FC236}">
                <a16:creationId xmlns:a16="http://schemas.microsoft.com/office/drawing/2014/main" id="{A7C809E4-6A34-40B9-891A-92AD2A6803A6}"/>
              </a:ext>
            </a:extLst>
          </p:cNvPr>
          <p:cNvSpPr>
            <a:spLocks xmlns:a="http://schemas.openxmlformats.org/drawingml/2006/main" noGrp="1"/>
          </p:cNvSpPr>
          <p:nvPr/>
        </p:nvSpPr>
        <p:spPr>
          <a:xfrm xmlns:a="http://schemas.openxmlformats.org/drawingml/2006/main">
            <a:off x="8953500" y="2352675"/>
            <a:ext cx="20955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875" b="1" i="0">
                <a:solidFill>
                  <a:srgbClr val="141A24"/>
                </a:solidFill>
                <a:latin typeface="Helvetica Neue"/>
                <a:ea typeface="Helvetica Neue"/>
                <a:cs typeface="Helvetica Neue"/>
              </a:defRPr>
            </a:pPr>
            <a:r>
              <a:rPr sz="1875" b="1" i="0">
                <a:solidFill>
                  <a:srgbClr val="141A24"/>
                </a:solidFill>
                <a:latin typeface="Helvetica Neue"/>
                <a:ea typeface="Helvetica Neue"/>
                <a:cs typeface="Helvetica Neue"/>
              </a:rPr>
              <a:t>L1, M₀, M₆</a:t>
            </a:r>
          </a:p>
          <a:p xmlns:a="http://schemas.openxmlformats.org/drawingml/2006/main">
            <a:pPr algn="l">
              <a:defRPr sz="1875" b="1" i="0">
                <a:solidFill>
                  <a:srgbClr val="141A24"/>
                </a:solidFill>
                <a:latin typeface="Helvetica Neue"/>
                <a:ea typeface="Helvetica Neue"/>
                <a:cs typeface="Helvetica Neue"/>
              </a:defRPr>
            </a:pPr>
            <a:r>
              <a:rPr sz="1875" b="1" i="0">
                <a:solidFill>
                  <a:srgbClr val="141A24"/>
                </a:solidFill>
                <a:latin typeface="Helvetica Neue"/>
                <a:ea typeface="Helvetica Neue"/>
                <a:cs typeface="Helvetica Neue"/>
              </a:rPr>
              <a:t>inside ±5%</a:t>
            </a:r>
          </a:p>
        </p:txBody>
      </p:sp>
      <p:sp>
        <p:nvSpPr>
          <p:cNvPr id="11" name="">
            <a:extLst xmlns:a="http://schemas.openxmlformats.org/drawingml/2006/main">
              <a:ext uri="{FF2B5EF4-FFF2-40B4-BE49-F238E27FC236}">
                <a16:creationId xmlns:a16="http://schemas.microsoft.com/office/drawing/2014/main" id="{D2BB5AED-E81C-4D4D-84FB-1EBAD592E1B8}"/>
              </a:ext>
            </a:extLst>
          </p:cNvPr>
          <p:cNvSpPr>
            <a:spLocks xmlns:a="http://schemas.openxmlformats.org/drawingml/2006/main" noGrp="1"/>
          </p:cNvSpPr>
          <p:nvPr/>
        </p:nvSpPr>
        <p:spPr>
          <a:xfrm xmlns:a="http://schemas.openxmlformats.org/drawingml/2006/main">
            <a:off x="8953500" y="3238500"/>
            <a:ext cx="2095500"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425" b="1" i="0">
                <a:solidFill>
                  <a:srgbClr val="141A24"/>
                </a:solidFill>
                <a:latin typeface="Helvetica Neue"/>
                <a:ea typeface="Helvetica Neue"/>
                <a:cs typeface="Helvetica Neue"/>
              </a:defRPr>
            </a:pPr>
            <a:r>
              <a:rPr sz="1425" b="1" i="0">
                <a:solidFill>
                  <a:srgbClr val="141A24"/>
                </a:solidFill>
                <a:latin typeface="Helvetica Neue"/>
                <a:ea typeface="Helvetica Neue"/>
                <a:cs typeface="Helvetica Neue"/>
              </a:rPr>
              <a:t>worst 262k L1</a:t>
            </a:r>
          </a:p>
          <a:p xmlns:a="http://schemas.openxmlformats.org/drawingml/2006/main">
            <a:pPr algn="l">
              <a:defRPr sz="1425" b="1" i="0">
                <a:solidFill>
                  <a:srgbClr val="141A24"/>
                </a:solidFill>
                <a:latin typeface="Helvetica Neue"/>
                <a:ea typeface="Helvetica Neue"/>
                <a:cs typeface="Helvetica Neue"/>
              </a:defRPr>
            </a:pPr>
            <a:r>
              <a:rPr sz="1425" b="1" i="0">
                <a:solidFill>
                  <a:srgbClr val="141A24"/>
                </a:solidFill>
                <a:latin typeface="Helvetica Neue"/>
                <a:ea typeface="Helvetica Neue"/>
                <a:cs typeface="Helvetica Neue"/>
              </a:rPr>
              <a:t>0.853% upper bound</a:t>
            </a:r>
          </a:p>
        </p:txBody>
      </p:sp>
      <p:sp>
        <p:nvSpPr>
          <p:cNvPr id="12" name="">
            <a:extLst xmlns:a="http://schemas.openxmlformats.org/drawingml/2006/main">
              <a:ext uri="{FF2B5EF4-FFF2-40B4-BE49-F238E27FC236}">
                <a16:creationId xmlns:a16="http://schemas.microsoft.com/office/drawing/2014/main" id="{D986D61A-8777-4B04-B6C1-C86A05124F13}"/>
              </a:ext>
            </a:extLst>
          </p:cNvPr>
          <p:cNvSpPr>
            <a:spLocks xmlns:a="http://schemas.openxmlformats.org/drawingml/2006/main" noGrp="1"/>
          </p:cNvSpPr>
          <p:nvPr/>
        </p:nvSpPr>
        <p:spPr>
          <a:xfrm xmlns:a="http://schemas.openxmlformats.org/drawingml/2006/main">
            <a:off x="8953500" y="3981450"/>
            <a:ext cx="2095500"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425" b="1" i="0">
                <a:solidFill>
                  <a:srgbClr val="141A24"/>
                </a:solidFill>
                <a:latin typeface="Helvetica Neue"/>
                <a:ea typeface="Helvetica Neue"/>
                <a:cs typeface="Helvetica Neue"/>
              </a:defRPr>
            </a:pPr>
            <a:r>
              <a:rPr sz="1425" b="1" i="0">
                <a:solidFill>
                  <a:srgbClr val="141A24"/>
                </a:solidFill>
                <a:latin typeface="Helvetica Neue"/>
                <a:ea typeface="Helvetica Neue"/>
                <a:cs typeface="Helvetica Neue"/>
              </a:rPr>
              <a:t>mass drift</a:t>
            </a:r>
          </a:p>
          <a:p xmlns:a="http://schemas.openxmlformats.org/drawingml/2006/main">
            <a:pPr algn="l">
              <a:defRPr sz="1425" b="1" i="0">
                <a:solidFill>
                  <a:srgbClr val="141A24"/>
                </a:solidFill>
                <a:latin typeface="Helvetica Neue"/>
                <a:ea typeface="Helvetica Neue"/>
                <a:cs typeface="Helvetica Neue"/>
              </a:defRPr>
            </a:pPr>
            <a:r>
              <a:rPr sz="1425" b="1" i="0">
                <a:solidFill>
                  <a:srgbClr val="141A24"/>
                </a:solidFill>
                <a:latin typeface="Helvetica Neue"/>
                <a:ea typeface="Helvetica Neue"/>
                <a:cs typeface="Helvetica Neue"/>
              </a:rPr>
              <a:t>1.155 × 10⁻⁹</a:t>
            </a:r>
          </a:p>
        </p:txBody>
      </p:sp>
      <p:sp>
        <p:nvSpPr>
          <p:cNvPr id="13" name="">
            <a:extLst xmlns:a="http://schemas.openxmlformats.org/drawingml/2006/main">
              <a:ext uri="{FF2B5EF4-FFF2-40B4-BE49-F238E27FC236}">
                <a16:creationId xmlns:a16="http://schemas.microsoft.com/office/drawing/2014/main" id="{0854F866-82C4-423E-917E-1DF32B63D6E6}"/>
              </a:ext>
            </a:extLst>
          </p:cNvPr>
          <p:cNvSpPr>
            <a:spLocks xmlns:a="http://schemas.openxmlformats.org/drawingml/2006/main" noGrp="1"/>
          </p:cNvSpPr>
          <p:nvPr/>
        </p:nvSpPr>
        <p:spPr>
          <a:xfrm xmlns:a="http://schemas.openxmlformats.org/drawingml/2006/main">
            <a:off x="8696325" y="5048250"/>
            <a:ext cx="2667000"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350" b="1" i="0">
                <a:solidFill>
                  <a:srgbClr val="198754"/>
                </a:solidFill>
                <a:latin typeface="Helvetica Neue"/>
                <a:ea typeface="Helvetica Neue"/>
                <a:cs typeface="Helvetica Neue"/>
              </a:defRPr>
            </a:pPr>
            <a:r>
              <a:rPr sz="1350" b="1" i="0">
                <a:solidFill>
                  <a:srgbClr val="198754"/>
                </a:solidFill>
                <a:latin typeface="Helvetica Neue"/>
                <a:ea typeface="Helvetica Neue"/>
                <a:cs typeface="Helvetica Neue"/>
              </a:rPr>
              <a:t>0 out-of-range mass</a:t>
            </a:r>
          </a:p>
        </p:txBody>
      </p:sp>
    </p:spTree>
    <p:extLst>
      <p:ext uri="{BB962C8B-B14F-4D97-AF65-F5344CB8AC3E}">
        <p14:creationId xmlns:p14="http://schemas.microsoft.com/office/powerpoint/2010/main" val="1497331841"/>
      </p:ext>
    </p:extLst>
  </p:cSld>
</p:sld>
</file>

<file path=ppt/slides/slide15.xml><?xml version="1.0" encoding="utf-8"?>
<p:sld xmlns:p="http://schemas.openxmlformats.org/presentationml/2006/main">
  <p:cSld>
    <p:spTree>
      <p:nvGrpSpPr>
        <p:cNvPr id="1" name=""/>
        <p:cNvGrpSpPr/>
        <p:nvPr/>
      </p:nvGrpSpPr>
      <p:grpSpPr>
        <a:xfrm xmlns:a="http://schemas.openxmlformats.org/drawingml/2006/main"/>
      </p:grpSpPr>
      <p:sp>
        <p:nvSpPr>
          <p:cNvPr id="24" name="">
            <a:extLst xmlns:a="http://schemas.openxmlformats.org/drawingml/2006/main">
              <a:ext uri="{FF2B5EF4-FFF2-40B4-BE49-F238E27FC236}">
                <a16:creationId xmlns:a16="http://schemas.microsoft.com/office/drawing/2014/main" id="{7B5F49B4-0D59-4992-ACBE-A8A0E3D12DEF}"/>
              </a:ext>
            </a:extLst>
          </p:cNvPr>
          <p:cNvSpPr>
            <a:spLocks xmlns:a="http://schemas.openxmlformats.org/drawingml/2006/main" noGrp="1"/>
          </p:cNvSpPr>
          <p:nvPr/>
        </p:nvSpPr>
        <p:spPr>
          <a:xfrm xmlns:a="http://schemas.openxmlformats.org/drawingml/2006/main">
            <a:off x="400050" y="285750"/>
            <a:ext cx="7239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1" i="0">
                <a:solidFill>
                  <a:srgbClr val="1774D1"/>
                </a:solidFill>
                <a:latin typeface="Helvetica Neue"/>
                <a:ea typeface="Helvetica Neue"/>
                <a:cs typeface="Helvetica Neue"/>
              </a:defRPr>
            </a:pPr>
            <a:r>
              <a:rPr sz="900" b="1" i="0">
                <a:solidFill>
                  <a:srgbClr val="1774D1"/>
                </a:solidFill>
                <a:latin typeface="Helvetica Neue"/>
                <a:ea typeface="Helvetica Neue"/>
                <a:cs typeface="Helvetica Neue"/>
              </a:rPr>
              <a:t>GOLOVIN CONVERGENCE CALIBRATION</a:t>
            </a:r>
          </a:p>
        </p:txBody>
      </p:sp>
      <p:sp>
        <p:nvSpPr>
          <p:cNvPr id="2" name="">
            <a:extLst xmlns:a="http://schemas.openxmlformats.org/drawingml/2006/main">
              <a:ext uri="{FF2B5EF4-FFF2-40B4-BE49-F238E27FC236}">
                <a16:creationId xmlns:a16="http://schemas.microsoft.com/office/drawing/2014/main" id="{A43A7158-FB8F-49DC-BC95-4C33371B5E05}"/>
              </a:ext>
            </a:extLst>
          </p:cNvPr>
          <p:cNvSpPr>
            <a:spLocks xmlns:a="http://schemas.openxmlformats.org/drawingml/2006/main" noGrp="1"/>
          </p:cNvSpPr>
          <p:nvPr/>
        </p:nvSpPr>
        <p:spPr>
          <a:xfrm xmlns:a="http://schemas.openxmlformats.org/drawingml/2006/main">
            <a:off x="400050" y="590550"/>
            <a:ext cx="113728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625" b="1" i="0">
                <a:solidFill>
                  <a:srgbClr val="141A24"/>
                </a:solidFill>
                <a:latin typeface="Helvetica Neue"/>
                <a:ea typeface="Helvetica Neue"/>
                <a:cs typeface="Helvetica Neue"/>
              </a:defRPr>
            </a:pPr>
            <a:r>
              <a:rPr sz="2625" b="1" i="0">
                <a:solidFill>
                  <a:srgbClr val="141A24"/>
                </a:solidFill>
                <a:latin typeface="Helvetica Neue"/>
                <a:ea typeface="Helvetica Neue"/>
                <a:cs typeface="Helvetica Neue"/>
              </a:rPr>
              <a:t>The conclusion is auditable—and deliberately bounded</a:t>
            </a:r>
          </a:p>
        </p:txBody>
      </p:sp>
      <p:cxnSp>
        <p:nvCxnSpPr>
          <p:cNvPr id="26" name=""/>
          <p:cNvCxnSpPr/>
          <p:nvPr/>
        </p:nvCxnSpPr>
        <p:spPr>
          <a:xfrm xmlns:a="http://schemas.openxmlformats.org/drawingml/2006/main">
            <a:off x="400050" y="6343650"/>
            <a:ext cx="11391900" cy="0"/>
          </a:xfrm>
          <a:prstGeom xmlns:a="http://schemas.openxmlformats.org/drawingml/2006/main" prst="straightConnector1">
            <a:avLst/>
          </a:prstGeom>
          <a:ln xmlns:a="http://schemas.openxmlformats.org/drawingml/2006/main" w="9525">
            <a:solidFill>
              <a:srgbClr val="C6CDD5"/>
            </a:solidFill>
            <a:prstDash val="solid"/>
          </a:ln>
        </p:spPr>
      </p:cxnSp>
      <p:sp>
        <p:nvSpPr>
          <p:cNvPr id="4" name="">
            <a:extLst xmlns:a="http://schemas.openxmlformats.org/drawingml/2006/main">
              <a:ext uri="{FF2B5EF4-FFF2-40B4-BE49-F238E27FC236}">
                <a16:creationId xmlns:a16="http://schemas.microsoft.com/office/drawing/2014/main" id="{9D2F9C74-CBF1-4C7F-BAB6-FACD9C776783}"/>
              </a:ext>
            </a:extLst>
          </p:cNvPr>
          <p:cNvSpPr>
            <a:spLocks xmlns:a="http://schemas.openxmlformats.org/drawingml/2006/main" noGrp="1"/>
          </p:cNvSpPr>
          <p:nvPr/>
        </p:nvSpPr>
        <p:spPr>
          <a:xfrm xmlns:a="http://schemas.openxmlformats.org/drawingml/2006/main">
            <a:off x="400050" y="6457950"/>
            <a:ext cx="4095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825" b="0" i="0">
                <a:solidFill>
                  <a:srgbClr val="556170"/>
                </a:solidFill>
                <a:latin typeface="Helvetica Neue"/>
                <a:ea typeface="Helvetica Neue"/>
                <a:cs typeface="Helvetica Neue"/>
              </a:defRPr>
            </a:pPr>
            <a:r>
              <a:rPr sz="825" b="0" i="0">
                <a:solidFill>
                  <a:srgbClr val="556170"/>
                </a:solidFill>
                <a:latin typeface="Helvetica Neue"/>
                <a:ea typeface="Helvetica Neue"/>
                <a:cs typeface="Helvetica Neue"/>
              </a:rPr>
              <a:t>CLEO controlled Golovin calibration</a:t>
            </a:r>
          </a:p>
        </p:txBody>
      </p:sp>
      <p:sp>
        <p:nvSpPr>
          <p:cNvPr id="5" name="">
            <a:extLst xmlns:a="http://schemas.openxmlformats.org/drawingml/2006/main">
              <a:ext uri="{FF2B5EF4-FFF2-40B4-BE49-F238E27FC236}">
                <a16:creationId xmlns:a16="http://schemas.microsoft.com/office/drawing/2014/main" id="{1F143DAF-9B41-4634-B2F1-4F8B7BEDA7E6}"/>
              </a:ext>
            </a:extLst>
          </p:cNvPr>
          <p:cNvSpPr>
            <a:spLocks xmlns:a="http://schemas.openxmlformats.org/drawingml/2006/main" noGrp="1"/>
          </p:cNvSpPr>
          <p:nvPr/>
        </p:nvSpPr>
        <p:spPr>
          <a:xfrm xmlns:a="http://schemas.openxmlformats.org/drawingml/2006/main">
            <a:off x="9191625" y="6457950"/>
            <a:ext cx="1524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825" b="0" i="0">
                <a:solidFill>
                  <a:srgbClr val="556170"/>
                </a:solidFill>
                <a:latin typeface="Helvetica Neue"/>
                <a:ea typeface="Helvetica Neue"/>
                <a:cs typeface="Helvetica Neue"/>
              </a:defRPr>
            </a:pPr>
            <a:r>
              <a:rPr sz="825" b="0" i="0">
                <a:solidFill>
                  <a:srgbClr val="556170"/>
                </a:solidFill>
                <a:latin typeface="Helvetica Neue"/>
                <a:ea typeface="Helvetica Neue"/>
                <a:cs typeface="Helvetica Neue"/>
              </a:rPr>
              <a:t>02 AUG 2026</a:t>
            </a:r>
          </a:p>
        </p:txBody>
      </p:sp>
      <p:sp>
        <p:nvSpPr>
          <p:cNvPr id="6" name="">
            <a:extLst xmlns:a="http://schemas.openxmlformats.org/drawingml/2006/main">
              <a:ext uri="{FF2B5EF4-FFF2-40B4-BE49-F238E27FC236}">
                <a16:creationId xmlns:a16="http://schemas.microsoft.com/office/drawing/2014/main" id="{8B396415-D250-49D6-B21A-54CA0ED8223F}"/>
              </a:ext>
            </a:extLst>
          </p:cNvPr>
          <p:cNvSpPr>
            <a:spLocks xmlns:a="http://schemas.openxmlformats.org/drawingml/2006/main" noGrp="1"/>
          </p:cNvSpPr>
          <p:nvPr/>
        </p:nvSpPr>
        <p:spPr>
          <a:xfrm xmlns:a="http://schemas.openxmlformats.org/drawingml/2006/main">
            <a:off x="11049000" y="6438900"/>
            <a:ext cx="7429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00" b="1" i="0">
                <a:solidFill>
                  <a:srgbClr val="141A24"/>
                </a:solidFill>
                <a:latin typeface="Helvetica Neue"/>
                <a:ea typeface="Helvetica Neue"/>
                <a:cs typeface="Helvetica Neue"/>
              </a:defRPr>
            </a:pPr>
            <a:r>
              <a:rPr sz="900" b="1" i="0">
                <a:solidFill>
                  <a:srgbClr val="141A24"/>
                </a:solidFill>
                <a:latin typeface="Helvetica Neue"/>
                <a:ea typeface="Helvetica Neue"/>
                <a:cs typeface="Helvetica Neue"/>
              </a:rPr>
              <a:t>15</a:t>
            </a:r>
          </a:p>
        </p:txBody>
      </p:sp>
      <p:sp>
        <p:nvSpPr>
          <p:cNvPr id="7" name="">
            <a:extLst xmlns:a="http://schemas.openxmlformats.org/drawingml/2006/main">
              <a:ext uri="{FF2B5EF4-FFF2-40B4-BE49-F238E27FC236}">
                <a16:creationId xmlns:a16="http://schemas.microsoft.com/office/drawing/2014/main" id="{24B89489-115A-4537-B87E-C024AE3C95B6}"/>
              </a:ext>
            </a:extLst>
          </p:cNvPr>
          <p:cNvSpPr>
            <a:spLocks xmlns:a="http://schemas.openxmlformats.org/drawingml/2006/main" noGrp="1"/>
          </p:cNvSpPr>
          <p:nvPr/>
        </p:nvSpPr>
        <p:spPr>
          <a:xfrm xmlns:a="http://schemas.openxmlformats.org/drawingml/2006/main">
            <a:off x="466725" y="1438275"/>
            <a:ext cx="5238750" cy="4095750"/>
          </a:xfrm>
          <a:prstGeom xmlns:a="http://schemas.openxmlformats.org/drawingml/2006/main" prst="rect">
            <a:avLst/>
          </a:prstGeom>
          <a:solidFill xmlns:a="http://schemas.openxmlformats.org/drawingml/2006/main">
            <a:srgbClr val="E8F5EC"/>
          </a:solidFill>
          <a:ln xmlns:a="http://schemas.openxmlformats.org/drawingml/2006/main" w="9525">
            <a:solidFill>
              <a:srgbClr val="198754"/>
            </a:solidFill>
            <a:prstDash val="solid"/>
          </a:ln>
        </p:spPr>
      </p:sp>
      <p:sp>
        <p:nvSpPr>
          <p:cNvPr id="8" name="">
            <a:extLst xmlns:a="http://schemas.openxmlformats.org/drawingml/2006/main">
              <a:ext uri="{FF2B5EF4-FFF2-40B4-BE49-F238E27FC236}">
                <a16:creationId xmlns:a16="http://schemas.microsoft.com/office/drawing/2014/main" id="{58981F51-D6FC-47C3-B967-CD07E19F2B41}"/>
              </a:ext>
            </a:extLst>
          </p:cNvPr>
          <p:cNvSpPr>
            <a:spLocks xmlns:a="http://schemas.openxmlformats.org/drawingml/2006/main" noGrp="1"/>
          </p:cNvSpPr>
          <p:nvPr/>
        </p:nvSpPr>
        <p:spPr>
          <a:xfrm xmlns:a="http://schemas.openxmlformats.org/drawingml/2006/main">
            <a:off x="742950" y="1752600"/>
            <a:ext cx="3429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175" b="1" i="0">
                <a:solidFill>
                  <a:srgbClr val="198754"/>
                </a:solidFill>
                <a:latin typeface="Helvetica Neue"/>
                <a:ea typeface="Helvetica Neue"/>
                <a:cs typeface="Helvetica Neue"/>
              </a:defRPr>
            </a:pPr>
            <a:r>
              <a:rPr sz="2175" b="1" i="0">
                <a:solidFill>
                  <a:srgbClr val="198754"/>
                </a:solidFill>
                <a:latin typeface="Helvetica Neue"/>
                <a:ea typeface="Helvetica Neue"/>
                <a:cs typeface="Helvetica Neue"/>
              </a:rPr>
              <a:t>What we can say</a:t>
            </a:r>
          </a:p>
        </p:txBody>
      </p:sp>
      <p:sp>
        <p:nvSpPr>
          <p:cNvPr id="9" name="">
            <a:extLst xmlns:a="http://schemas.openxmlformats.org/drawingml/2006/main">
              <a:ext uri="{FF2B5EF4-FFF2-40B4-BE49-F238E27FC236}">
                <a16:creationId xmlns:a16="http://schemas.microsoft.com/office/drawing/2014/main" id="{60397CC5-8F1E-439D-808B-6CB64A2E5284}"/>
              </a:ext>
            </a:extLst>
          </p:cNvPr>
          <p:cNvSpPr>
            <a:spLocks xmlns:a="http://schemas.openxmlformats.org/drawingml/2006/main" noGrp="1"/>
          </p:cNvSpPr>
          <p:nvPr/>
        </p:nvSpPr>
        <p:spPr>
          <a:xfrm xmlns:a="http://schemas.openxmlformats.org/drawingml/2006/main">
            <a:off x="742950" y="2400300"/>
            <a:ext cx="1905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650" b="1" i="0">
                <a:solidFill>
                  <a:srgbClr val="1774D1"/>
                </a:solidFill>
                <a:latin typeface="Helvetica Neue"/>
                <a:ea typeface="Helvetica Neue"/>
                <a:cs typeface="Helvetica Neue"/>
              </a:defRPr>
            </a:pPr>
            <a:r>
              <a:rPr sz="1650" b="1" i="0">
                <a:solidFill>
                  <a:srgbClr val="1774D1"/>
                </a:solidFill>
                <a:latin typeface="Helvetica Neue"/>
                <a:ea typeface="Helvetica Neue"/>
                <a:cs typeface="Helvetica Neue"/>
              </a:rPr>
              <a:t>•</a:t>
            </a:r>
          </a:p>
        </p:txBody>
      </p:sp>
      <p:sp>
        <p:nvSpPr>
          <p:cNvPr id="10" name="">
            <a:extLst xmlns:a="http://schemas.openxmlformats.org/drawingml/2006/main">
              <a:ext uri="{FF2B5EF4-FFF2-40B4-BE49-F238E27FC236}">
                <a16:creationId xmlns:a16="http://schemas.microsoft.com/office/drawing/2014/main" id="{1B778D98-535E-46B0-842F-E4FC18032519}"/>
              </a:ext>
            </a:extLst>
          </p:cNvPr>
          <p:cNvSpPr>
            <a:spLocks xmlns:a="http://schemas.openxmlformats.org/drawingml/2006/main" noGrp="1"/>
          </p:cNvSpPr>
          <p:nvPr/>
        </p:nvSpPr>
        <p:spPr>
          <a:xfrm xmlns:a="http://schemas.openxmlformats.org/drawingml/2006/main">
            <a:off x="981075" y="2400300"/>
            <a:ext cx="4191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425" b="0" i="0">
                <a:solidFill>
                  <a:srgbClr val="141A24"/>
                </a:solidFill>
                <a:latin typeface="Helvetica Neue"/>
                <a:ea typeface="Helvetica Neue"/>
                <a:cs typeface="Helvetica Neue"/>
              </a:defRPr>
            </a:pPr>
            <a:r>
              <a:rPr sz="1425" b="0" i="0">
                <a:solidFill>
                  <a:srgbClr val="141A24"/>
                </a:solidFill>
                <a:latin typeface="Helvetica Neue"/>
                <a:ea typeface="Helvetica Neue"/>
                <a:cs typeface="Helvetica Neue"/>
              </a:rPr>
              <a:t>The controlled Golovin workflow is numerically healthy.</a:t>
            </a:r>
          </a:p>
        </p:txBody>
      </p:sp>
      <p:sp>
        <p:nvSpPr>
          <p:cNvPr id="11" name="">
            <a:extLst xmlns:a="http://schemas.openxmlformats.org/drawingml/2006/main">
              <a:ext uri="{FF2B5EF4-FFF2-40B4-BE49-F238E27FC236}">
                <a16:creationId xmlns:a16="http://schemas.microsoft.com/office/drawing/2014/main" id="{1E5AB0E8-D046-4D02-8A82-D9BB560AC5EC}"/>
              </a:ext>
            </a:extLst>
          </p:cNvPr>
          <p:cNvSpPr>
            <a:spLocks xmlns:a="http://schemas.openxmlformats.org/drawingml/2006/main" noGrp="1"/>
          </p:cNvSpPr>
          <p:nvPr/>
        </p:nvSpPr>
        <p:spPr>
          <a:xfrm xmlns:a="http://schemas.openxmlformats.org/drawingml/2006/main">
            <a:off x="742950" y="3105150"/>
            <a:ext cx="1905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650" b="1" i="0">
                <a:solidFill>
                  <a:srgbClr val="1774D1"/>
                </a:solidFill>
                <a:latin typeface="Helvetica Neue"/>
                <a:ea typeface="Helvetica Neue"/>
                <a:cs typeface="Helvetica Neue"/>
              </a:defRPr>
            </a:pPr>
            <a:r>
              <a:rPr sz="1650" b="1" i="0">
                <a:solidFill>
                  <a:srgbClr val="1774D1"/>
                </a:solidFill>
                <a:latin typeface="Helvetica Neue"/>
                <a:ea typeface="Helvetica Neue"/>
                <a:cs typeface="Helvetica Neue"/>
              </a:rPr>
              <a:t>•</a:t>
            </a:r>
          </a:p>
        </p:txBody>
      </p:sp>
      <p:sp>
        <p:nvSpPr>
          <p:cNvPr id="12" name="">
            <a:extLst xmlns:a="http://schemas.openxmlformats.org/drawingml/2006/main">
              <a:ext uri="{FF2B5EF4-FFF2-40B4-BE49-F238E27FC236}">
                <a16:creationId xmlns:a16="http://schemas.microsoft.com/office/drawing/2014/main" id="{96A8ED5E-67A4-45D8-AC86-DD831DBCF54E}"/>
              </a:ext>
            </a:extLst>
          </p:cNvPr>
          <p:cNvSpPr>
            <a:spLocks xmlns:a="http://schemas.openxmlformats.org/drawingml/2006/main" noGrp="1"/>
          </p:cNvSpPr>
          <p:nvPr/>
        </p:nvSpPr>
        <p:spPr>
          <a:xfrm xmlns:a="http://schemas.openxmlformats.org/drawingml/2006/main">
            <a:off x="981075" y="3105150"/>
            <a:ext cx="4191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425" b="0" i="0">
                <a:solidFill>
                  <a:srgbClr val="141A24"/>
                </a:solidFill>
                <a:latin typeface="Helvetica Neue"/>
                <a:ea typeface="Helvetica Neue"/>
                <a:cs typeface="Helvetica Neue"/>
              </a:defRPr>
            </a:pPr>
            <a:r>
              <a:rPr sz="1425" b="0" i="0">
                <a:solidFill>
                  <a:srgbClr val="141A24"/>
                </a:solidFill>
                <a:latin typeface="Helvetica Neue"/>
                <a:ea typeface="Helvetica Neue"/>
                <a:cs typeface="Helvetica Neue"/>
              </a:rPr>
              <a:t>The balanced formal rule selects 131,072 SDs.</a:t>
            </a:r>
          </a:p>
        </p:txBody>
      </p:sp>
      <p:sp>
        <p:nvSpPr>
          <p:cNvPr id="13" name="">
            <a:extLst xmlns:a="http://schemas.openxmlformats.org/drawingml/2006/main">
              <a:ext uri="{FF2B5EF4-FFF2-40B4-BE49-F238E27FC236}">
                <a16:creationId xmlns:a16="http://schemas.microsoft.com/office/drawing/2014/main" id="{507D7200-8AC3-4AB2-B3E1-EAAB01529646}"/>
              </a:ext>
            </a:extLst>
          </p:cNvPr>
          <p:cNvSpPr>
            <a:spLocks xmlns:a="http://schemas.openxmlformats.org/drawingml/2006/main" noGrp="1"/>
          </p:cNvSpPr>
          <p:nvPr/>
        </p:nvSpPr>
        <p:spPr>
          <a:xfrm xmlns:a="http://schemas.openxmlformats.org/drawingml/2006/main">
            <a:off x="742950" y="3810000"/>
            <a:ext cx="190500" cy="600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650" b="1" i="0">
                <a:solidFill>
                  <a:srgbClr val="1774D1"/>
                </a:solidFill>
                <a:latin typeface="Helvetica Neue"/>
                <a:ea typeface="Helvetica Neue"/>
                <a:cs typeface="Helvetica Neue"/>
              </a:defRPr>
            </a:pPr>
            <a:r>
              <a:rPr sz="1650" b="1" i="0">
                <a:solidFill>
                  <a:srgbClr val="1774D1"/>
                </a:solidFill>
                <a:latin typeface="Helvetica Neue"/>
                <a:ea typeface="Helvetica Neue"/>
                <a:cs typeface="Helvetica Neue"/>
              </a:rPr>
              <a:t>•</a:t>
            </a:r>
          </a:p>
        </p:txBody>
      </p:sp>
      <p:sp>
        <p:nvSpPr>
          <p:cNvPr id="14" name="">
            <a:extLst xmlns:a="http://schemas.openxmlformats.org/drawingml/2006/main">
              <a:ext uri="{FF2B5EF4-FFF2-40B4-BE49-F238E27FC236}">
                <a16:creationId xmlns:a16="http://schemas.microsoft.com/office/drawing/2014/main" id="{CC254BAE-2A3B-4E5F-887C-B26CEF63AA86}"/>
              </a:ext>
            </a:extLst>
          </p:cNvPr>
          <p:cNvSpPr>
            <a:spLocks xmlns:a="http://schemas.openxmlformats.org/drawingml/2006/main" noGrp="1"/>
          </p:cNvSpPr>
          <p:nvPr/>
        </p:nvSpPr>
        <p:spPr>
          <a:xfrm xmlns:a="http://schemas.openxmlformats.org/drawingml/2006/main">
            <a:off x="981075" y="3810000"/>
            <a:ext cx="4191000" cy="600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425" b="0" i="0">
                <a:solidFill>
                  <a:srgbClr val="141A24"/>
                </a:solidFill>
                <a:latin typeface="Helvetica Neue"/>
                <a:ea typeface="Helvetica Neue"/>
                <a:cs typeface="Helvetica Neue"/>
              </a:defRPr>
            </a:pPr>
            <a:r>
              <a:rPr sz="1425" b="0" i="0">
                <a:solidFill>
                  <a:srgbClr val="141A24"/>
                </a:solidFill>
                <a:latin typeface="Helvetica Neue"/>
                <a:ea typeface="Helvetica Neue"/>
                <a:cs typeface="Helvetica Neue"/>
              </a:rPr>
              <a:t>The targeted practical follow-up supports 262,144 SDs.</a:t>
            </a:r>
          </a:p>
        </p:txBody>
      </p:sp>
      <p:sp>
        <p:nvSpPr>
          <p:cNvPr id="15" name="">
            <a:extLst xmlns:a="http://schemas.openxmlformats.org/drawingml/2006/main">
              <a:ext uri="{FF2B5EF4-FFF2-40B4-BE49-F238E27FC236}">
                <a16:creationId xmlns:a16="http://schemas.microsoft.com/office/drawing/2014/main" id="{BD12F8D6-270B-4831-BCBA-BB6B7C4629A8}"/>
              </a:ext>
            </a:extLst>
          </p:cNvPr>
          <p:cNvSpPr>
            <a:spLocks xmlns:a="http://schemas.openxmlformats.org/drawingml/2006/main" noGrp="1"/>
          </p:cNvSpPr>
          <p:nvPr/>
        </p:nvSpPr>
        <p:spPr>
          <a:xfrm xmlns:a="http://schemas.openxmlformats.org/drawingml/2006/main">
            <a:off x="6477000" y="1438275"/>
            <a:ext cx="5238750" cy="4095750"/>
          </a:xfrm>
          <a:prstGeom xmlns:a="http://schemas.openxmlformats.org/drawingml/2006/main" prst="rect">
            <a:avLst/>
          </a:prstGeom>
          <a:solidFill xmlns:a="http://schemas.openxmlformats.org/drawingml/2006/main">
            <a:srgbClr val="FBEDEE"/>
          </a:solidFill>
          <a:ln xmlns:a="http://schemas.openxmlformats.org/drawingml/2006/main" w="9525">
            <a:solidFill>
              <a:srgbClr val="C53D3D"/>
            </a:solidFill>
            <a:prstDash val="solid"/>
          </a:ln>
        </p:spPr>
      </p:sp>
      <p:sp>
        <p:nvSpPr>
          <p:cNvPr id="16" name="">
            <a:extLst xmlns:a="http://schemas.openxmlformats.org/drawingml/2006/main">
              <a:ext uri="{FF2B5EF4-FFF2-40B4-BE49-F238E27FC236}">
                <a16:creationId xmlns:a16="http://schemas.microsoft.com/office/drawing/2014/main" id="{A12CFA00-E850-471B-8616-A3F474407173}"/>
              </a:ext>
            </a:extLst>
          </p:cNvPr>
          <p:cNvSpPr>
            <a:spLocks xmlns:a="http://schemas.openxmlformats.org/drawingml/2006/main" noGrp="1"/>
          </p:cNvSpPr>
          <p:nvPr/>
        </p:nvSpPr>
        <p:spPr>
          <a:xfrm xmlns:a="http://schemas.openxmlformats.org/drawingml/2006/main">
            <a:off x="6753225" y="1752600"/>
            <a:ext cx="3810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175" b="1" i="0">
                <a:solidFill>
                  <a:srgbClr val="C53D3D"/>
                </a:solidFill>
                <a:latin typeface="Helvetica Neue"/>
                <a:ea typeface="Helvetica Neue"/>
                <a:cs typeface="Helvetica Neue"/>
              </a:defRPr>
            </a:pPr>
            <a:r>
              <a:rPr sz="2175" b="1" i="0">
                <a:solidFill>
                  <a:srgbClr val="C53D3D"/>
                </a:solidFill>
                <a:latin typeface="Helvetica Neue"/>
                <a:ea typeface="Helvetica Neue"/>
                <a:cs typeface="Helvetica Neue"/>
              </a:rPr>
              <a:t>What we must not claim</a:t>
            </a:r>
          </a:p>
        </p:txBody>
      </p:sp>
      <p:sp>
        <p:nvSpPr>
          <p:cNvPr id="17" name="">
            <a:extLst xmlns:a="http://schemas.openxmlformats.org/drawingml/2006/main">
              <a:ext uri="{FF2B5EF4-FFF2-40B4-BE49-F238E27FC236}">
                <a16:creationId xmlns:a16="http://schemas.microsoft.com/office/drawing/2014/main" id="{BD9595FA-56A0-4816-9D87-30CA89BF598A}"/>
              </a:ext>
            </a:extLst>
          </p:cNvPr>
          <p:cNvSpPr>
            <a:spLocks xmlns:a="http://schemas.openxmlformats.org/drawingml/2006/main" noGrp="1"/>
          </p:cNvSpPr>
          <p:nvPr/>
        </p:nvSpPr>
        <p:spPr>
          <a:xfrm xmlns:a="http://schemas.openxmlformats.org/drawingml/2006/main">
            <a:off x="6753225" y="2400300"/>
            <a:ext cx="1905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650" b="1" i="0">
                <a:solidFill>
                  <a:srgbClr val="1774D1"/>
                </a:solidFill>
                <a:latin typeface="Helvetica Neue"/>
                <a:ea typeface="Helvetica Neue"/>
                <a:cs typeface="Helvetica Neue"/>
              </a:defRPr>
            </a:pPr>
            <a:r>
              <a:rPr sz="1650" b="1" i="0">
                <a:solidFill>
                  <a:srgbClr val="1774D1"/>
                </a:solidFill>
                <a:latin typeface="Helvetica Neue"/>
                <a:ea typeface="Helvetica Neue"/>
                <a:cs typeface="Helvetica Neue"/>
              </a:rPr>
              <a:t>•</a:t>
            </a:r>
          </a:p>
        </p:txBody>
      </p:sp>
      <p:sp>
        <p:nvSpPr>
          <p:cNvPr id="18" name="">
            <a:extLst xmlns:a="http://schemas.openxmlformats.org/drawingml/2006/main">
              <a:ext uri="{FF2B5EF4-FFF2-40B4-BE49-F238E27FC236}">
                <a16:creationId xmlns:a16="http://schemas.microsoft.com/office/drawing/2014/main" id="{81B537DF-AAC3-4B68-9B75-BDC0590A0939}"/>
              </a:ext>
            </a:extLst>
          </p:cNvPr>
          <p:cNvSpPr>
            <a:spLocks xmlns:a="http://schemas.openxmlformats.org/drawingml/2006/main" noGrp="1"/>
          </p:cNvSpPr>
          <p:nvPr/>
        </p:nvSpPr>
        <p:spPr>
          <a:xfrm xmlns:a="http://schemas.openxmlformats.org/drawingml/2006/main">
            <a:off x="6991350" y="2400300"/>
            <a:ext cx="4191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425" b="0" i="0">
                <a:solidFill>
                  <a:srgbClr val="141A24"/>
                </a:solidFill>
                <a:latin typeface="Helvetica Neue"/>
                <a:ea typeface="Helvetica Neue"/>
                <a:cs typeface="Helvetica Neue"/>
              </a:defRPr>
            </a:pPr>
            <a:r>
              <a:rPr sz="1425" b="0" i="0">
                <a:solidFill>
                  <a:srgbClr val="141A24"/>
                </a:solidFill>
                <a:latin typeface="Helvetica Neue"/>
                <a:ea typeface="Helvetica Neue"/>
                <a:cs typeface="Helvetica Neue"/>
              </a:rPr>
              <a:t>A universal CLEO / SDM SD count.</a:t>
            </a:r>
          </a:p>
        </p:txBody>
      </p:sp>
      <p:sp>
        <p:nvSpPr>
          <p:cNvPr id="19" name="">
            <a:extLst xmlns:a="http://schemas.openxmlformats.org/drawingml/2006/main">
              <a:ext uri="{FF2B5EF4-FFF2-40B4-BE49-F238E27FC236}">
                <a16:creationId xmlns:a16="http://schemas.microsoft.com/office/drawing/2014/main" id="{0231E828-2B9E-419C-A7E0-8019FA62A4A6}"/>
              </a:ext>
            </a:extLst>
          </p:cNvPr>
          <p:cNvSpPr>
            <a:spLocks xmlns:a="http://schemas.openxmlformats.org/drawingml/2006/main" noGrp="1"/>
          </p:cNvSpPr>
          <p:nvPr/>
        </p:nvSpPr>
        <p:spPr>
          <a:xfrm xmlns:a="http://schemas.openxmlformats.org/drawingml/2006/main">
            <a:off x="6753225" y="3105150"/>
            <a:ext cx="1905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650" b="1" i="0">
                <a:solidFill>
                  <a:srgbClr val="1774D1"/>
                </a:solidFill>
                <a:latin typeface="Helvetica Neue"/>
                <a:ea typeface="Helvetica Neue"/>
                <a:cs typeface="Helvetica Neue"/>
              </a:defRPr>
            </a:pPr>
            <a:r>
              <a:rPr sz="1650" b="1" i="0">
                <a:solidFill>
                  <a:srgbClr val="1774D1"/>
                </a:solidFill>
                <a:latin typeface="Helvetica Neue"/>
                <a:ea typeface="Helvetica Neue"/>
                <a:cs typeface="Helvetica Neue"/>
              </a:rPr>
              <a:t>•</a:t>
            </a:r>
          </a:p>
        </p:txBody>
      </p:sp>
      <p:sp>
        <p:nvSpPr>
          <p:cNvPr id="20" name="">
            <a:extLst xmlns:a="http://schemas.openxmlformats.org/drawingml/2006/main">
              <a:ext uri="{FF2B5EF4-FFF2-40B4-BE49-F238E27FC236}">
                <a16:creationId xmlns:a16="http://schemas.microsoft.com/office/drawing/2014/main" id="{DF2CEF4B-B420-404A-8BDD-79546434D0AD}"/>
              </a:ext>
            </a:extLst>
          </p:cNvPr>
          <p:cNvSpPr>
            <a:spLocks xmlns:a="http://schemas.openxmlformats.org/drawingml/2006/main" noGrp="1"/>
          </p:cNvSpPr>
          <p:nvPr/>
        </p:nvSpPr>
        <p:spPr>
          <a:xfrm xmlns:a="http://schemas.openxmlformats.org/drawingml/2006/main">
            <a:off x="6991350" y="3105150"/>
            <a:ext cx="4191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425" b="0" i="0">
                <a:solidFill>
                  <a:srgbClr val="141A24"/>
                </a:solidFill>
                <a:latin typeface="Helvetica Neue"/>
                <a:ea typeface="Helvetica Neue"/>
                <a:cs typeface="Helvetica Neue"/>
              </a:defRPr>
            </a:pPr>
            <a:r>
              <a:rPr sz="1425" b="0" i="0">
                <a:solidFill>
                  <a:srgbClr val="141A24"/>
                </a:solidFill>
                <a:latin typeface="Helvetica Neue"/>
                <a:ea typeface="Helvetica Neue"/>
                <a:cs typeface="Helvetica Neue"/>
              </a:rPr>
              <a:t>A Long-kernel convergence result.</a:t>
            </a:r>
          </a:p>
        </p:txBody>
      </p:sp>
      <p:sp>
        <p:nvSpPr>
          <p:cNvPr id="21" name="">
            <a:extLst xmlns:a="http://schemas.openxmlformats.org/drawingml/2006/main">
              <a:ext uri="{FF2B5EF4-FFF2-40B4-BE49-F238E27FC236}">
                <a16:creationId xmlns:a16="http://schemas.microsoft.com/office/drawing/2014/main" id="{AFD8D90E-10A5-4415-B31F-433D7964DAD5}"/>
              </a:ext>
            </a:extLst>
          </p:cNvPr>
          <p:cNvSpPr>
            <a:spLocks xmlns:a="http://schemas.openxmlformats.org/drawingml/2006/main" noGrp="1"/>
          </p:cNvSpPr>
          <p:nvPr/>
        </p:nvSpPr>
        <p:spPr>
          <a:xfrm xmlns:a="http://schemas.openxmlformats.org/drawingml/2006/main">
            <a:off x="6753225" y="3810000"/>
            <a:ext cx="190500" cy="600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650" b="1" i="0">
                <a:solidFill>
                  <a:srgbClr val="1774D1"/>
                </a:solidFill>
                <a:latin typeface="Helvetica Neue"/>
                <a:ea typeface="Helvetica Neue"/>
                <a:cs typeface="Helvetica Neue"/>
              </a:defRPr>
            </a:pPr>
            <a:r>
              <a:rPr sz="1650" b="1" i="0">
                <a:solidFill>
                  <a:srgbClr val="1774D1"/>
                </a:solidFill>
                <a:latin typeface="Helvetica Neue"/>
                <a:ea typeface="Helvetica Neue"/>
                <a:cs typeface="Helvetica Neue"/>
              </a:rPr>
              <a:t>•</a:t>
            </a:r>
          </a:p>
        </p:txBody>
      </p:sp>
      <p:sp>
        <p:nvSpPr>
          <p:cNvPr id="22" name="">
            <a:extLst xmlns:a="http://schemas.openxmlformats.org/drawingml/2006/main">
              <a:ext uri="{FF2B5EF4-FFF2-40B4-BE49-F238E27FC236}">
                <a16:creationId xmlns:a16="http://schemas.microsoft.com/office/drawing/2014/main" id="{E31BBBB8-C60A-42EC-9151-F8246BF1FF38}"/>
              </a:ext>
            </a:extLst>
          </p:cNvPr>
          <p:cNvSpPr>
            <a:spLocks xmlns:a="http://schemas.openxmlformats.org/drawingml/2006/main" noGrp="1"/>
          </p:cNvSpPr>
          <p:nvPr/>
        </p:nvSpPr>
        <p:spPr>
          <a:xfrm xmlns:a="http://schemas.openxmlformats.org/drawingml/2006/main">
            <a:off x="6991350" y="3810000"/>
            <a:ext cx="4191000" cy="600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425" b="0" i="0">
                <a:solidFill>
                  <a:srgbClr val="141A24"/>
                </a:solidFill>
                <a:latin typeface="Helvetica Neue"/>
                <a:ea typeface="Helvetica Neue"/>
                <a:cs typeface="Helvetica Neue"/>
              </a:defRPr>
            </a:pPr>
            <a:r>
              <a:rPr sz="1425" b="0" i="0">
                <a:solidFill>
                  <a:srgbClr val="141A24"/>
                </a:solidFill>
                <a:latin typeface="Helvetica Neue"/>
                <a:ea typeface="Helvetica Neue"/>
                <a:cs typeface="Helvetica Neue"/>
              </a:rPr>
              <a:t>That stochastic variance has converged.</a:t>
            </a:r>
          </a:p>
        </p:txBody>
      </p:sp>
      <p:sp>
        <p:nvSpPr>
          <p:cNvPr id="23" name="">
            <a:extLst xmlns:a="http://schemas.openxmlformats.org/drawingml/2006/main">
              <a:ext uri="{FF2B5EF4-FFF2-40B4-BE49-F238E27FC236}">
                <a16:creationId xmlns:a16="http://schemas.microsoft.com/office/drawing/2014/main" id="{CE848F9C-E323-4198-B5C2-9C5A0E79A6AF}"/>
              </a:ext>
            </a:extLst>
          </p:cNvPr>
          <p:cNvSpPr>
            <a:spLocks xmlns:a="http://schemas.openxmlformats.org/drawingml/2006/main" noGrp="1"/>
          </p:cNvSpPr>
          <p:nvPr/>
        </p:nvSpPr>
        <p:spPr>
          <a:xfrm xmlns:a="http://schemas.openxmlformats.org/drawingml/2006/main">
            <a:off x="466725" y="5810250"/>
            <a:ext cx="10668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75" b="1" i="0">
                <a:solidFill>
                  <a:srgbClr val="4D3C93"/>
                </a:solidFill>
                <a:latin typeface="Helvetica Neue"/>
                <a:ea typeface="Helvetica Neue"/>
                <a:cs typeface="Helvetica Neue"/>
              </a:defRPr>
            </a:pPr>
            <a:r>
              <a:rPr sz="1275" b="1" i="0">
                <a:solidFill>
                  <a:srgbClr val="4D3C93"/>
                </a:solidFill>
                <a:latin typeface="Helvetica Neue"/>
                <a:ea typeface="Helvetica Neue"/>
                <a:cs typeface="Helvetica Neue"/>
              </a:rPr>
              <a:t>Reproducibility: frozen inputs • explicit seeds • raw Zarr preserved • Stage-0 checks • 10,000-resample bootstrap • SHA-256 audited outputs.</a:t>
            </a:r>
          </a:p>
        </p:txBody>
      </p:sp>
    </p:spTree>
    <p:extLst>
      <p:ext uri="{BB962C8B-B14F-4D97-AF65-F5344CB8AC3E}">
        <p14:creationId xmlns:p14="http://schemas.microsoft.com/office/powerpoint/2010/main" val="916447239"/>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2026-08-02T14:53:37.2120000Z</dcterms:created>
  <dcterms:modified xsi:type="dcterms:W3CDTF">2026-08-02T14:53:37.2120000Z</dcterms:modified>
</coreProperties>
</file>