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aef15fd8f54bfe" /><Relationship Type="http://schemas.openxmlformats.org/officeDocument/2006/relationships/extended-properties" Target="/docProps/app.xml" Id="Re7a34e645c45497e" /><Relationship Type="http://schemas.openxmlformats.org/officeDocument/2006/relationships/officeDocument" Target="/ppt/presentation.xml" Id="R8b71d8bebc964ee0" /></Relationships>
</file>

<file path=ppt/presentation.xml><?xml version="1.0" encoding="utf-8"?>
<p:presentation xmlns:p="http://schemas.openxmlformats.org/presentationml/2006/main">
  <p:sldMasterIdLst>
    <p:sldMasterId xmlns:r="http://schemas.openxmlformats.org/officeDocument/2006/relationships" id="2147483648" r:id="R1edbd743a9f24372"/>
  </p:sldMasterIdLst>
  <p:notesMasterIdLst>
    <p:notesMasterId xmlns:r="http://schemas.openxmlformats.org/officeDocument/2006/relationships" r:id="Rb3eb65d9055a4dc8"/>
  </p:notesMasterIdLst>
  <p:sldIdLst>
    <p:sldId xmlns:r="http://schemas.openxmlformats.org/officeDocument/2006/relationships" id="256" r:id="Rf5bcb832c06e4a18"/>
    <p:sldId xmlns:r="http://schemas.openxmlformats.org/officeDocument/2006/relationships" id="257" r:id="R07544657f4e44c20"/>
    <p:sldId xmlns:r="http://schemas.openxmlformats.org/officeDocument/2006/relationships" id="258" r:id="R61fc1b0032f24275"/>
    <p:sldId xmlns:r="http://schemas.openxmlformats.org/officeDocument/2006/relationships" id="259" r:id="R3dd891bcbebf4042"/>
    <p:sldId xmlns:r="http://schemas.openxmlformats.org/officeDocument/2006/relationships" id="260" r:id="R4f190fa6ec8544de"/>
    <p:sldId xmlns:r="http://schemas.openxmlformats.org/officeDocument/2006/relationships" id="261" r:id="Rf0bc32ebdee546dc"/>
    <p:sldId xmlns:r="http://schemas.openxmlformats.org/officeDocument/2006/relationships" id="262" r:id="Rc00f7d80e64c40b7"/>
    <p:sldId xmlns:r="http://schemas.openxmlformats.org/officeDocument/2006/relationships" id="263" r:id="Raa1b2e940ac6439f"/>
    <p:sldId xmlns:r="http://schemas.openxmlformats.org/officeDocument/2006/relationships" id="264" r:id="R94c509c4ef94446b"/>
    <p:sldId xmlns:r="http://schemas.openxmlformats.org/officeDocument/2006/relationships" id="265" r:id="Re298ff1693da4b87"/>
    <p:sldId xmlns:r="http://schemas.openxmlformats.org/officeDocument/2006/relationships" id="266" r:id="R34489232fa1e4f95"/>
    <p:sldId xmlns:r="http://schemas.openxmlformats.org/officeDocument/2006/relationships" id="267" r:id="Rfe560f78d6014229"/>
    <p:sldId xmlns:r="http://schemas.openxmlformats.org/officeDocument/2006/relationships" id="268" r:id="Ra9a72d7675ca4680"/>
    <p:sldId xmlns:r="http://schemas.openxmlformats.org/officeDocument/2006/relationships" id="269" r:id="R218a269f7fd94206"/>
    <p:sldId xmlns:r="http://schemas.openxmlformats.org/officeDocument/2006/relationships" id="270" r:id="R14ef1ed3f76c4df5"/>
    <p:sldId xmlns:r="http://schemas.openxmlformats.org/officeDocument/2006/relationships" id="271" r:id="R143ee40140624f76"/>
    <p:sldId xmlns:r="http://schemas.openxmlformats.org/officeDocument/2006/relationships" id="272" r:id="R2e85b1c1c68c400c"/>
    <p:sldId xmlns:r="http://schemas.openxmlformats.org/officeDocument/2006/relationships" id="273" r:id="R8ff56f5a40c44d46"/>
    <p:sldId xmlns:r="http://schemas.openxmlformats.org/officeDocument/2006/relationships" id="274" r:id="Rae7500aafba8463b"/>
    <p:sldId xmlns:r="http://schemas.openxmlformats.org/officeDocument/2006/relationships" id="275" r:id="Rbebb66971afb4f91"/>
    <p:sldId xmlns:r="http://schemas.openxmlformats.org/officeDocument/2006/relationships" id="276" r:id="Ra22621a4fb00412e"/>
    <p:sldId xmlns:r="http://schemas.openxmlformats.org/officeDocument/2006/relationships" id="277" r:id="R6562e54d2e7940aa"/>
    <p:sldId xmlns:r="http://schemas.openxmlformats.org/officeDocument/2006/relationships" id="278" r:id="R0bcb935154424bba"/>
    <p:sldId xmlns:r="http://schemas.openxmlformats.org/officeDocument/2006/relationships" id="279" r:id="R7b7f281fa5ed4142"/>
    <p:sldId xmlns:r="http://schemas.openxmlformats.org/officeDocument/2006/relationships" id="280" r:id="Rea9e1950567d47ae"/>
    <p:sldId xmlns:r="http://schemas.openxmlformats.org/officeDocument/2006/relationships" id="281" r:id="Rf859042f264841bf"/>
    <p:sldId xmlns:r="http://schemas.openxmlformats.org/officeDocument/2006/relationships" id="282" r:id="Rdca576cba5264647"/>
    <p:sldId xmlns:r="http://schemas.openxmlformats.org/officeDocument/2006/relationships" id="283" r:id="R24a97fbd65b44e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579bca9bc94a0f" /><Relationship Type="http://schemas.openxmlformats.org/officeDocument/2006/relationships/slideMaster" Target="/ppt/slideMasters/slideMaster1.xml" Id="R1edbd743a9f24372" /><Relationship Type="http://schemas.openxmlformats.org/officeDocument/2006/relationships/notesMaster" Target="/ppt/notesMasters/notesMaster1.xml" Id="Rb3eb65d9055a4dc8" /><Relationship Type="http://schemas.openxmlformats.org/officeDocument/2006/relationships/presProps" Target="/ppt/presProps.xml" Id="Rf9ea1eab84e24f2c" /><Relationship Type="http://schemas.openxmlformats.org/officeDocument/2006/relationships/tableStyles" Target="/ppt/tableStyles.xml" Id="R4004b4964a214020" /><Relationship Type="http://schemas.openxmlformats.org/officeDocument/2006/relationships/slide" Target="/ppt/slides/slide1.xml" Id="Rf5bcb832c06e4a18" /><Relationship Type="http://schemas.openxmlformats.org/officeDocument/2006/relationships/slide" Target="/ppt/slides/slide2.xml" Id="R07544657f4e44c20" /><Relationship Type="http://schemas.openxmlformats.org/officeDocument/2006/relationships/slide" Target="/ppt/slides/slide3.xml" Id="R61fc1b0032f24275" /><Relationship Type="http://schemas.openxmlformats.org/officeDocument/2006/relationships/slide" Target="/ppt/slides/slide4.xml" Id="R3dd891bcbebf4042" /><Relationship Type="http://schemas.openxmlformats.org/officeDocument/2006/relationships/slide" Target="/ppt/slides/slide5.xml" Id="R4f190fa6ec8544de" /><Relationship Type="http://schemas.openxmlformats.org/officeDocument/2006/relationships/slide" Target="/ppt/slides/slide6.xml" Id="Rf0bc32ebdee546dc" /><Relationship Type="http://schemas.openxmlformats.org/officeDocument/2006/relationships/slide" Target="/ppt/slides/slide7.xml" Id="Rc00f7d80e64c40b7" /><Relationship Type="http://schemas.openxmlformats.org/officeDocument/2006/relationships/slide" Target="/ppt/slides/slide8.xml" Id="Raa1b2e940ac6439f" /><Relationship Type="http://schemas.openxmlformats.org/officeDocument/2006/relationships/slide" Target="/ppt/slides/slide9.xml" Id="R94c509c4ef94446b" /><Relationship Type="http://schemas.openxmlformats.org/officeDocument/2006/relationships/slide" Target="/ppt/slides/slide10.xml" Id="Re298ff1693da4b87" /><Relationship Type="http://schemas.openxmlformats.org/officeDocument/2006/relationships/slide" Target="/ppt/slides/slide11.xml" Id="R34489232fa1e4f95" /><Relationship Type="http://schemas.openxmlformats.org/officeDocument/2006/relationships/slide" Target="/ppt/slides/slide12.xml" Id="Rfe560f78d6014229" /><Relationship Type="http://schemas.openxmlformats.org/officeDocument/2006/relationships/slide" Target="/ppt/slides/slide13.xml" Id="Ra9a72d7675ca4680" /><Relationship Type="http://schemas.openxmlformats.org/officeDocument/2006/relationships/slide" Target="/ppt/slides/slide14.xml" Id="R218a269f7fd94206" /><Relationship Type="http://schemas.openxmlformats.org/officeDocument/2006/relationships/slide" Target="/ppt/slides/slide15.xml" Id="R14ef1ed3f76c4df5" /><Relationship Type="http://schemas.openxmlformats.org/officeDocument/2006/relationships/slide" Target="/ppt/slides/slide16.xml" Id="R143ee40140624f76" /><Relationship Type="http://schemas.openxmlformats.org/officeDocument/2006/relationships/slide" Target="/ppt/slides/slide17.xml" Id="R2e85b1c1c68c400c" /><Relationship Type="http://schemas.openxmlformats.org/officeDocument/2006/relationships/slide" Target="/ppt/slides/slide18.xml" Id="R8ff56f5a40c44d46" /><Relationship Type="http://schemas.openxmlformats.org/officeDocument/2006/relationships/slide" Target="/ppt/slides/slide19.xml" Id="Rae7500aafba8463b" /><Relationship Type="http://schemas.openxmlformats.org/officeDocument/2006/relationships/slide" Target="/ppt/slides/slide20.xml" Id="Rbebb66971afb4f91" /><Relationship Type="http://schemas.openxmlformats.org/officeDocument/2006/relationships/slide" Target="/ppt/slides/slide21.xml" Id="Ra22621a4fb00412e" /><Relationship Type="http://schemas.openxmlformats.org/officeDocument/2006/relationships/slide" Target="/ppt/slides/slide22.xml" Id="R6562e54d2e7940aa" /><Relationship Type="http://schemas.openxmlformats.org/officeDocument/2006/relationships/slide" Target="/ppt/slides/slide23.xml" Id="R0bcb935154424bba" /><Relationship Type="http://schemas.openxmlformats.org/officeDocument/2006/relationships/slide" Target="/ppt/slides/slide24.xml" Id="R7b7f281fa5ed4142" /><Relationship Type="http://schemas.openxmlformats.org/officeDocument/2006/relationships/slide" Target="/ppt/slides/slide25.xml" Id="Rea9e1950567d47ae" /><Relationship Type="http://schemas.openxmlformats.org/officeDocument/2006/relationships/slide" Target="/ppt/slides/slide26.xml" Id="Rf859042f264841bf" /><Relationship Type="http://schemas.openxmlformats.org/officeDocument/2006/relationships/slide" Target="/ppt/slides/slide27.xml" Id="Rdca576cba5264647" /><Relationship Type="http://schemas.openxmlformats.org/officeDocument/2006/relationships/slide" Target="/ppt/slides/slide28.xml" Id="R24a97fbd65b44e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3d07b9fca24b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d91e72b8d2486a" /><Relationship Type="http://schemas.openxmlformats.org/officeDocument/2006/relationships/notesMaster" Target="/ppt/notesMasters/notesMaster1.xml" Id="Ra116b27b838b4e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c0b4e29102428b" /><Relationship Type="http://schemas.openxmlformats.org/officeDocument/2006/relationships/notesMaster" Target="/ppt/notesMasters/notesMaster1.xml" Id="Rb6ed2e6e3d6547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2d452b3d734bc9" /><Relationship Type="http://schemas.openxmlformats.org/officeDocument/2006/relationships/notesMaster" Target="/ppt/notesMasters/notesMaster1.xml" Id="Rc72bc7e28f8e45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c8ffedd321418e" /><Relationship Type="http://schemas.openxmlformats.org/officeDocument/2006/relationships/notesMaster" Target="/ppt/notesMasters/notesMaster1.xml" Id="R0bd250305f9148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cc56019b884caf" /><Relationship Type="http://schemas.openxmlformats.org/officeDocument/2006/relationships/notesMaster" Target="/ppt/notesMasters/notesMaster1.xml" Id="R3f6162c7d12549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3333de23e64584" /><Relationship Type="http://schemas.openxmlformats.org/officeDocument/2006/relationships/notesMaster" Target="/ppt/notesMasters/notesMaster1.xml" Id="R05cc7c49c60d42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bdd37afbcb4ba6" /><Relationship Type="http://schemas.openxmlformats.org/officeDocument/2006/relationships/notesMaster" Target="/ppt/notesMasters/notesMaster1.xml" Id="R1f6be1b4c63447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dbff97040c45cd" /><Relationship Type="http://schemas.openxmlformats.org/officeDocument/2006/relationships/notesMaster" Target="/ppt/notesMasters/notesMaster1.xml" Id="Rb6f0d6e6400b4c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2f5c3566564dd7" /><Relationship Type="http://schemas.openxmlformats.org/officeDocument/2006/relationships/notesMaster" Target="/ppt/notesMasters/notesMaster1.xml" Id="R6f572911606b48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988b66e77c4fa2" /><Relationship Type="http://schemas.openxmlformats.org/officeDocument/2006/relationships/notesMaster" Target="/ppt/notesMasters/notesMaster1.xml" Id="R9112627ecfb840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08dc7183da4467" /><Relationship Type="http://schemas.openxmlformats.org/officeDocument/2006/relationships/notesMaster" Target="/ppt/notesMasters/notesMaster1.xml" Id="R92e23e6eed374a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84a3f515244419" /><Relationship Type="http://schemas.openxmlformats.org/officeDocument/2006/relationships/notesMaster" Target="/ppt/notesMasters/notesMaster1.xml" Id="R172d1d048eeb41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c5de557dc2432f" /><Relationship Type="http://schemas.openxmlformats.org/officeDocument/2006/relationships/notesMaster" Target="/ppt/notesMasters/notesMaster1.xml" Id="Rb8622cd3339548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909bc514c24db5" /><Relationship Type="http://schemas.openxmlformats.org/officeDocument/2006/relationships/notesMaster" Target="/ppt/notesMasters/notesMaster1.xml" Id="Raad75c1d210a4b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02ca2d9afc94b88" /><Relationship Type="http://schemas.openxmlformats.org/officeDocument/2006/relationships/notesMaster" Target="/ppt/notesMasters/notesMaster1.xml" Id="Re06e52e243f445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dc9ab3869c404a" /><Relationship Type="http://schemas.openxmlformats.org/officeDocument/2006/relationships/notesMaster" Target="/ppt/notesMasters/notesMaster1.xml" Id="Re2eb50088ef04a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b81f371f0242a3" /><Relationship Type="http://schemas.openxmlformats.org/officeDocument/2006/relationships/notesMaster" Target="/ppt/notesMasters/notesMaster1.xml" Id="Rdc77684b5dc844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56a558669f4c1d" /><Relationship Type="http://schemas.openxmlformats.org/officeDocument/2006/relationships/notesMaster" Target="/ppt/notesMasters/notesMaster1.xml" Id="R6ad28a6a016e49c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e2698a93654846" /><Relationship Type="http://schemas.openxmlformats.org/officeDocument/2006/relationships/notesMaster" Target="/ppt/notesMasters/notesMaster1.xml" Id="R1887bd1731314b4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aefe5e134954cdc" /><Relationship Type="http://schemas.openxmlformats.org/officeDocument/2006/relationships/notesMaster" Target="/ppt/notesMasters/notesMaster1.xml" Id="R904304879d52480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e6e56f513344ce" /><Relationship Type="http://schemas.openxmlformats.org/officeDocument/2006/relationships/notesMaster" Target="/ppt/notesMasters/notesMaster1.xml" Id="Rc587881b340549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cbfc9cb16234fe9" /><Relationship Type="http://schemas.openxmlformats.org/officeDocument/2006/relationships/notesMaster" Target="/ppt/notesMasters/notesMaster1.xml" Id="Rec6b21b41ea84f3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47a763b131b4e2e" /><Relationship Type="http://schemas.openxmlformats.org/officeDocument/2006/relationships/notesMaster" Target="/ppt/notesMasters/notesMaster1.xml" Id="R535cedfb6b9c41d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b6c52b43acf497b" /><Relationship Type="http://schemas.openxmlformats.org/officeDocument/2006/relationships/notesMaster" Target="/ppt/notesMasters/notesMaster1.xml" Id="R3040be657c35426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4d97fd111864674" /><Relationship Type="http://schemas.openxmlformats.org/officeDocument/2006/relationships/notesMaster" Target="/ppt/notesMasters/notesMaster1.xml" Id="Re28060a084514e3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9ae46d09f744b9e" /><Relationship Type="http://schemas.openxmlformats.org/officeDocument/2006/relationships/notesMaster" Target="/ppt/notesMasters/notesMaster1.xml" Id="R52f90b903be64da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fa31b52f7dc40e2" /><Relationship Type="http://schemas.openxmlformats.org/officeDocument/2006/relationships/notesMaster" Target="/ppt/notesMasters/notesMaster1.xml" Id="Rdfc26ec20199426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739f0c103c34423" /><Relationship Type="http://schemas.openxmlformats.org/officeDocument/2006/relationships/notesMaster" Target="/ppt/notesMasters/notesMaster1.xml" Id="R119b5bd4d8f240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question, not the selected number: how many superdroplets are needed per grid box before the simulated microphysical evolution is adequately resolved?</a:t>
            </a:r>
          </a:p>
          <a:p xmlns:a="http://schemas.openxmlformats.org/drawingml/2006/main">
            <a:r>
              <a:t/>
            </a:r>
          </a:p>
          <a:p xmlns:a="http://schemas.openxmlformats.org/drawingml/2006/main">
            <a:r>
              <a:t>This is a controlled 2-D CLEO test of condensation plus Long collision–coalescence using normal sampling. The result is intentionally configuration-specific: it is an operational choice for this grid, initial spectrum, 120-minute integration, diagnostics, and the 20-member ensembles.</a:t>
            </a:r>
          </a:p>
          <a:p xmlns:a="http://schemas.openxmlformats.org/drawingml/2006/main">
            <a:r>
              <a:t/>
            </a:r>
          </a:p>
          <a:p xmlns:a="http://schemas.openxmlformats.org/drawingml/2006/main">
            <a:r>
              <a:t>Source: project-owned report, Two_Dimensional_CLEO_Condensation_Collision_Convergence_Report_2026-09-27.docx.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frames convergence as a decision problem. A smooth-looking ensemble mean is not enough: rare collision pathways can alter tail-sensitive properties, while different members sample different collision histories.</a:t>
            </a:r>
          </a:p>
          <a:p xmlns:a="http://schemas.openxmlformats.org/drawingml/2006/main">
            <a:r>
              <a:t/>
            </a:r>
          </a:p>
          <a:p xmlns:a="http://schemas.openxmlformats.org/drawingml/2006/main">
            <a:r>
              <a:t>We therefore evaluate a distributional distance, moments of several orders, and explicitly physical diagnostics. The ensemble is part of the estimator rather than an afterthought.</a:t>
            </a:r>
          </a:p>
          <a:p xmlns:a="http://schemas.openxmlformats.org/drawingml/2006/main">
            <a:r>
              <a:t/>
            </a:r>
          </a:p>
          <a:p xmlns:a="http://schemas.openxmlformats.org/drawingml/2006/main">
            <a:r>
              <a:t>Ncell means the number of superdroplets per initially populated grid box, not the total number in the domain.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fixed grid used by the upstream constthermo2d example; we did not alter the geometry. The horizontal and vertical domain spans are each 1.5 km, while y is a 20 m depth used for volume.</a:t>
            </a:r>
          </a:p>
          <a:p xmlns:a="http://schemas.openxmlformats.org/drawingml/2006/main">
            <a:r>
              <a:t/>
            </a:r>
          </a:p>
          <a:p xmlns:a="http://schemas.openxmlformats.org/drawingml/2006/main">
            <a:r>
              <a:t>The initial population occupies the lowest 500 m: six 75-m vertical layers times 20 x-columns gives 120 populated grid boxes. The saturation-ratio profile changes at 750 m: 0.99 below and 1.0025 above.</a:t>
            </a:r>
          </a:p>
          <a:p xmlns:a="http://schemas.openxmlformats.org/drawingml/2006/main">
            <a:r>
              <a:t/>
            </a:r>
          </a:p>
          <a:p xmlns:a="http://schemas.openxmlformats.org/drawingml/2006/main">
            <a:r>
              <a:t>The key physical boundary caveat is that these are null boundaries. Drops do not leave the domain, so terminal-speed transport is a physically interpretable internal proxy, not surface rainfall.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configuration slide to return to if a supervisor asks what was controlled. The baseline YAML is project-owned and copied from upstream CLEO v0.69.1 commit 9224585d, apart from runtime-thread settings made by the batch request.</a:t>
            </a:r>
          </a:p>
          <a:p xmlns:a="http://schemas.openxmlformats.org/drawingml/2006/main">
            <a:r>
              <a:t/>
            </a:r>
          </a:p>
          <a:p xmlns:a="http://schemas.openxmlformats.org/drawingml/2006/main">
            <a:r>
              <a:t>The nominal support was 3 nm to 3 µm. For the separate 8,192-SD cohort only, the support was corrected to 4 nm–2 µm after an integer-multiplicity feasibility audit; the omitted analytical mass was 0.00205% and the omitted number 0.000052%. This repair protects input feasibility and does not change the interpretation of the high-resolution comparator.</a:t>
            </a:r>
          </a:p>
          <a:p xmlns:a="http://schemas.openxmlformats.org/drawingml/2006/main">
            <a:r>
              <a:t/>
            </a:r>
          </a:p>
          <a:p xmlns:a="http://schemas.openxmlformats.org/drawingml/2006/main">
            <a:r>
              <a:t>Sources: config/constthermo2d_fixedgrid_baseline_v1.yaml; upstream examples/constthermo2d/src/config/const2d_config.yaml.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was deliberately a reproducible batch experiment rather than a collection of interactive runs. Each member has a sealed configuration, raw Zarr output, and a receipt/marker gate before it enters analysis.</a:t>
            </a:r>
          </a:p>
          <a:p xmlns:a="http://schemas.openxmlformats.org/drawingml/2006/main">
            <a:r>
              <a:t/>
            </a:r>
          </a:p>
          <a:p xmlns:a="http://schemas.openxmlformats.org/drawingml/2006/main">
            <a:r>
              <a:t>The computation does not use MPI domain decomposition: the model runs with one rank and Kokkos Threads. Parallel throughput comes from independent one-rank members, capped at twenty concurrent jobs.</a:t>
            </a:r>
          </a:p>
          <a:p xmlns:a="http://schemas.openxmlformats.org/drawingml/2006/main">
            <a:r>
              <a:t/>
            </a:r>
          </a:p>
          <a:p xmlns:a="http://schemas.openxmlformats.org/drawingml/2006/main">
            <a:r>
              <a:t>The original Ncell=4 production experienced an early materialization race before CLEO integration. The runner was repaired by adding a configuration preflight; no invalid trajectory was accepted and the raw evidence was preserved. This distinction matters: parent Slurm completion alone is not considered a scientific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notation is λ rather than M throughout. Each superdroplet represents ξᵢ real droplets of radius rᵢ.</a:t>
            </a:r>
          </a:p>
          <a:p xmlns:a="http://schemas.openxmlformats.org/drawingml/2006/main">
            <a:r>
              <a:t/>
            </a:r>
          </a:p>
          <a:p xmlns:a="http://schemas.openxmlformats.org/drawingml/2006/main">
            <a:r>
              <a:t>λ₂ is related to droplet geometric surface area, which is relevant to optical extinction only with additional assumptions; it is not a radiative-transfer calculation. λ₃ gives liquid volume and therefore liquid-equivalent water content after multiplying by density. λ₆ amplifies the large-drop tail and can be converted into a Rayleigh reflectivity-factor proxy when radii are expressed in millimetres.</a:t>
            </a:r>
          </a:p>
          <a:p xmlns:a="http://schemas.openxmlformats.org/drawingml/2006/main">
            <a:r>
              <a:t/>
            </a:r>
          </a:p>
          <a:p xmlns:a="http://schemas.openxmlformats.org/drawingml/2006/main">
            <a:r>
              <a:t>P weights each represented droplet mass by terminal speed. Because there is no lower boundary removal, it must be called virtual in-domain transport, not rainfall at the surface.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selection is deliberately more demanding than simply comparing a candidate with the highest available resolution. The two successive doubling comparisons help distinguish a local coincidence from a resolution plateau.</a:t>
            </a:r>
          </a:p>
          <a:p xmlns:a="http://schemas.openxmlformats.org/drawingml/2006/main">
            <a:r>
              <a:t/>
            </a:r>
          </a:p>
          <a:p xmlns:a="http://schemas.openxmlformats.org/drawingml/2006/main">
            <a:r>
              <a:t>For scalars, the symmetric percentage difference is 200 times the absolute difference divided by the sum of magnitudes. For distributions, the primary statistic is 500-bin mass-DSD total variation. We take the maximum over every postinitial stored time.</a:t>
            </a:r>
          </a:p>
          <a:p xmlns:a="http://schemas.openxmlformats.org/drawingml/2006/main">
            <a:r>
              <a:t/>
            </a:r>
          </a:p>
          <a:p xmlns:a="http://schemas.openxmlformats.org/drawingml/2006/main">
            <a:r>
              <a:t>The 8,192-SD row is an internal comparator, not an external analytical truth. That is why we call the result an operational, configuration-specific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four panels as ensemble-mean trajectories, with the high-resolution comparator available inside the analysis. λ₀ falls as collision–coalescence reduces droplet number, while λ₆ grows strongly as mass enters the large-drop tail.</a:t>
            </a:r>
          </a:p>
          <a:p xmlns:a="http://schemas.openxmlformats.org/drawingml/2006/main">
            <a:r>
              <a:t/>
            </a:r>
          </a:p>
          <a:p xmlns:a="http://schemas.openxmlformats.org/drawingml/2006/main">
            <a:r>
              <a:t>Do not select a resolution from this figure alone. Its role is to show the evolving physical regime and motivate why both bulk and tail diagnostics are retained.</a:t>
            </a:r>
          </a:p>
          <a:p xmlns:a="http://schemas.openxmlformats.org/drawingml/2006/main">
            <a:r>
              <a:t/>
            </a:r>
          </a:p>
          <a:p xmlns:a="http://schemas.openxmlformats.org/drawingml/2006/main">
            <a:r>
              <a:t>Source: results/analysis/constthermo2d_fixedgrid_with8192_descriptive_v3/01_ensemble_moment_and_physical_evolution.png.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curve is a mass-weighted DSD, so the plot emphasizes where liquid water resides across radius. This is why it is useful for collision–coalescence: the key question is not just how many droplets remain, but how liquid mass moves through size space.</a:t>
            </a:r>
          </a:p>
          <a:p xmlns:a="http://schemas.openxmlformats.org/drawingml/2006/main">
            <a:r>
              <a:t/>
            </a:r>
          </a:p>
          <a:p xmlns:a="http://schemas.openxmlformats.org/drawingml/2006/main">
            <a:r>
              <a:t>The distribution comparison uses normalized mass DSDs, so total liquid mass does not dominate the distance. The 500-bin total variation is the primary distributional decision diagnostic.</a:t>
            </a:r>
          </a:p>
          <a:p xmlns:a="http://schemas.openxmlformats.org/drawingml/2006/main">
            <a:r>
              <a:t/>
            </a:r>
          </a:p>
          <a:p xmlns:a="http://schemas.openxmlformats.org/drawingml/2006/main">
            <a:r>
              <a:t>Source: results/analysis/constthermo2d_fixedgrid_with8192_descriptive_v3/02_mass_dsd_evolution_representative_resolutions.png.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summarizes full-ensemble disagreement with the 8,192-SD comparator across the tested Ncell values. Interpret it as descriptive evidence, not as a formal pass/fail figure: it does not itself encode bootstrap uncertainty or the two adjacent-doubling checks.</a:t>
            </a:r>
          </a:p>
          <a:p xmlns:a="http://schemas.openxmlformats.org/drawingml/2006/main">
            <a:r>
              <a:t/>
            </a:r>
          </a:p>
          <a:p xmlns:a="http://schemas.openxmlformats.org/drawingml/2006/main">
            <a:r>
              <a:t>It establishes why Ncell=2 and the lowest resolutions cannot support the same evolution as the resolved ladder.</a:t>
            </a:r>
          </a:p>
          <a:p xmlns:a="http://schemas.openxmlformats.org/drawingml/2006/main">
            <a:r>
              <a:t/>
            </a:r>
          </a:p>
          <a:p xmlns:a="http://schemas.openxmlformats.org/drawingml/2006/main">
            <a:r>
              <a:t>Source: results/analysis/constthermo2d_fixedgrid_with8192_descriptive_v3/03_descriptive_full20_reference_ladder.png.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violin represents the 20 member-level values at the indicated time and resolution. The ensemble mean can be stable while individual trajectories remain variable, especially for tail-sensitive quantities.</a:t>
            </a:r>
          </a:p>
          <a:p xmlns:a="http://schemas.openxmlformats.org/drawingml/2006/main">
            <a:r>
              <a:t/>
            </a:r>
          </a:p>
          <a:p xmlns:a="http://schemas.openxmlformats.org/drawingml/2006/main">
            <a:r>
              <a:t>The important message is that convergence has two dimensions: resolution changes the estimator and ensemble size controls the uncertainty in its mean. The later bootstrap uses these 20 members on each side independently.</a:t>
            </a:r>
          </a:p>
          <a:p xmlns:a="http://schemas.openxmlformats.org/drawingml/2006/main">
            <a:r>
              <a:t/>
            </a:r>
          </a:p>
          <a:p xmlns:a="http://schemas.openxmlformats.org/drawingml/2006/main">
            <a:r>
              <a:t>Source: results/analysis/constthermo2d_fixedgrid_with8192_descriptive_v3/04_member_violin_diagnostics_at_multiple_times.png.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exploratory precision surface built from subsampling the available 20-member pools. It maps how the measured disagreement changes with both Ncell and the number of members retained.</a:t>
            </a:r>
          </a:p>
          <a:p xmlns:a="http://schemas.openxmlformats.org/drawingml/2006/main">
            <a:r>
              <a:t/>
            </a:r>
          </a:p>
          <a:p xmlns:a="http://schemas.openxmlformats.org/drawingml/2006/main">
            <a:r>
              <a:t>Treat the k=20 column as observed full-ensemble evidence. Smaller k values are subsamples; they show the direction and rate of uncertainty reduction but do not create new independent members.</a:t>
            </a:r>
          </a:p>
          <a:p xmlns:a="http://schemas.openxmlformats.org/drawingml/2006/main">
            <a:r>
              <a:t/>
            </a:r>
          </a:p>
          <a:p xmlns:a="http://schemas.openxmlformats.org/drawingml/2006/main">
            <a:r>
              <a:t>Source: results/analysis/constthermo2d_fixedgrid_with8192_descriptive_v3/05_resolution_ensemble_precision_surface.png.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panel is the formal uncertainty view: it reports one-sided 95% bootstrap upper bounds built by independently resampling the 20 members on each comparison side.</a:t>
            </a:r>
          </a:p>
          <a:p xmlns:a="http://schemas.openxmlformats.org/drawingml/2006/main">
            <a:r>
              <a:t/>
            </a:r>
          </a:p>
          <a:p xmlns:a="http://schemas.openxmlformats.org/drawingml/2006/main">
            <a:r>
              <a:t>The right panel checks whether a resolution conclusion changes materially when the DSD representation uses 250, 500, or 1,000 log-radius bins. 500 bins is the primary diagnostic; the other two are sensitivity checks, not extra selection metrics.</a:t>
            </a:r>
          </a:p>
          <a:p xmlns:a="http://schemas.openxmlformats.org/drawingml/2006/main">
            <a:r>
              <a:t/>
            </a:r>
          </a:p>
          <a:p xmlns:a="http://schemas.openxmlformats.org/drawingml/2006/main">
            <a:r>
              <a:t>Sources: results/analysis/constthermo2d_fixedgrid_with8192_bootstrap_v3/06_high_resolution_bootstrap_bounds.png and 07_adjacent_doubling_dsd_bin_sensitivity.png.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decision figure. A candidate must clear its reference comparison, its N-to-2N comparison, and the 2N-to-4N confirmation for the stated core and tail checks.</a:t>
            </a:r>
          </a:p>
          <a:p xmlns:a="http://schemas.openxmlformats.org/drawingml/2006/main">
            <a:r>
              <a:t/>
            </a:r>
          </a:p>
          <a:p xmlns:a="http://schemas.openxmlformats.org/drawingml/2006/main">
            <a:r>
              <a:t>Ncell=512 does not pass because the mass-DSD upper bound in the first adjacent-doubling comparison is 5.11%, just beyond the 5% core tolerance. Ncell=1024 passes; its largest upper-bound-to-tolerance ratio is 0.75 for the adjacent 1024-to-2048 comparison.</a:t>
            </a:r>
          </a:p>
          <a:p xmlns:a="http://schemas.openxmlformats.org/drawingml/2006/main">
            <a:r>
              <a:t/>
            </a:r>
          </a:p>
          <a:p xmlns:a="http://schemas.openxmlformats.org/drawingml/2006/main">
            <a:r>
              <a:t>Source: results/analysis/constthermo2d_fixedgrid_operational_selection_v5/01_operational_convergence_gate_matrix.png.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overview extends beyond the original λ0/λ6 view. The key physical message is that coalescence transfers number into size: λ0 declines, while higher-order moments grow as large droplets emerge.</a:t>
            </a:r>
          </a:p>
          <a:p xmlns:a="http://schemas.openxmlformats.org/drawingml/2006/main">
            <a:r>
              <a:t/>
            </a:r>
          </a:p>
          <a:p xmlns:a="http://schemas.openxmlformats.org/drawingml/2006/main">
            <a:r>
              <a:t>Because the domain has no rain-out, domain liquid mass should be interpreted as retained liquid, not a precipitation budget. The plotted conservation behavior is also an implementation-quality check.</a:t>
            </a:r>
          </a:p>
          <a:p xmlns:a="http://schemas.openxmlformats.org/drawingml/2006/main">
            <a:r>
              <a:t/>
            </a:r>
          </a:p>
          <a:p xmlns:a="http://schemas.openxmlformats.org/drawingml/2006/main">
            <a:r>
              <a:t>Source: results/analysis/constthermo2d_fixedgrid_physical_diagnostics_v3/01_all_moments_and_mass_evolution.png.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figure to connect moments to an intuitive droplet picture. The number-weighted population is depleted, while high-percentile and mass-weighted radii rise. Terminal speed rises because the liquid mass migrates into larger drops.</a:t>
            </a:r>
          </a:p>
          <a:p xmlns:a="http://schemas.openxmlformats.org/drawingml/2006/main">
            <a:r>
              <a:t/>
            </a:r>
          </a:p>
          <a:p xmlns:a="http://schemas.openxmlformats.org/drawingml/2006/main">
            <a:r>
              <a:t>This is still an in-domain evolution. A fast drop here is a dynamical/microphysical diagnostic; it is not proof of rain reaching a surface.</a:t>
            </a:r>
          </a:p>
          <a:p xmlns:a="http://schemas.openxmlformats.org/drawingml/2006/main">
            <a:r>
              <a:t/>
            </a:r>
          </a:p>
          <a:p xmlns:a="http://schemas.openxmlformats.org/drawingml/2006/main">
            <a:r>
              <a:t>Source: results/analysis/constthermo2d_fixedgrid_physical_diagnostics_v3/02_radius_transport_and_population_evolution.png.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panel weights each represented droplet equally and therefore highlights the numerous cloud droplets. The right panel weights by liquid mass and therefore highlights the rare but dynamically important large droplets.</a:t>
            </a:r>
          </a:p>
          <a:p xmlns:a="http://schemas.openxmlformats.org/drawingml/2006/main">
            <a:r>
              <a:t/>
            </a:r>
          </a:p>
          <a:p xmlns:a="http://schemas.openxmlformats.org/drawingml/2006/main">
            <a:r>
              <a:t>It is entirely possible for the number DSD to look dominated by small radii while the mass DSD is dominated by much larger radii. This is why the primary distributional metric is mass-DSD total variation.</a:t>
            </a:r>
          </a:p>
          <a:p xmlns:a="http://schemas.openxmlformats.org/drawingml/2006/main">
            <a:r>
              <a:t/>
            </a:r>
          </a:p>
          <a:p xmlns:a="http://schemas.openxmlformats.org/drawingml/2006/main">
            <a:r>
              <a:t>Sources: results/analysis/constthermo2d_fixedgrid_physical_diagnostics_v3/03_number_dsd_evolution.png and 04_total-droplet-mass_dsd_evolution.png.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is the physical counterpart of the abstract moment notation. λ2 maps to geometric surface-area density, λ3 maps to liquid water content, and λ6 maps to a Rayleigh reflectivity-factor proxy.</a:t>
            </a:r>
          </a:p>
          <a:p xmlns:a="http://schemas.openxmlformats.org/drawingml/2006/main">
            <a:r>
              <a:t/>
            </a:r>
          </a:p>
          <a:p xmlns:a="http://schemas.openxmlformats.org/drawingml/2006/main">
            <a:r>
              <a:t>The calibration is useful because it forces the diagnostic selection to be physically intelligible. However, neither extinction nor radar reflectivity is simulated in a full forward model here; these are moments/proxies.</a:t>
            </a:r>
          </a:p>
          <a:p xmlns:a="http://schemas.openxmlformats.org/drawingml/2006/main">
            <a:r>
              <a:t/>
            </a:r>
          </a:p>
          <a:p xmlns:a="http://schemas.openxmlformats.org/drawingml/2006/main">
            <a:r>
              <a:t>Source: results/analysis/constthermo2d_fixedgrid_physical_diagnostics_v3/05_physical_moment_proxies_evolution.png.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virtual flux panel weights liquid mass by terminal speed. It is the diagnostic Bjorn suggested, translated correctly to this closed system.</a:t>
            </a:r>
          </a:p>
          <a:p xmlns:a="http://schemas.openxmlformats.org/drawingml/2006/main">
            <a:r>
              <a:t/>
            </a:r>
          </a:p>
          <a:p xmlns:a="http://schemas.openxmlformats.org/drawingml/2006/main">
            <a:r>
              <a:t>The terminal-speed spectrum shows where the mass resides in velocity space. The relevant evolution is not a story about 2 or 4 m/s rain; it is a cloud-to-fast-drop transition with much of the mass in the sub-to-about-one-metre-per-second range.</a:t>
            </a:r>
          </a:p>
          <a:p xmlns:a="http://schemas.openxmlformats.org/drawingml/2006/main">
            <a:r>
              <a:t/>
            </a:r>
          </a:p>
          <a:p xmlns:a="http://schemas.openxmlformats.org/drawingml/2006/main">
            <a:r>
              <a:t>Sources: results/analysis/constthermo2d_fixedgrid_physical_diagnostics_v3/06_virtual_flux_and_fastdrop_evolution.png and 07_terminal_speed_mass_spectrum.png.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independent audit using physically translated diagnostics. The 512-to-1024 comparison fails the virtual-flux diagnostic at 6.46%, so 512 is not defensible even though it is close on some earlier metrics.</a:t>
            </a:r>
          </a:p>
          <a:p xmlns:a="http://schemas.openxmlformats.org/drawingml/2006/main">
            <a:r>
              <a:t/>
            </a:r>
          </a:p>
          <a:p xmlns:a="http://schemas.openxmlformats.org/drawingml/2006/main">
            <a:r>
              <a:t>For 1024 versus 8192, the physical upper bounds are all within tolerance: A=1.00%, L=1.88%, Z=5.71%, speed=2.35%, and virtual flux=3.53%. The controlled flux row is the largest ratio to tolerance, about 0.707, yet still passes.</a:t>
            </a:r>
          </a:p>
          <a:p xmlns:a="http://schemas.openxmlformats.org/drawingml/2006/main">
            <a:r>
              <a:t/>
            </a:r>
          </a:p>
          <a:p xmlns:a="http://schemas.openxmlformats.org/drawingml/2006/main">
            <a:r>
              <a:t>Source: results/analysis/constthermo2d_fixedgrid_physical_diagnostics_v3/09_physical_diagnostics_reference_ladder.png.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intentionally called fast-drop development time. It answers when a small fraction of the in-domain liquid mass first occupies a fast-droplet terminal-speed class.</a:t>
            </a:r>
          </a:p>
          <a:p xmlns:a="http://schemas.openxmlformats.org/drawingml/2006/main">
            <a:r>
              <a:t/>
            </a:r>
          </a:p>
          <a:p xmlns:a="http://schemas.openxmlformats.org/drawingml/2006/main">
            <a:r>
              <a:t>Because there is no surface boundary, it must not be presented as surface rainfall onset. The observer only writes every 120 seconds, so even a perfectly converged physical trajectory would only be located within the output-time resolution.</a:t>
            </a:r>
          </a:p>
          <a:p xmlns:a="http://schemas.openxmlformats.org/drawingml/2006/main">
            <a:r>
              <a:t/>
            </a:r>
          </a:p>
          <a:p xmlns:a="http://schemas.openxmlformats.org/drawingml/2006/main">
            <a:r>
              <a:t>Source: results/analysis/constthermo2d_fixedgrid_physical_diagnostics_v3/10_fastdrop_development_time.png.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uses the native 75-m grid. The previous pixelated appearance is therefore not an export defect; it correctly reflects the model’s physical/numerical grid.</a:t>
            </a:r>
          </a:p>
          <a:p xmlns:a="http://schemas.openxmlformats.org/drawingml/2006/main">
            <a:r>
              <a:t/>
            </a:r>
          </a:p>
          <a:p xmlns:a="http://schemas.openxmlformats.org/drawingml/2006/main">
            <a:r>
              <a:t>Spatial agreement between the 1024 and 8192 rows gives a complementary physical check. It does not claim grid convergence — the grid itself is fixed — but it shows that superdroplet sampling no longer creates a qualitatively different spatial mass pattern at the chosen Ncell.</a:t>
            </a:r>
          </a:p>
          <a:p xmlns:a="http://schemas.openxmlformats.org/drawingml/2006/main">
            <a:r>
              <a:t/>
            </a:r>
          </a:p>
          <a:p xmlns:a="http://schemas.openxmlformats.org/drawingml/2006/main">
            <a:r>
              <a:t>Source: results/analysis/constthermo2d_fixedgrid_physical_diagnostics_v3/08_spatial_total_droplet_mass_fields.png.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plots make the spectral progression intuitive. The time–radius panel shows where mass resides as time evolves. The size-class mass-fraction panel summarizes that redistribution using explicitly chosen radius categories.</a:t>
            </a:r>
          </a:p>
          <a:p xmlns:a="http://schemas.openxmlformats.org/drawingml/2006/main">
            <a:r>
              <a:t/>
            </a:r>
          </a:p>
          <a:p xmlns:a="http://schemas.openxmlformats.org/drawingml/2006/main">
            <a:r>
              <a:t>The categories are not an additional convergence criterion. They are a physically communicable diagnostic, useful for explaining the evolution from cloud droplets through drizzle-sized drops toward larger drops.</a:t>
            </a:r>
          </a:p>
          <a:p xmlns:a="http://schemas.openxmlformats.org/drawingml/2006/main">
            <a:r>
              <a:t/>
            </a:r>
          </a:p>
          <a:p xmlns:a="http://schemas.openxmlformats.org/drawingml/2006/main">
            <a:r>
              <a:t>Sources: results/analysis/constthermo2d_fixedgrid_size_class_visuals_v5/03_mass_dsd_time_radius_Ncell1024.png and 04_size_class_mass_fractions.png.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plot uses native grid cells, and the right is the first frame from a three-resolution spatial animation. The animation compares Ncell=2, 1024 and 8192 using raw massmom1 data, the 20-member ensemble mean, and a common log physical scale.</a:t>
            </a:r>
          </a:p>
          <a:p xmlns:a="http://schemas.openxmlformats.org/drawingml/2006/main">
            <a:r>
              <a:t/>
            </a:r>
          </a:p>
          <a:p xmlns:a="http://schemas.openxmlformats.org/drawingml/2006/main">
            <a:r>
              <a:t>The accompanying files are stored under results/analysis/constthermo2d_fixedgrid_spatial_mass_animation_v1/. The MP4 and GIF are useful for discussion but are not embedded in this deck.</a:t>
            </a:r>
          </a:p>
          <a:p xmlns:a="http://schemas.openxmlformats.org/drawingml/2006/main">
            <a:r>
              <a:t/>
            </a:r>
          </a:p>
          <a:p xmlns:a="http://schemas.openxmlformats.org/drawingml/2006/main">
            <a:r>
              <a:t>Sources: .../size_class_visuals_v5/05_native_grid_cell_mass_fields_Ncell1024.png; .../spatial_mass_animation_v1/spatial_total_droplet_mass_evolution_first_frame.png.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conclusion precisely. The selected number is 1,024 SDs per initially populated grid box; with 120 populated cells this corresponds to 122,880 superdroplets initially in the domain.</a:t>
            </a:r>
          </a:p>
          <a:p xmlns:a="http://schemas.openxmlformats.org/drawingml/2006/main">
            <a:r>
              <a:t/>
            </a:r>
          </a:p>
          <a:p xmlns:a="http://schemas.openxmlformats.org/drawingml/2006/main">
            <a:r>
              <a:t>The reason 512 is excluded is concrete: it narrowly fails the primary distributional adjacent-doubling criterion and fails the physical virtual-flux check. This makes 1024 a more defensible selection than a visual plateau rule would.</a:t>
            </a:r>
          </a:p>
          <a:p xmlns:a="http://schemas.openxmlformats.org/drawingml/2006/main">
            <a:r>
              <a:t/>
            </a:r>
          </a:p>
          <a:p xmlns:a="http://schemas.openxmlformats.org/drawingml/2006/main">
            <a:r>
              <a:t>Do not turn this into a universal SDM requirement. It is contingent on this domain, spectrum, thermodynamics, kernel, diagnostics, time horizon, normal sampling protocol, and finite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good supervisor discussion needs boundaries around the conclusion. This study establishes a careful operational selection, not a claim that 1024 is intrinsically sufficient everywhere.</a:t>
            </a:r>
          </a:p>
          <a:p xmlns:a="http://schemas.openxmlformats.org/drawingml/2006/main">
            <a:r>
              <a:t/>
            </a:r>
          </a:p>
          <a:p xmlns:a="http://schemas.openxmlformats.org/drawingml/2006/main">
            <a:r>
              <a:t>The next logical question is whether importance/alpha sampling changes the resolution–ensemble tradeoff. That is a new experiment, not a reinterpretation of this one; it needs a separate target/proposal/weighting audit and a fresh resolution matrix.</a:t>
            </a:r>
          </a:p>
          <a:p xmlns:a="http://schemas.openxmlformats.org/drawingml/2006/main">
            <a:r>
              <a:t/>
            </a:r>
          </a:p>
          <a:p xmlns:a="http://schemas.openxmlformats.org/drawingml/2006/main">
            <a:r>
              <a:t>Other extensions include moving boundaries or a 3-D / 2-D dynamical setup if the question becomes actual precipitation rather than internal fast-drop evolution.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final technical slide provides a direct audit map. The project-owned frozen YAML, the upstream source config, the Levante production roots, analysis scripts, animation scripts, and the full Word report are all separated.</a:t>
            </a:r>
          </a:p>
          <a:p xmlns:a="http://schemas.openxmlformats.org/drawingml/2006/main">
            <a:r>
              <a:t/>
            </a:r>
          </a:p>
          <a:p xmlns:a="http://schemas.openxmlformats.org/drawingml/2006/main">
            <a:r>
              <a:t>The deck is a communication artifact; the report contains the full figure set, exact command-level audit trail, figure-by-figure interpretations, and the caveats behind the selection.</a:t>
            </a:r>
          </a:p>
          <a:p xmlns:a="http://schemas.openxmlformats.org/drawingml/2006/main">
            <a:r>
              <a:t/>
            </a:r>
          </a:p>
          <a:p xmlns:a="http://schemas.openxmlformats.org/drawingml/2006/main">
            <a:r>
              <a:t>No new compute was run to create this deck; it presents existing verified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repeating the scope: this is a rigorous operational convergence study for a well-defined model configuration. The experimental result is useful because it tells us where normal sampling is sufficient before adding a new sampling layer or a more complex geometry.</a:t>
            </a:r>
          </a:p>
          <a:p xmlns:a="http://schemas.openxmlformats.org/drawingml/2006/main">
            <a:r>
              <a:t/>
            </a:r>
          </a:p>
          <a:p xmlns:a="http://schemas.openxmlformats.org/drawingml/2006/main">
            <a:r>
              <a:t>Invite discussion on the most consequential next extension: alpha sampling under the same physical configuration, with a fresh joint resolution–ensemble analysis.</a:t>
            </a:r>
          </a:p>
          <a:p xmlns:a="http://schemas.openxmlformats.org/drawingml/2006/main">
            <a:r>
              <a:t/>
            </a:r>
          </a:p>
          <a:p xmlns:a="http://schemas.openxmlformats.org/drawingml/2006/main">
            <a:r>
              <a:t>No claim is made about surface rainfall or a universal Ncell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ed2892bc4e43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1cb55a15f44cb4" /><Relationship Type="http://schemas.openxmlformats.org/officeDocument/2006/relationships/slideLayout" Target="/ppt/slideLayouts/slideLayout1.xml" Id="Rc05093678f4a45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5093678f4a45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6b17249937484e" /><Relationship Type="http://schemas.openxmlformats.org/officeDocument/2006/relationships/notesSlide" Target="/ppt/notesSlides/notesSlide1.xml" Id="R28135963241549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8002b1b0e9402b" /><Relationship Type="http://schemas.openxmlformats.org/officeDocument/2006/relationships/notesSlide" Target="/ppt/notesSlides/notesSlide2.xml" Id="Rd5ccee7abb684c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626b266d1947ad" /><Relationship Type="http://schemas.openxmlformats.org/officeDocument/2006/relationships/notesSlide" Target="/ppt/notesSlides/notesSlide3.xml" Id="Rcdca5ab4ea7f40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88450aea974e60" /><Relationship Type="http://schemas.openxmlformats.org/officeDocument/2006/relationships/notesSlide" Target="/ppt/notesSlides/notesSlide4.xml" Id="Rf13ec39fd8a344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05b9d7507a4850" /><Relationship Type="http://schemas.openxmlformats.org/officeDocument/2006/relationships/notesSlide" Target="/ppt/notesSlides/notesSlide5.xml" Id="Ra5a476a973f14b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18c263ac3249ab" /><Relationship Type="http://schemas.openxmlformats.org/officeDocument/2006/relationships/notesSlide" Target="/ppt/notesSlides/notesSlide6.xml" Id="R79cc3e13e2b942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dad2415c974e4a" /><Relationship Type="http://schemas.openxmlformats.org/officeDocument/2006/relationships/notesSlide" Target="/ppt/notesSlides/notesSlide7.xml" Id="R11a1af2ff46347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ab7e3784ff24b64" /><Relationship Type="http://schemas.openxmlformats.org/officeDocument/2006/relationships/image" Target="/ppt/media/image.png" Id="Rf82e37e896d441ae" /><Relationship Type="http://schemas.openxmlformats.org/officeDocument/2006/relationships/notesSlide" Target="/ppt/notesSlides/notesSlide8.xml" Id="R0a337016f5c646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f9613f2f4e4671" /><Relationship Type="http://schemas.openxmlformats.org/officeDocument/2006/relationships/image" Target="/ppt/media/image2.png" Id="R7b29e2a998604acc" /><Relationship Type="http://schemas.openxmlformats.org/officeDocument/2006/relationships/notesSlide" Target="/ppt/notesSlides/notesSlide9.xml" Id="R5d54f8d6ab364f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e3849e4ab584dda" /><Relationship Type="http://schemas.openxmlformats.org/officeDocument/2006/relationships/image" Target="/ppt/media/image3.png" Id="R6bb5f5d564f1400b" /><Relationship Type="http://schemas.openxmlformats.org/officeDocument/2006/relationships/notesSlide" Target="/ppt/notesSlides/notesSlide10.xml" Id="R6acd8feb5b7b4a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a211ddce8b4243" /><Relationship Type="http://schemas.openxmlformats.org/officeDocument/2006/relationships/image" Target="/ppt/media/image4.png" Id="R8b399572e51549c3" /><Relationship Type="http://schemas.openxmlformats.org/officeDocument/2006/relationships/notesSlide" Target="/ppt/notesSlides/notesSlide11.xml" Id="Reefc0a1313ab48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06736e14a74d61" /><Relationship Type="http://schemas.openxmlformats.org/officeDocument/2006/relationships/image" Target="/ppt/media/image5.png" Id="Ra4159ebf7d064bee" /><Relationship Type="http://schemas.openxmlformats.org/officeDocument/2006/relationships/notesSlide" Target="/ppt/notesSlides/notesSlide12.xml" Id="R62491bf4fd1840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c712643032439f" /><Relationship Type="http://schemas.openxmlformats.org/officeDocument/2006/relationships/image" Target="/ppt/media/image6.png" Id="R820112169bb74fc3" /><Relationship Type="http://schemas.openxmlformats.org/officeDocument/2006/relationships/image" Target="/ppt/media/image7.png" Id="Rc138469e015845ce" /><Relationship Type="http://schemas.openxmlformats.org/officeDocument/2006/relationships/notesSlide" Target="/ppt/notesSlides/notesSlide13.xml" Id="Rb0d134cf367a4d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d84244b93e42bd" /><Relationship Type="http://schemas.openxmlformats.org/officeDocument/2006/relationships/image" Target="/ppt/media/image8.png" Id="R930ebdb0c2604592" /><Relationship Type="http://schemas.openxmlformats.org/officeDocument/2006/relationships/notesSlide" Target="/ppt/notesSlides/notesSlide14.xml" Id="R5e476362553146b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b57cc0cdba9417d" /><Relationship Type="http://schemas.openxmlformats.org/officeDocument/2006/relationships/image" Target="/ppt/media/image9.png" Id="R8be2c520591346ad" /><Relationship Type="http://schemas.openxmlformats.org/officeDocument/2006/relationships/notesSlide" Target="/ppt/notesSlides/notesSlide15.xml" Id="Rabe7f281a0654b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76cdf4326424068" /><Relationship Type="http://schemas.openxmlformats.org/officeDocument/2006/relationships/image" Target="/ppt/media/image10.png" Id="R60be8898b90b4521" /><Relationship Type="http://schemas.openxmlformats.org/officeDocument/2006/relationships/notesSlide" Target="/ppt/notesSlides/notesSlide16.xml" Id="R57606e3abc4c42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ded4024f5e74cd9" /><Relationship Type="http://schemas.openxmlformats.org/officeDocument/2006/relationships/image" Target="/ppt/media/image11.png" Id="Rfed893b68672441c" /><Relationship Type="http://schemas.openxmlformats.org/officeDocument/2006/relationships/image" Target="/ppt/media/image12.png" Id="R14edfcd103234003" /><Relationship Type="http://schemas.openxmlformats.org/officeDocument/2006/relationships/notesSlide" Target="/ppt/notesSlides/notesSlide17.xml" Id="R04702767399443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abf67a0b6654610" /><Relationship Type="http://schemas.openxmlformats.org/officeDocument/2006/relationships/image" Target="/ppt/media/image13.png" Id="Rd34dab3f628f4cb7" /><Relationship Type="http://schemas.openxmlformats.org/officeDocument/2006/relationships/notesSlide" Target="/ppt/notesSlides/notesSlide18.xml" Id="R333863dd5ee04b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25c65ddd9b94273" /><Relationship Type="http://schemas.openxmlformats.org/officeDocument/2006/relationships/image" Target="/ppt/media/image14.png" Id="Rea61e05d08d6497a" /><Relationship Type="http://schemas.openxmlformats.org/officeDocument/2006/relationships/image" Target="/ppt/media/image15.png" Id="R0846f202ce304f3a" /><Relationship Type="http://schemas.openxmlformats.org/officeDocument/2006/relationships/notesSlide" Target="/ppt/notesSlides/notesSlide19.xml" Id="R6ee8374c431a45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3f3a8d64c54df7" /><Relationship Type="http://schemas.openxmlformats.org/officeDocument/2006/relationships/image" Target="/ppt/media/image16.png" Id="R1144a214450c4ca0" /><Relationship Type="http://schemas.openxmlformats.org/officeDocument/2006/relationships/notesSlide" Target="/ppt/notesSlides/notesSlide20.xml" Id="Re1f178231f9d4e5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eae6b7f6b994e89" /><Relationship Type="http://schemas.openxmlformats.org/officeDocument/2006/relationships/image" Target="/ppt/media/image17.png" Id="Reacd6dc2c9a04af5" /><Relationship Type="http://schemas.openxmlformats.org/officeDocument/2006/relationships/notesSlide" Target="/ppt/notesSlides/notesSlide21.xml" Id="R166b20bcf5c64e2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8b3b16b94c249ee" /><Relationship Type="http://schemas.openxmlformats.org/officeDocument/2006/relationships/image" Target="/ppt/media/image18.png" Id="R9f2c7dc8240d41dd" /><Relationship Type="http://schemas.openxmlformats.org/officeDocument/2006/relationships/notesSlide" Target="/ppt/notesSlides/notesSlide22.xml" Id="R4b8d54e5c4ae4e1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45f3dfc6b274377" /><Relationship Type="http://schemas.openxmlformats.org/officeDocument/2006/relationships/image" Target="/ppt/media/image19.png" Id="R0c18913497c84216" /><Relationship Type="http://schemas.openxmlformats.org/officeDocument/2006/relationships/image" Target="/ppt/media/image20.png" Id="R944aa833280847f1" /><Relationship Type="http://schemas.openxmlformats.org/officeDocument/2006/relationships/notesSlide" Target="/ppt/notesSlides/notesSlide23.xml" Id="Ref0665c7d03448d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5d5e1d7592b4927" /><Relationship Type="http://schemas.openxmlformats.org/officeDocument/2006/relationships/image" Target="/ppt/media/image21.png" Id="R54ca0b990f304d3e" /><Relationship Type="http://schemas.openxmlformats.org/officeDocument/2006/relationships/image" Target="/ppt/media/image22.png" Id="Ra086b26d8c9e4c4d" /><Relationship Type="http://schemas.openxmlformats.org/officeDocument/2006/relationships/notesSlide" Target="/ppt/notesSlides/notesSlide24.xml" Id="Ra8f54e7c052f4bb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eacb7b5927e458b" /><Relationship Type="http://schemas.openxmlformats.org/officeDocument/2006/relationships/notesSlide" Target="/ppt/notesSlides/notesSlide25.xml" Id="R0fc7eddb36cd4ef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72945dc065b4c8c" /><Relationship Type="http://schemas.openxmlformats.org/officeDocument/2006/relationships/notesSlide" Target="/ppt/notesSlides/notesSlide26.xml" Id="R911e7697d4554a2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13178291d5d48a2" /><Relationship Type="http://schemas.openxmlformats.org/officeDocument/2006/relationships/notesSlide" Target="/ppt/notesSlides/notesSlide27.xml" Id="Re7d6ef832ffa40d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9e3326d73964afc" /><Relationship Type="http://schemas.openxmlformats.org/officeDocument/2006/relationships/notesSlide" Target="/ppt/notesSlides/notesSlide28.xml" Id="R9c2b214dff9446e0" /></Relationships>
</file>

<file path=ppt/slides/slide1.xml><?xml version="1.0" encoding="utf-8"?>
<p:sld xmlns:p="http://schemas.openxmlformats.org/presentationml/2006/main">
  <p:cSld>
    <p:bg>
      <p:bgPr>
        <a:solidFill xmlns:a="http://schemas.openxmlformats.org/drawingml/2006/main">
          <a:srgbClr val="082B4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CB093C-49AB-4D51-BC2F-01BF9A5D8346}"/>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9AD786-15D9-4F2C-98B9-386CAB1EE4FC}"/>
              </a:ext>
            </a:extLst>
          </p:cNvPr>
          <p:cNvSpPr>
            <a:spLocks xmlns:a="http://schemas.openxmlformats.org/drawingml/2006/main" noGrp="1"/>
          </p:cNvSpPr>
          <p:nvPr/>
        </p:nvSpPr>
        <p:spPr>
          <a:xfrm xmlns:a="http://schemas.openxmlformats.org/drawingml/2006/main">
            <a:off x="533400" y="838200"/>
            <a:ext cx="1381125" cy="76200"/>
          </a:xfrm>
          <a:prstGeom xmlns:a="http://schemas.openxmlformats.org/drawingml/2006/main" prst="rect">
            <a:avLst/>
          </a:prstGeom>
          <a:solidFill xmlns:a="http://schemas.openxmlformats.org/drawingml/2006/main">
            <a:srgbClr val="F4B94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00F12D-AAC9-4147-A3BF-C91C4B735A6E}"/>
              </a:ext>
            </a:extLst>
          </p:cNvPr>
          <p:cNvSpPr>
            <a:spLocks xmlns:a="http://schemas.openxmlformats.org/drawingml/2006/main" noGrp="1"/>
          </p:cNvSpPr>
          <p:nvPr/>
        </p:nvSpPr>
        <p:spPr>
          <a:xfrm xmlns:a="http://schemas.openxmlformats.org/drawingml/2006/main">
            <a:off x="609600" y="1314450"/>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450" b="1" i="0">
                <a:solidFill>
                  <a:srgbClr val="FFFFFF"/>
                </a:solidFill>
                <a:latin typeface="Helvetica Neue"/>
                <a:ea typeface="Helvetica Neue"/>
                <a:cs typeface="Helvetica Neue"/>
              </a:defRPr>
            </a:pPr>
            <a:r>
              <a:rPr sz="3450" b="1" i="0">
                <a:solidFill>
                  <a:srgbClr val="FFFFFF"/>
                </a:solidFill>
                <a:latin typeface="Helvetica Neue"/>
                <a:ea typeface="Helvetica Neue"/>
                <a:cs typeface="Helvetica Neue"/>
              </a:rPr>
              <a:t>Superdroplet resolution requirements</a:t>
            </a:r>
          </a:p>
          <a:p xmlns:a="http://schemas.openxmlformats.org/drawingml/2006/main">
            <a:pPr algn="l">
              <a:lnSpc>
                <a:spcPct val="95000"/>
              </a:lnSpc>
              <a:buNone/>
              <a:defRPr sz="3450" b="1" i="0">
                <a:solidFill>
                  <a:srgbClr val="FFFFFF"/>
                </a:solidFill>
                <a:latin typeface="Helvetica Neue"/>
                <a:ea typeface="Helvetica Neue"/>
                <a:cs typeface="Helvetica Neue"/>
              </a:defRPr>
            </a:pPr>
            <a:r>
              <a:rPr sz="3450" b="1" i="0">
                <a:solidFill>
                  <a:srgbClr val="FFFFFF"/>
                </a:solidFill>
                <a:latin typeface="Helvetica Neue"/>
                <a:ea typeface="Helvetica Neue"/>
                <a:cs typeface="Helvetica Neue"/>
              </a:rPr>
              <a:t>in a 2-D condensation–collision experiment</a:t>
            </a:r>
          </a:p>
        </p:txBody>
      </p:sp>
      <p:sp>
        <p:nvSpPr>
          <p:cNvPr id="4" name="">
            <a:extLst xmlns:a="http://schemas.openxmlformats.org/drawingml/2006/main">
              <a:ext uri="{FF2B5EF4-FFF2-40B4-BE49-F238E27FC236}">
                <a16:creationId xmlns:a16="http://schemas.microsoft.com/office/drawing/2014/main" id="{A9E88516-0671-4A22-BC93-4964C308F623}"/>
              </a:ext>
            </a:extLst>
          </p:cNvPr>
          <p:cNvSpPr>
            <a:spLocks xmlns:a="http://schemas.openxmlformats.org/drawingml/2006/main" noGrp="1"/>
          </p:cNvSpPr>
          <p:nvPr/>
        </p:nvSpPr>
        <p:spPr>
          <a:xfrm xmlns:a="http://schemas.openxmlformats.org/drawingml/2006/main">
            <a:off x="628650" y="3067050"/>
            <a:ext cx="828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C7D9E7"/>
                </a:solidFill>
                <a:latin typeface="Helvetica Neue"/>
                <a:ea typeface="Helvetica Neue"/>
                <a:cs typeface="Helvetica Neue"/>
              </a:defRPr>
            </a:pPr>
            <a:r>
              <a:rPr sz="1875" b="0" i="0">
                <a:solidFill>
                  <a:srgbClr val="C7D9E7"/>
                </a:solidFill>
                <a:latin typeface="Helvetica Neue"/>
                <a:ea typeface="Helvetica Neue"/>
                <a:cs typeface="Helvetica Neue"/>
              </a:rPr>
              <a:t>A fixed-grid, normal-sampling CLEO convergence study</a:t>
            </a:r>
          </a:p>
        </p:txBody>
      </p:sp>
      <p:sp>
        <p:nvSpPr>
          <p:cNvPr id="5" name="">
            <a:extLst xmlns:a="http://schemas.openxmlformats.org/drawingml/2006/main">
              <a:ext uri="{FF2B5EF4-FFF2-40B4-BE49-F238E27FC236}">
                <a16:creationId xmlns:a16="http://schemas.microsoft.com/office/drawing/2014/main" id="{EAE05613-BA89-4C1B-A8E0-2977967EEE0B}"/>
              </a:ext>
            </a:extLst>
          </p:cNvPr>
          <p:cNvSpPr>
            <a:spLocks xmlns:a="http://schemas.openxmlformats.org/drawingml/2006/main" noGrp="1"/>
          </p:cNvSpPr>
          <p:nvPr/>
        </p:nvSpPr>
        <p:spPr>
          <a:xfrm xmlns:a="http://schemas.openxmlformats.org/drawingml/2006/main">
            <a:off x="628650" y="371475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425" b="0" i="0">
                <a:solidFill>
                  <a:srgbClr val="D8E6EE"/>
                </a:solidFill>
                <a:latin typeface="Helvetica Neue"/>
                <a:ea typeface="Helvetica Neue"/>
                <a:cs typeface="Helvetica Neue"/>
              </a:defRPr>
            </a:pPr>
            <a:r>
              <a:rPr sz="1425" b="0" i="0">
                <a:solidFill>
                  <a:srgbClr val="D8E6EE"/>
                </a:solidFill>
                <a:latin typeface="Helvetica Neue"/>
                <a:ea typeface="Helvetica Neue"/>
                <a:cs typeface="Helvetica Neue"/>
              </a:rPr>
              <a:t>Configuration, computational audit, distributional evidence, physical diagnostics, and an operational resolution choice</a:t>
            </a:r>
          </a:p>
        </p:txBody>
      </p:sp>
      <p:sp>
        <p:nvSpPr>
          <p:cNvPr id="6" name="">
            <a:extLst xmlns:a="http://schemas.openxmlformats.org/drawingml/2006/main">
              <a:ext uri="{FF2B5EF4-FFF2-40B4-BE49-F238E27FC236}">
                <a16:creationId xmlns:a16="http://schemas.microsoft.com/office/drawing/2014/main" id="{56D5A007-A5B5-4FCF-BBF6-34CCF9877C1D}"/>
              </a:ext>
            </a:extLst>
          </p:cNvPr>
          <p:cNvSpPr>
            <a:spLocks xmlns:a="http://schemas.openxmlformats.org/drawingml/2006/main" noGrp="1"/>
          </p:cNvSpPr>
          <p:nvPr/>
        </p:nvSpPr>
        <p:spPr>
          <a:xfrm xmlns:a="http://schemas.openxmlformats.org/drawingml/2006/main">
            <a:off x="609600" y="4981575"/>
            <a:ext cx="7581900" cy="819150"/>
          </a:xfrm>
          <a:prstGeom xmlns:a="http://schemas.openxmlformats.org/drawingml/2006/main" prst="roundRect">
            <a:avLst>
              <a:gd name="adj" fmla="val 13953"/>
            </a:avLst>
          </a:prstGeom>
          <a:solidFill xmlns:a="http://schemas.openxmlformats.org/drawingml/2006/main">
            <a:srgbClr val="0D3F66"/>
          </a:solidFill>
          <a:ln xmlns:a="http://schemas.openxmlformats.org/drawingml/2006/main" w="9525">
            <a:solidFill>
              <a:srgbClr val="2CA6A4"/>
            </a:solidFill>
          </a:ln>
        </p:spPr>
      </p:sp>
      <p:sp>
        <p:nvSpPr>
          <p:cNvPr id="7" name="">
            <a:extLst xmlns:a="http://schemas.openxmlformats.org/drawingml/2006/main">
              <a:ext uri="{FF2B5EF4-FFF2-40B4-BE49-F238E27FC236}">
                <a16:creationId xmlns:a16="http://schemas.microsoft.com/office/drawing/2014/main" id="{EEF200D1-2E2D-400E-8248-5A6481204152}"/>
              </a:ext>
            </a:extLst>
          </p:cNvPr>
          <p:cNvSpPr>
            <a:spLocks xmlns:a="http://schemas.openxmlformats.org/drawingml/2006/main" noGrp="1"/>
          </p:cNvSpPr>
          <p:nvPr/>
        </p:nvSpPr>
        <p:spPr>
          <a:xfrm xmlns:a="http://schemas.openxmlformats.org/drawingml/2006/main">
            <a:off x="819150" y="51625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2CA6A4"/>
                </a:solidFill>
                <a:latin typeface="Helvetica Neue"/>
                <a:ea typeface="Helvetica Neue"/>
                <a:cs typeface="Helvetica Neue"/>
              </a:defRPr>
            </a:pPr>
            <a:r>
              <a:rPr sz="975" b="1" i="0">
                <a:solidFill>
                  <a:srgbClr val="2CA6A4"/>
                </a:solidFill>
                <a:latin typeface="Helvetica Neue"/>
                <a:ea typeface="Helvetica Neue"/>
                <a:cs typeface="Helvetica Neue"/>
              </a:rPr>
              <a:t>Headline result</a:t>
            </a:r>
          </a:p>
        </p:txBody>
      </p:sp>
      <p:sp>
        <p:nvSpPr>
          <p:cNvPr id="8" name="">
            <a:extLst xmlns:a="http://schemas.openxmlformats.org/drawingml/2006/main">
              <a:ext uri="{FF2B5EF4-FFF2-40B4-BE49-F238E27FC236}">
                <a16:creationId xmlns:a16="http://schemas.microsoft.com/office/drawing/2014/main" id="{7AD9CCCE-2132-4D7C-8CB2-9E1269A82B05}"/>
              </a:ext>
            </a:extLst>
          </p:cNvPr>
          <p:cNvSpPr>
            <a:spLocks xmlns:a="http://schemas.openxmlformats.org/drawingml/2006/main" noGrp="1"/>
          </p:cNvSpPr>
          <p:nvPr/>
        </p:nvSpPr>
        <p:spPr>
          <a:xfrm xmlns:a="http://schemas.openxmlformats.org/drawingml/2006/main">
            <a:off x="819150" y="5419725"/>
            <a:ext cx="712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61779"/>
          </a:bodyPr>
          <a:lstStyle xmlns:a="http://schemas.openxmlformats.org/drawingml/2006/main"/>
          <a:p xmlns:a="http://schemas.openxmlformats.org/drawingml/2006/main">
            <a:pPr algn="l">
              <a:lnSpc>
                <a:spcPct val="105000"/>
              </a:lnSpc>
              <a:buNone/>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1,024 SDs per initially populated 75 m × 75 m × 20 m grid box is the smallest tested configuration meeting the stated operational and physical checks.</a:t>
            </a:r>
          </a:p>
        </p:txBody>
      </p:sp>
      <p:sp>
        <p:nvSpPr>
          <p:cNvPr id="9" name="">
            <a:extLst xmlns:a="http://schemas.openxmlformats.org/drawingml/2006/main">
              <a:ext uri="{FF2B5EF4-FFF2-40B4-BE49-F238E27FC236}">
                <a16:creationId xmlns:a16="http://schemas.microsoft.com/office/drawing/2014/main" id="{DDC26E9D-0C84-4F2A-9DF4-0A8FE7D2423C}"/>
              </a:ext>
            </a:extLst>
          </p:cNvPr>
          <p:cNvSpPr>
            <a:spLocks xmlns:a="http://schemas.openxmlformats.org/drawingml/2006/main" noGrp="1"/>
          </p:cNvSpPr>
          <p:nvPr/>
        </p:nvSpPr>
        <p:spPr>
          <a:xfrm xmlns:a="http://schemas.openxmlformats.org/drawingml/2006/main">
            <a:off x="609600" y="63817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B6C9D8"/>
                </a:solidFill>
                <a:latin typeface="Helvetica Neue"/>
                <a:ea typeface="Helvetica Neue"/>
                <a:cs typeface="Helvetica Neue"/>
              </a:defRPr>
            </a:pPr>
            <a:r>
              <a:rPr sz="900" b="0" i="0">
                <a:solidFill>
                  <a:srgbClr val="B6C9D8"/>
                </a:solidFill>
                <a:latin typeface="Helvetica Neue"/>
                <a:ea typeface="Helvetica Neue"/>
                <a:cs typeface="Helvetica Neue"/>
              </a:rPr>
              <a:t>Prepared for supervisor discussion  |  28 September 2026</a:t>
            </a:r>
          </a:p>
        </p:txBody>
      </p:sp>
    </p:spTree>
    <p:extLst>
      <p:ext uri="{BB962C8B-B14F-4D97-AF65-F5344CB8AC3E}">
        <p14:creationId xmlns:p14="http://schemas.microsoft.com/office/powerpoint/2010/main" val="4495980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A8403D4-DAF7-44ED-BFB9-ECF143A1D12A}"/>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330AA777-60C4-41DD-A0FE-F61C20EBC8AD}"/>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The question is not just ‘does the mean look smooth?’</a:t>
            </a:r>
          </a:p>
        </p:txBody>
      </p:sp>
      <p:sp>
        <p:nvSpPr>
          <p:cNvPr id="3" name="">
            <a:extLst xmlns:a="http://schemas.openxmlformats.org/drawingml/2006/main">
              <a:ext uri="{FF2B5EF4-FFF2-40B4-BE49-F238E27FC236}">
                <a16:creationId xmlns:a16="http://schemas.microsoft.com/office/drawing/2014/main" id="{80270AF8-A740-43C3-835E-5DC562D02878}"/>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906B84-0ABF-4DE0-87BB-3FD49489A986}"/>
              </a:ext>
            </a:extLst>
          </p:cNvPr>
          <p:cNvSpPr>
            <a:spLocks xmlns:a="http://schemas.openxmlformats.org/drawingml/2006/main" noGrp="1"/>
          </p:cNvSpPr>
          <p:nvPr/>
        </p:nvSpPr>
        <p:spPr>
          <a:xfrm xmlns:a="http://schemas.openxmlformats.org/drawingml/2006/main">
            <a:off x="647700" y="1466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062"/>
          </a:bodyPr>
          <a:lstStyle xmlns:a="http://schemas.openxmlformats.org/drawingml/2006/main"/>
          <a:p xmlns:a="http://schemas.openxmlformats.org/drawingml/2006/main">
            <a:pPr algn="l">
              <a:lnSpc>
                <a:spcPct val="105000"/>
              </a:lnSpc>
              <a:buNone/>
              <a:defRPr sz="2025" b="1" i="0">
                <a:solidFill>
                  <a:srgbClr val="082B4C"/>
                </a:solidFill>
                <a:latin typeface="Helvetica Neue"/>
                <a:ea typeface="Helvetica Neue"/>
                <a:cs typeface="Helvetica Neue"/>
              </a:defRPr>
            </a:pPr>
            <a:r>
              <a:rPr sz="2025" b="1" i="0">
                <a:solidFill>
                  <a:srgbClr val="082B4C"/>
                </a:solidFill>
                <a:latin typeface="Helvetica Neue"/>
                <a:ea typeface="Helvetica Neue"/>
                <a:cs typeface="Helvetica Neue"/>
              </a:rPr>
              <a:t>We need enough superdroplets per grid box to represent both the bulk cloud and the rare, fast-droplet tail — with uncertainty quantified across stochastic realizations.</a:t>
            </a:r>
          </a:p>
        </p:txBody>
      </p:sp>
      <p:sp>
        <p:nvSpPr>
          <p:cNvPr id="5" name="">
            <a:extLst xmlns:a="http://schemas.openxmlformats.org/drawingml/2006/main">
              <a:ext uri="{FF2B5EF4-FFF2-40B4-BE49-F238E27FC236}">
                <a16:creationId xmlns:a16="http://schemas.microsoft.com/office/drawing/2014/main" id="{C467ADB8-3140-43B1-8D16-62EBFCEA3D92}"/>
              </a:ext>
            </a:extLst>
          </p:cNvPr>
          <p:cNvSpPr>
            <a:spLocks xmlns:a="http://schemas.openxmlformats.org/drawingml/2006/main" noGrp="1"/>
          </p:cNvSpPr>
          <p:nvPr/>
        </p:nvSpPr>
        <p:spPr>
          <a:xfrm xmlns:a="http://schemas.openxmlformats.org/drawingml/2006/main">
            <a:off x="647700" y="2571750"/>
            <a:ext cx="2914650" cy="2171700"/>
          </a:xfrm>
          <a:prstGeom xmlns:a="http://schemas.openxmlformats.org/drawingml/2006/main" prst="roundRect">
            <a:avLst>
              <a:gd name="adj" fmla="val 6140"/>
            </a:avLst>
          </a:prstGeom>
          <a:solidFill xmlns:a="http://schemas.openxmlformats.org/drawingml/2006/main">
            <a:srgbClr val="F5F8FA"/>
          </a:solidFill>
          <a:ln xmlns:a="http://schemas.openxmlformats.org/drawingml/2006/main" w="9525">
            <a:solidFill>
              <a:srgbClr val="CAD7E2"/>
            </a:solidFill>
          </a:ln>
        </p:spPr>
      </p:sp>
      <p:sp>
        <p:nvSpPr>
          <p:cNvPr id="6" name="">
            <a:extLst xmlns:a="http://schemas.openxmlformats.org/drawingml/2006/main">
              <a:ext uri="{FF2B5EF4-FFF2-40B4-BE49-F238E27FC236}">
                <a16:creationId xmlns:a16="http://schemas.microsoft.com/office/drawing/2014/main" id="{9139532B-94DA-487E-BC4C-3C6D075BE771}"/>
              </a:ext>
            </a:extLst>
          </p:cNvPr>
          <p:cNvSpPr>
            <a:spLocks xmlns:a="http://schemas.openxmlformats.org/drawingml/2006/main" noGrp="1"/>
          </p:cNvSpPr>
          <p:nvPr/>
        </p:nvSpPr>
        <p:spPr>
          <a:xfrm xmlns:a="http://schemas.openxmlformats.org/drawingml/2006/main">
            <a:off x="647700" y="2571750"/>
            <a:ext cx="2914650" cy="7620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0345A9-A5DC-4C71-B0F4-5E1F3D5E536F}"/>
              </a:ext>
            </a:extLst>
          </p:cNvPr>
          <p:cNvSpPr>
            <a:spLocks xmlns:a="http://schemas.openxmlformats.org/drawingml/2006/main" noGrp="1"/>
          </p:cNvSpPr>
          <p:nvPr/>
        </p:nvSpPr>
        <p:spPr>
          <a:xfrm xmlns:a="http://schemas.openxmlformats.org/drawingml/2006/main">
            <a:off x="857250" y="28956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082B4C"/>
                </a:solidFill>
                <a:latin typeface="Helvetica Neue"/>
                <a:ea typeface="Helvetica Neue"/>
                <a:cs typeface="Helvetica Neue"/>
              </a:defRPr>
            </a:pPr>
            <a:r>
              <a:rPr sz="1650" b="1" i="0">
                <a:solidFill>
                  <a:srgbClr val="082B4C"/>
                </a:solidFill>
                <a:latin typeface="Helvetica Neue"/>
                <a:ea typeface="Helvetica Neue"/>
                <a:cs typeface="Helvetica Neue"/>
              </a:rPr>
              <a:t>Distribution</a:t>
            </a:r>
          </a:p>
        </p:txBody>
      </p:sp>
      <p:sp>
        <p:nvSpPr>
          <p:cNvPr id="8" name="">
            <a:extLst xmlns:a="http://schemas.openxmlformats.org/drawingml/2006/main">
              <a:ext uri="{FF2B5EF4-FFF2-40B4-BE49-F238E27FC236}">
                <a16:creationId xmlns:a16="http://schemas.microsoft.com/office/drawing/2014/main" id="{E85D28BF-D37E-49EB-83C9-8DD1B096E9A6}"/>
              </a:ext>
            </a:extLst>
          </p:cNvPr>
          <p:cNvSpPr>
            <a:spLocks xmlns:a="http://schemas.openxmlformats.org/drawingml/2006/main" noGrp="1"/>
          </p:cNvSpPr>
          <p:nvPr/>
        </p:nvSpPr>
        <p:spPr>
          <a:xfrm xmlns:a="http://schemas.openxmlformats.org/drawingml/2006/main">
            <a:off x="857250" y="3333750"/>
            <a:ext cx="247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982"/>
          </a:bodyPr>
          <a:lstStyle xmlns:a="http://schemas.openxmlformats.org/drawingml/2006/main"/>
          <a:p xmlns:a="http://schemas.openxmlformats.org/drawingml/2006/main">
            <a:pPr algn="l">
              <a:lnSpc>
                <a:spcPct val="118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Does the mass DSD agree through time?</a:t>
            </a:r>
          </a:p>
          <a:p xmlns:a="http://schemas.openxmlformats.org/drawingml/2006/main">
            <a:r>
              <a:t/>
            </a:r>
          </a:p>
          <a:p xmlns:a="http://schemas.openxmlformats.org/drawingml/2006/main">
            <a:pPr algn="l">
              <a:lnSpc>
                <a:spcPct val="118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Primary metric: 500-bin mass-DSD total variation.</a:t>
            </a:r>
          </a:p>
        </p:txBody>
      </p:sp>
      <p:sp>
        <p:nvSpPr>
          <p:cNvPr id="9" name="">
            <a:extLst xmlns:a="http://schemas.openxmlformats.org/drawingml/2006/main">
              <a:ext uri="{FF2B5EF4-FFF2-40B4-BE49-F238E27FC236}">
                <a16:creationId xmlns:a16="http://schemas.microsoft.com/office/drawing/2014/main" id="{708E3321-120D-4EBC-AC51-8EBAD13DF2F9}"/>
              </a:ext>
            </a:extLst>
          </p:cNvPr>
          <p:cNvSpPr>
            <a:spLocks xmlns:a="http://schemas.openxmlformats.org/drawingml/2006/main" noGrp="1"/>
          </p:cNvSpPr>
          <p:nvPr/>
        </p:nvSpPr>
        <p:spPr>
          <a:xfrm xmlns:a="http://schemas.openxmlformats.org/drawingml/2006/main">
            <a:off x="4038600" y="2571750"/>
            <a:ext cx="2914650" cy="2171700"/>
          </a:xfrm>
          <a:prstGeom xmlns:a="http://schemas.openxmlformats.org/drawingml/2006/main" prst="roundRect">
            <a:avLst>
              <a:gd name="adj" fmla="val 6140"/>
            </a:avLst>
          </a:prstGeom>
          <a:solidFill xmlns:a="http://schemas.openxmlformats.org/drawingml/2006/main">
            <a:srgbClr val="F5F8FA"/>
          </a:solidFill>
          <a:ln xmlns:a="http://schemas.openxmlformats.org/drawingml/2006/main" w="9525">
            <a:solidFill>
              <a:srgbClr val="CAD7E2"/>
            </a:solidFill>
          </a:ln>
        </p:spPr>
      </p:sp>
      <p:sp>
        <p:nvSpPr>
          <p:cNvPr id="10" name="">
            <a:extLst xmlns:a="http://schemas.openxmlformats.org/drawingml/2006/main">
              <a:ext uri="{FF2B5EF4-FFF2-40B4-BE49-F238E27FC236}">
                <a16:creationId xmlns:a16="http://schemas.microsoft.com/office/drawing/2014/main" id="{CDE81BC2-4D29-408E-99E8-7F1406FC94C1}"/>
              </a:ext>
            </a:extLst>
          </p:cNvPr>
          <p:cNvSpPr>
            <a:spLocks xmlns:a="http://schemas.openxmlformats.org/drawingml/2006/main" noGrp="1"/>
          </p:cNvSpPr>
          <p:nvPr/>
        </p:nvSpPr>
        <p:spPr>
          <a:xfrm xmlns:a="http://schemas.openxmlformats.org/drawingml/2006/main">
            <a:off x="4038600" y="2571750"/>
            <a:ext cx="2914650" cy="7620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80F42E-DD97-479D-9C15-33B68D70D7F4}"/>
              </a:ext>
            </a:extLst>
          </p:cNvPr>
          <p:cNvSpPr>
            <a:spLocks xmlns:a="http://schemas.openxmlformats.org/drawingml/2006/main" noGrp="1"/>
          </p:cNvSpPr>
          <p:nvPr/>
        </p:nvSpPr>
        <p:spPr>
          <a:xfrm xmlns:a="http://schemas.openxmlformats.org/drawingml/2006/main">
            <a:off x="4248150" y="28956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082B4C"/>
                </a:solidFill>
                <a:latin typeface="Helvetica Neue"/>
                <a:ea typeface="Helvetica Neue"/>
                <a:cs typeface="Helvetica Neue"/>
              </a:defRPr>
            </a:pPr>
            <a:r>
              <a:rPr sz="1650" b="1" i="0">
                <a:solidFill>
                  <a:srgbClr val="082B4C"/>
                </a:solidFill>
                <a:latin typeface="Helvetica Neue"/>
                <a:ea typeface="Helvetica Neue"/>
                <a:cs typeface="Helvetica Neue"/>
              </a:rPr>
              <a:t>Moments &amp; observables</a:t>
            </a:r>
          </a:p>
        </p:txBody>
      </p:sp>
      <p:sp>
        <p:nvSpPr>
          <p:cNvPr id="12" name="">
            <a:extLst xmlns:a="http://schemas.openxmlformats.org/drawingml/2006/main">
              <a:ext uri="{FF2B5EF4-FFF2-40B4-BE49-F238E27FC236}">
                <a16:creationId xmlns:a16="http://schemas.microsoft.com/office/drawing/2014/main" id="{9A60D77D-5934-4D06-9296-024E97DC0DF5}"/>
              </a:ext>
            </a:extLst>
          </p:cNvPr>
          <p:cNvSpPr>
            <a:spLocks xmlns:a="http://schemas.openxmlformats.org/drawingml/2006/main" noGrp="1"/>
          </p:cNvSpPr>
          <p:nvPr/>
        </p:nvSpPr>
        <p:spPr>
          <a:xfrm xmlns:a="http://schemas.openxmlformats.org/drawingml/2006/main">
            <a:off x="4248150" y="3333750"/>
            <a:ext cx="247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Do λ₀, λ₂, λ₃, λ₆, radius and terminal-speed diagnostics agree?</a:t>
            </a:r>
          </a:p>
        </p:txBody>
      </p:sp>
      <p:sp>
        <p:nvSpPr>
          <p:cNvPr id="13" name="">
            <a:extLst xmlns:a="http://schemas.openxmlformats.org/drawingml/2006/main">
              <a:ext uri="{FF2B5EF4-FFF2-40B4-BE49-F238E27FC236}">
                <a16:creationId xmlns:a16="http://schemas.microsoft.com/office/drawing/2014/main" id="{8BE3EC01-3992-4DA1-9C90-4C27B72713CF}"/>
              </a:ext>
            </a:extLst>
          </p:cNvPr>
          <p:cNvSpPr>
            <a:spLocks xmlns:a="http://schemas.openxmlformats.org/drawingml/2006/main" noGrp="1"/>
          </p:cNvSpPr>
          <p:nvPr/>
        </p:nvSpPr>
        <p:spPr>
          <a:xfrm xmlns:a="http://schemas.openxmlformats.org/drawingml/2006/main">
            <a:off x="7429500" y="2571750"/>
            <a:ext cx="2914650" cy="2171700"/>
          </a:xfrm>
          <a:prstGeom xmlns:a="http://schemas.openxmlformats.org/drawingml/2006/main" prst="roundRect">
            <a:avLst>
              <a:gd name="adj" fmla="val 6140"/>
            </a:avLst>
          </a:prstGeom>
          <a:solidFill xmlns:a="http://schemas.openxmlformats.org/drawingml/2006/main">
            <a:srgbClr val="F5F8FA"/>
          </a:solidFill>
          <a:ln xmlns:a="http://schemas.openxmlformats.org/drawingml/2006/main" w="9525">
            <a:solidFill>
              <a:srgbClr val="CAD7E2"/>
            </a:solidFill>
          </a:ln>
        </p:spPr>
      </p:sp>
      <p:sp>
        <p:nvSpPr>
          <p:cNvPr id="14" name="">
            <a:extLst xmlns:a="http://schemas.openxmlformats.org/drawingml/2006/main">
              <a:ext uri="{FF2B5EF4-FFF2-40B4-BE49-F238E27FC236}">
                <a16:creationId xmlns:a16="http://schemas.microsoft.com/office/drawing/2014/main" id="{E473B132-EF14-4067-819F-E42E04B638C6}"/>
              </a:ext>
            </a:extLst>
          </p:cNvPr>
          <p:cNvSpPr>
            <a:spLocks xmlns:a="http://schemas.openxmlformats.org/drawingml/2006/main" noGrp="1"/>
          </p:cNvSpPr>
          <p:nvPr/>
        </p:nvSpPr>
        <p:spPr>
          <a:xfrm xmlns:a="http://schemas.openxmlformats.org/drawingml/2006/main">
            <a:off x="7429500" y="2571750"/>
            <a:ext cx="2914650" cy="7620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086F42F-FCB9-469E-A217-A1997F35EDDF}"/>
              </a:ext>
            </a:extLst>
          </p:cNvPr>
          <p:cNvSpPr>
            <a:spLocks xmlns:a="http://schemas.openxmlformats.org/drawingml/2006/main" noGrp="1"/>
          </p:cNvSpPr>
          <p:nvPr/>
        </p:nvSpPr>
        <p:spPr>
          <a:xfrm xmlns:a="http://schemas.openxmlformats.org/drawingml/2006/main">
            <a:off x="7639050" y="28956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082B4C"/>
                </a:solidFill>
                <a:latin typeface="Helvetica Neue"/>
                <a:ea typeface="Helvetica Neue"/>
                <a:cs typeface="Helvetica Neue"/>
              </a:defRPr>
            </a:pPr>
            <a:r>
              <a:rPr sz="1650" b="1" i="0">
                <a:solidFill>
                  <a:srgbClr val="082B4C"/>
                </a:solidFill>
                <a:latin typeface="Helvetica Neue"/>
                <a:ea typeface="Helvetica Neue"/>
                <a:cs typeface="Helvetica Neue"/>
              </a:rPr>
              <a:t>Ensemble precision</a:t>
            </a:r>
          </a:p>
        </p:txBody>
      </p:sp>
      <p:sp>
        <p:nvSpPr>
          <p:cNvPr id="16" name="">
            <a:extLst xmlns:a="http://schemas.openxmlformats.org/drawingml/2006/main">
              <a:ext uri="{FF2B5EF4-FFF2-40B4-BE49-F238E27FC236}">
                <a16:creationId xmlns:a16="http://schemas.microsoft.com/office/drawing/2014/main" id="{C648ED8B-E95D-428A-9B1A-DB61F12ECAA5}"/>
              </a:ext>
            </a:extLst>
          </p:cNvPr>
          <p:cNvSpPr>
            <a:spLocks xmlns:a="http://schemas.openxmlformats.org/drawingml/2006/main" noGrp="1"/>
          </p:cNvSpPr>
          <p:nvPr/>
        </p:nvSpPr>
        <p:spPr>
          <a:xfrm xmlns:a="http://schemas.openxmlformats.org/drawingml/2006/main">
            <a:off x="7639050" y="3333750"/>
            <a:ext cx="247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Does the conclusion survive member-to-member collision randomness?</a:t>
            </a:r>
          </a:p>
        </p:txBody>
      </p:sp>
      <p:sp>
        <p:nvSpPr>
          <p:cNvPr id="17" name="">
            <a:extLst xmlns:a="http://schemas.openxmlformats.org/drawingml/2006/main">
              <a:ext uri="{FF2B5EF4-FFF2-40B4-BE49-F238E27FC236}">
                <a16:creationId xmlns:a16="http://schemas.microsoft.com/office/drawing/2014/main" id="{EAC008E6-1AEC-44B7-855C-3E734C9DEFE4}"/>
              </a:ext>
            </a:extLst>
          </p:cNvPr>
          <p:cNvSpPr>
            <a:spLocks xmlns:a="http://schemas.openxmlformats.org/drawingml/2006/main" noGrp="1"/>
          </p:cNvSpPr>
          <p:nvPr/>
        </p:nvSpPr>
        <p:spPr>
          <a:xfrm xmlns:a="http://schemas.openxmlformats.org/drawingml/2006/main">
            <a:off x="647700" y="5219700"/>
            <a:ext cx="9696450" cy="552450"/>
          </a:xfrm>
          <a:prstGeom xmlns:a="http://schemas.openxmlformats.org/drawingml/2006/main" prst="roundRect">
            <a:avLst>
              <a:gd name="adj" fmla="val 17241"/>
            </a:avLst>
          </a:prstGeom>
          <a:solidFill xmlns:a="http://schemas.openxmlformats.org/drawingml/2006/main">
            <a:srgbClr val="EAF3F5"/>
          </a:solidFill>
          <a:ln xmlns:a="http://schemas.openxmlformats.org/drawingml/2006/main" w="9525">
            <a:solidFill>
              <a:srgbClr val="CAD7E2"/>
            </a:solidFill>
          </a:ln>
        </p:spPr>
      </p:sp>
      <p:sp>
        <p:nvSpPr>
          <p:cNvPr id="18" name="">
            <a:extLst xmlns:a="http://schemas.openxmlformats.org/drawingml/2006/main">
              <a:ext uri="{FF2B5EF4-FFF2-40B4-BE49-F238E27FC236}">
                <a16:creationId xmlns:a16="http://schemas.microsoft.com/office/drawing/2014/main" id="{60A3697D-3FB8-4967-8864-17769EE20780}"/>
              </a:ext>
            </a:extLst>
          </p:cNvPr>
          <p:cNvSpPr>
            <a:spLocks xmlns:a="http://schemas.openxmlformats.org/drawingml/2006/main" noGrp="1"/>
          </p:cNvSpPr>
          <p:nvPr/>
        </p:nvSpPr>
        <p:spPr>
          <a:xfrm xmlns:a="http://schemas.openxmlformats.org/drawingml/2006/main">
            <a:off x="838200" y="5381625"/>
            <a:ext cx="931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0119"/>
          </a:bodyPr>
          <a:lstStyle xmlns:a="http://schemas.openxmlformats.org/drawingml/2006/main"/>
          <a:p xmlns:a="http://schemas.openxmlformats.org/drawingml/2006/main">
            <a:pPr algn="ctr">
              <a:lnSpc>
                <a:spcPct val="105000"/>
              </a:lnSpc>
              <a:buNone/>
              <a:defRPr sz="1350" b="1" i="0">
                <a:solidFill>
                  <a:srgbClr val="102A43"/>
                </a:solidFill>
                <a:latin typeface="Helvetica Neue"/>
                <a:ea typeface="Helvetica Neue"/>
                <a:cs typeface="Helvetica Neue"/>
              </a:defRPr>
            </a:pPr>
            <a:r>
              <a:rPr sz="1350" b="1" i="0">
                <a:solidFill>
                  <a:srgbClr val="102A43"/>
                </a:solidFill>
                <a:latin typeface="Helvetica Neue"/>
                <a:ea typeface="Helvetica Neue"/>
                <a:cs typeface="Helvetica Neue"/>
              </a:rPr>
              <a:t>Design response: hold the physical configuration fixed; vary Ncell = 2 … 8,192 SDs in each initially populated cell; run 20 independent members at every resolution.</a:t>
            </a:r>
          </a:p>
        </p:txBody>
      </p:sp>
      <p:sp>
        <p:nvSpPr>
          <p:cNvPr id="19" name="">
            <a:extLst xmlns:a="http://schemas.openxmlformats.org/drawingml/2006/main">
              <a:ext uri="{FF2B5EF4-FFF2-40B4-BE49-F238E27FC236}">
                <a16:creationId xmlns:a16="http://schemas.microsoft.com/office/drawing/2014/main" id="{FA921B0B-441D-44B2-A0D2-AA03E462160A}"/>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5CF2EBC-1FD5-4B65-9B40-5AF4920B0602}"/>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21" name="">
            <a:extLst xmlns:a="http://schemas.openxmlformats.org/drawingml/2006/main">
              <a:ext uri="{FF2B5EF4-FFF2-40B4-BE49-F238E27FC236}">
                <a16:creationId xmlns:a16="http://schemas.microsoft.com/office/drawing/2014/main" id="{25C3563B-2311-45AA-B7BA-9906ACF36AF9}"/>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02</a:t>
            </a:r>
          </a:p>
        </p:txBody>
      </p:sp>
    </p:spTree>
    <p:extLst>
      <p:ext uri="{BB962C8B-B14F-4D97-AF65-F5344CB8AC3E}">
        <p14:creationId xmlns:p14="http://schemas.microsoft.com/office/powerpoint/2010/main" val="18015848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77F2385A-7FA1-4EF6-85D6-121FE23D357F}"/>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CONFIGURATION</a:t>
            </a:r>
          </a:p>
        </p:txBody>
      </p:sp>
      <p:sp>
        <p:nvSpPr>
          <p:cNvPr id="2" name="">
            <a:extLst xmlns:a="http://schemas.openxmlformats.org/drawingml/2006/main">
              <a:ext uri="{FF2B5EF4-FFF2-40B4-BE49-F238E27FC236}">
                <a16:creationId xmlns:a16="http://schemas.microsoft.com/office/drawing/2014/main" id="{F968BBD2-BF04-4618-B168-8CEB818BB79D}"/>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Model setting: a 2-D cloud microphysics testbed</a:t>
            </a:r>
          </a:p>
        </p:txBody>
      </p:sp>
      <p:sp>
        <p:nvSpPr>
          <p:cNvPr id="3" name="">
            <a:extLst xmlns:a="http://schemas.openxmlformats.org/drawingml/2006/main">
              <a:ext uri="{FF2B5EF4-FFF2-40B4-BE49-F238E27FC236}">
                <a16:creationId xmlns:a16="http://schemas.microsoft.com/office/drawing/2014/main" id="{BC045DF2-6236-4259-B284-9ED84DA0F868}"/>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29A65B-DFD4-4404-958C-DDEF21642207}"/>
              </a:ext>
            </a:extLst>
          </p:cNvPr>
          <p:cNvSpPr>
            <a:spLocks xmlns:a="http://schemas.openxmlformats.org/drawingml/2006/main" noGrp="1"/>
          </p:cNvSpPr>
          <p:nvPr/>
        </p:nvSpPr>
        <p:spPr>
          <a:xfrm xmlns:a="http://schemas.openxmlformats.org/drawingml/2006/main">
            <a:off x="685800" y="1657350"/>
            <a:ext cx="6477000" cy="3429000"/>
          </a:xfrm>
          <a:prstGeom xmlns:a="http://schemas.openxmlformats.org/drawingml/2006/main" prst="rect">
            <a:avLst/>
          </a:prstGeom>
          <a:solidFill xmlns:a="http://schemas.openxmlformats.org/drawingml/2006/main">
            <a:srgbClr val="F7FBFC"/>
          </a:solidFill>
          <a:ln xmlns:a="http://schemas.openxmlformats.org/drawingml/2006/main" w="9525">
            <a:solidFill>
              <a:srgbClr val="082B4C"/>
            </a:solidFill>
          </a:ln>
        </p:spPr>
      </p:sp>
      <p:sp>
        <p:nvSpPr>
          <p:cNvPr id="5" name="">
            <a:extLst xmlns:a="http://schemas.openxmlformats.org/drawingml/2006/main">
              <a:ext uri="{FF2B5EF4-FFF2-40B4-BE49-F238E27FC236}">
                <a16:creationId xmlns:a16="http://schemas.microsoft.com/office/drawing/2014/main" id="{DC308D92-1F43-481B-AF60-8EBD679C29B5}"/>
              </a:ext>
            </a:extLst>
          </p:cNvPr>
          <p:cNvSpPr>
            <a:spLocks xmlns:a="http://schemas.openxmlformats.org/drawingml/2006/main" noGrp="1"/>
          </p:cNvSpPr>
          <p:nvPr/>
        </p:nvSpPr>
        <p:spPr>
          <a:xfrm xmlns:a="http://schemas.openxmlformats.org/drawingml/2006/main">
            <a:off x="10096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3DDBB6-1AFB-4A46-A9B9-CA287241C486}"/>
              </a:ext>
            </a:extLst>
          </p:cNvPr>
          <p:cNvSpPr>
            <a:spLocks xmlns:a="http://schemas.openxmlformats.org/drawingml/2006/main" noGrp="1"/>
          </p:cNvSpPr>
          <p:nvPr/>
        </p:nvSpPr>
        <p:spPr>
          <a:xfrm xmlns:a="http://schemas.openxmlformats.org/drawingml/2006/main">
            <a:off x="685800" y="18288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8166F3-A1E0-481C-880E-EBA28DC2F63C}"/>
              </a:ext>
            </a:extLst>
          </p:cNvPr>
          <p:cNvSpPr>
            <a:spLocks xmlns:a="http://schemas.openxmlformats.org/drawingml/2006/main" noGrp="1"/>
          </p:cNvSpPr>
          <p:nvPr/>
        </p:nvSpPr>
        <p:spPr>
          <a:xfrm xmlns:a="http://schemas.openxmlformats.org/drawingml/2006/main">
            <a:off x="133350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85A7B9-0063-42FC-A923-853C96F70491}"/>
              </a:ext>
            </a:extLst>
          </p:cNvPr>
          <p:cNvSpPr>
            <a:spLocks xmlns:a="http://schemas.openxmlformats.org/drawingml/2006/main" noGrp="1"/>
          </p:cNvSpPr>
          <p:nvPr/>
        </p:nvSpPr>
        <p:spPr>
          <a:xfrm xmlns:a="http://schemas.openxmlformats.org/drawingml/2006/main">
            <a:off x="685800" y="200025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6F7517C-909B-451B-9109-2F135FFE0132}"/>
              </a:ext>
            </a:extLst>
          </p:cNvPr>
          <p:cNvSpPr>
            <a:spLocks xmlns:a="http://schemas.openxmlformats.org/drawingml/2006/main" noGrp="1"/>
          </p:cNvSpPr>
          <p:nvPr/>
        </p:nvSpPr>
        <p:spPr>
          <a:xfrm xmlns:a="http://schemas.openxmlformats.org/drawingml/2006/main">
            <a:off x="16573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45269B1-5435-4C36-9875-553F9A69BD3F}"/>
              </a:ext>
            </a:extLst>
          </p:cNvPr>
          <p:cNvSpPr>
            <a:spLocks xmlns:a="http://schemas.openxmlformats.org/drawingml/2006/main" noGrp="1"/>
          </p:cNvSpPr>
          <p:nvPr/>
        </p:nvSpPr>
        <p:spPr>
          <a:xfrm xmlns:a="http://schemas.openxmlformats.org/drawingml/2006/main">
            <a:off x="685800" y="21717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FC7B72-5EA5-4E4D-9D16-2C5FE41E56D7}"/>
              </a:ext>
            </a:extLst>
          </p:cNvPr>
          <p:cNvSpPr>
            <a:spLocks xmlns:a="http://schemas.openxmlformats.org/drawingml/2006/main" noGrp="1"/>
          </p:cNvSpPr>
          <p:nvPr/>
        </p:nvSpPr>
        <p:spPr>
          <a:xfrm xmlns:a="http://schemas.openxmlformats.org/drawingml/2006/main">
            <a:off x="198120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355AAFD-630F-4722-B7BE-E455FFB718E7}"/>
              </a:ext>
            </a:extLst>
          </p:cNvPr>
          <p:cNvSpPr>
            <a:spLocks xmlns:a="http://schemas.openxmlformats.org/drawingml/2006/main" noGrp="1"/>
          </p:cNvSpPr>
          <p:nvPr/>
        </p:nvSpPr>
        <p:spPr>
          <a:xfrm xmlns:a="http://schemas.openxmlformats.org/drawingml/2006/main">
            <a:off x="685800" y="234315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A971D67-DAC7-42C6-86E5-BB5FCD642533}"/>
              </a:ext>
            </a:extLst>
          </p:cNvPr>
          <p:cNvSpPr>
            <a:spLocks xmlns:a="http://schemas.openxmlformats.org/drawingml/2006/main" noGrp="1"/>
          </p:cNvSpPr>
          <p:nvPr/>
        </p:nvSpPr>
        <p:spPr>
          <a:xfrm xmlns:a="http://schemas.openxmlformats.org/drawingml/2006/main">
            <a:off x="23050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6F33BF0-2A1B-4FC3-B5DA-450264379C30}"/>
              </a:ext>
            </a:extLst>
          </p:cNvPr>
          <p:cNvSpPr>
            <a:spLocks xmlns:a="http://schemas.openxmlformats.org/drawingml/2006/main" noGrp="1"/>
          </p:cNvSpPr>
          <p:nvPr/>
        </p:nvSpPr>
        <p:spPr>
          <a:xfrm xmlns:a="http://schemas.openxmlformats.org/drawingml/2006/main">
            <a:off x="685800" y="25146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300E866-D0AB-4EEA-973E-478EE4C9A3E3}"/>
              </a:ext>
            </a:extLst>
          </p:cNvPr>
          <p:cNvSpPr>
            <a:spLocks xmlns:a="http://schemas.openxmlformats.org/drawingml/2006/main" noGrp="1"/>
          </p:cNvSpPr>
          <p:nvPr/>
        </p:nvSpPr>
        <p:spPr>
          <a:xfrm xmlns:a="http://schemas.openxmlformats.org/drawingml/2006/main">
            <a:off x="262890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EFD4F75-F8CE-41C1-A742-BC785BB71947}"/>
              </a:ext>
            </a:extLst>
          </p:cNvPr>
          <p:cNvSpPr>
            <a:spLocks xmlns:a="http://schemas.openxmlformats.org/drawingml/2006/main" noGrp="1"/>
          </p:cNvSpPr>
          <p:nvPr/>
        </p:nvSpPr>
        <p:spPr>
          <a:xfrm xmlns:a="http://schemas.openxmlformats.org/drawingml/2006/main">
            <a:off x="685800" y="268605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A2E142F-0E1E-4E0A-BD85-88CAACD9560C}"/>
              </a:ext>
            </a:extLst>
          </p:cNvPr>
          <p:cNvSpPr>
            <a:spLocks xmlns:a="http://schemas.openxmlformats.org/drawingml/2006/main" noGrp="1"/>
          </p:cNvSpPr>
          <p:nvPr/>
        </p:nvSpPr>
        <p:spPr>
          <a:xfrm xmlns:a="http://schemas.openxmlformats.org/drawingml/2006/main">
            <a:off x="29527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A7D1B04-9677-479E-AA82-758958A824DE}"/>
              </a:ext>
            </a:extLst>
          </p:cNvPr>
          <p:cNvSpPr>
            <a:spLocks xmlns:a="http://schemas.openxmlformats.org/drawingml/2006/main" noGrp="1"/>
          </p:cNvSpPr>
          <p:nvPr/>
        </p:nvSpPr>
        <p:spPr>
          <a:xfrm xmlns:a="http://schemas.openxmlformats.org/drawingml/2006/main">
            <a:off x="685800" y="28575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A2CF59C-DE83-4842-AE13-1FE57C3FE2FE}"/>
              </a:ext>
            </a:extLst>
          </p:cNvPr>
          <p:cNvSpPr>
            <a:spLocks xmlns:a="http://schemas.openxmlformats.org/drawingml/2006/main" noGrp="1"/>
          </p:cNvSpPr>
          <p:nvPr/>
        </p:nvSpPr>
        <p:spPr>
          <a:xfrm xmlns:a="http://schemas.openxmlformats.org/drawingml/2006/main">
            <a:off x="327660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5D837A-24C0-42D8-8BC6-9011AB7BFA3A}"/>
              </a:ext>
            </a:extLst>
          </p:cNvPr>
          <p:cNvSpPr>
            <a:spLocks xmlns:a="http://schemas.openxmlformats.org/drawingml/2006/main" noGrp="1"/>
          </p:cNvSpPr>
          <p:nvPr/>
        </p:nvSpPr>
        <p:spPr>
          <a:xfrm xmlns:a="http://schemas.openxmlformats.org/drawingml/2006/main">
            <a:off x="685800" y="302895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04C9731-AAAE-427A-B4E7-5A9A6AD386C9}"/>
              </a:ext>
            </a:extLst>
          </p:cNvPr>
          <p:cNvSpPr>
            <a:spLocks xmlns:a="http://schemas.openxmlformats.org/drawingml/2006/main" noGrp="1"/>
          </p:cNvSpPr>
          <p:nvPr/>
        </p:nvSpPr>
        <p:spPr>
          <a:xfrm xmlns:a="http://schemas.openxmlformats.org/drawingml/2006/main">
            <a:off x="36004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991564C-CC07-4B93-B2F0-F24B78DE7B54}"/>
              </a:ext>
            </a:extLst>
          </p:cNvPr>
          <p:cNvSpPr>
            <a:spLocks xmlns:a="http://schemas.openxmlformats.org/drawingml/2006/main" noGrp="1"/>
          </p:cNvSpPr>
          <p:nvPr/>
        </p:nvSpPr>
        <p:spPr>
          <a:xfrm xmlns:a="http://schemas.openxmlformats.org/drawingml/2006/main">
            <a:off x="685800" y="32004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3A08320-23D3-486B-BA26-FD5280430057}"/>
              </a:ext>
            </a:extLst>
          </p:cNvPr>
          <p:cNvSpPr>
            <a:spLocks xmlns:a="http://schemas.openxmlformats.org/drawingml/2006/main" noGrp="1"/>
          </p:cNvSpPr>
          <p:nvPr/>
        </p:nvSpPr>
        <p:spPr>
          <a:xfrm xmlns:a="http://schemas.openxmlformats.org/drawingml/2006/main">
            <a:off x="392430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59EAAAF-4C3F-46EA-8ECB-BFE35E1BFAFF}"/>
              </a:ext>
            </a:extLst>
          </p:cNvPr>
          <p:cNvSpPr>
            <a:spLocks xmlns:a="http://schemas.openxmlformats.org/drawingml/2006/main" noGrp="1"/>
          </p:cNvSpPr>
          <p:nvPr/>
        </p:nvSpPr>
        <p:spPr>
          <a:xfrm xmlns:a="http://schemas.openxmlformats.org/drawingml/2006/main">
            <a:off x="685800" y="337185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DBA68A8-A78D-4DD2-938C-CA9456244083}"/>
              </a:ext>
            </a:extLst>
          </p:cNvPr>
          <p:cNvSpPr>
            <a:spLocks xmlns:a="http://schemas.openxmlformats.org/drawingml/2006/main" noGrp="1"/>
          </p:cNvSpPr>
          <p:nvPr/>
        </p:nvSpPr>
        <p:spPr>
          <a:xfrm xmlns:a="http://schemas.openxmlformats.org/drawingml/2006/main">
            <a:off x="42481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06F20AB-111F-4737-8C89-1F71204FB7B5}"/>
              </a:ext>
            </a:extLst>
          </p:cNvPr>
          <p:cNvSpPr>
            <a:spLocks xmlns:a="http://schemas.openxmlformats.org/drawingml/2006/main" noGrp="1"/>
          </p:cNvSpPr>
          <p:nvPr/>
        </p:nvSpPr>
        <p:spPr>
          <a:xfrm xmlns:a="http://schemas.openxmlformats.org/drawingml/2006/main">
            <a:off x="685800" y="35433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DB4ACD8-3E77-41BE-A37C-51C1962AF93E}"/>
              </a:ext>
            </a:extLst>
          </p:cNvPr>
          <p:cNvSpPr>
            <a:spLocks xmlns:a="http://schemas.openxmlformats.org/drawingml/2006/main" noGrp="1"/>
          </p:cNvSpPr>
          <p:nvPr/>
        </p:nvSpPr>
        <p:spPr>
          <a:xfrm xmlns:a="http://schemas.openxmlformats.org/drawingml/2006/main">
            <a:off x="457200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3C95DEB-C195-4E01-A4B9-3BA4FC407242}"/>
              </a:ext>
            </a:extLst>
          </p:cNvPr>
          <p:cNvSpPr>
            <a:spLocks xmlns:a="http://schemas.openxmlformats.org/drawingml/2006/main" noGrp="1"/>
          </p:cNvSpPr>
          <p:nvPr/>
        </p:nvSpPr>
        <p:spPr>
          <a:xfrm xmlns:a="http://schemas.openxmlformats.org/drawingml/2006/main">
            <a:off x="685800" y="371475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0FD272D-C31E-455F-B7FB-BB3E54992E96}"/>
              </a:ext>
            </a:extLst>
          </p:cNvPr>
          <p:cNvSpPr>
            <a:spLocks xmlns:a="http://schemas.openxmlformats.org/drawingml/2006/main" noGrp="1"/>
          </p:cNvSpPr>
          <p:nvPr/>
        </p:nvSpPr>
        <p:spPr>
          <a:xfrm xmlns:a="http://schemas.openxmlformats.org/drawingml/2006/main">
            <a:off x="48958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590E5A6-FAAE-495E-A593-635D83AC11FA}"/>
              </a:ext>
            </a:extLst>
          </p:cNvPr>
          <p:cNvSpPr>
            <a:spLocks xmlns:a="http://schemas.openxmlformats.org/drawingml/2006/main" noGrp="1"/>
          </p:cNvSpPr>
          <p:nvPr/>
        </p:nvSpPr>
        <p:spPr>
          <a:xfrm xmlns:a="http://schemas.openxmlformats.org/drawingml/2006/main">
            <a:off x="685800" y="38862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0B1CCCD-CB17-4E1F-9532-5626119F1C88}"/>
              </a:ext>
            </a:extLst>
          </p:cNvPr>
          <p:cNvSpPr>
            <a:spLocks xmlns:a="http://schemas.openxmlformats.org/drawingml/2006/main" noGrp="1"/>
          </p:cNvSpPr>
          <p:nvPr/>
        </p:nvSpPr>
        <p:spPr>
          <a:xfrm xmlns:a="http://schemas.openxmlformats.org/drawingml/2006/main">
            <a:off x="521970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B842483-2133-4DE0-A4F5-D051EC0C49EB}"/>
              </a:ext>
            </a:extLst>
          </p:cNvPr>
          <p:cNvSpPr>
            <a:spLocks xmlns:a="http://schemas.openxmlformats.org/drawingml/2006/main" noGrp="1"/>
          </p:cNvSpPr>
          <p:nvPr/>
        </p:nvSpPr>
        <p:spPr>
          <a:xfrm xmlns:a="http://schemas.openxmlformats.org/drawingml/2006/main">
            <a:off x="685800" y="405765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87600C4-E28F-486D-8690-6222972F300D}"/>
              </a:ext>
            </a:extLst>
          </p:cNvPr>
          <p:cNvSpPr>
            <a:spLocks xmlns:a="http://schemas.openxmlformats.org/drawingml/2006/main" noGrp="1"/>
          </p:cNvSpPr>
          <p:nvPr/>
        </p:nvSpPr>
        <p:spPr>
          <a:xfrm xmlns:a="http://schemas.openxmlformats.org/drawingml/2006/main">
            <a:off x="55435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9D2F5EA-5D67-48D1-9D7A-B21D8932839E}"/>
              </a:ext>
            </a:extLst>
          </p:cNvPr>
          <p:cNvSpPr>
            <a:spLocks xmlns:a="http://schemas.openxmlformats.org/drawingml/2006/main" noGrp="1"/>
          </p:cNvSpPr>
          <p:nvPr/>
        </p:nvSpPr>
        <p:spPr>
          <a:xfrm xmlns:a="http://schemas.openxmlformats.org/drawingml/2006/main">
            <a:off x="685800" y="42291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A7EE53A-61E3-41BA-8444-D72EC5742962}"/>
              </a:ext>
            </a:extLst>
          </p:cNvPr>
          <p:cNvSpPr>
            <a:spLocks xmlns:a="http://schemas.openxmlformats.org/drawingml/2006/main" noGrp="1"/>
          </p:cNvSpPr>
          <p:nvPr/>
        </p:nvSpPr>
        <p:spPr>
          <a:xfrm xmlns:a="http://schemas.openxmlformats.org/drawingml/2006/main">
            <a:off x="586740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BEDC4BD-07EC-4024-97DB-74E40253EEE7}"/>
              </a:ext>
            </a:extLst>
          </p:cNvPr>
          <p:cNvSpPr>
            <a:spLocks xmlns:a="http://schemas.openxmlformats.org/drawingml/2006/main" noGrp="1"/>
          </p:cNvSpPr>
          <p:nvPr/>
        </p:nvSpPr>
        <p:spPr>
          <a:xfrm xmlns:a="http://schemas.openxmlformats.org/drawingml/2006/main">
            <a:off x="685800" y="440055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F9EFC42-28ED-4EF7-8AC1-2C6F3D22D45B}"/>
              </a:ext>
            </a:extLst>
          </p:cNvPr>
          <p:cNvSpPr>
            <a:spLocks xmlns:a="http://schemas.openxmlformats.org/drawingml/2006/main" noGrp="1"/>
          </p:cNvSpPr>
          <p:nvPr/>
        </p:nvSpPr>
        <p:spPr>
          <a:xfrm xmlns:a="http://schemas.openxmlformats.org/drawingml/2006/main">
            <a:off x="61912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FEB862D-192F-4198-A7DE-EA894B231BE5}"/>
              </a:ext>
            </a:extLst>
          </p:cNvPr>
          <p:cNvSpPr>
            <a:spLocks xmlns:a="http://schemas.openxmlformats.org/drawingml/2006/main" noGrp="1"/>
          </p:cNvSpPr>
          <p:nvPr/>
        </p:nvSpPr>
        <p:spPr>
          <a:xfrm xmlns:a="http://schemas.openxmlformats.org/drawingml/2006/main">
            <a:off x="685800" y="45720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B6EB257-6965-401D-A683-010EAF7FE89C}"/>
              </a:ext>
            </a:extLst>
          </p:cNvPr>
          <p:cNvSpPr>
            <a:spLocks xmlns:a="http://schemas.openxmlformats.org/drawingml/2006/main" noGrp="1"/>
          </p:cNvSpPr>
          <p:nvPr/>
        </p:nvSpPr>
        <p:spPr>
          <a:xfrm xmlns:a="http://schemas.openxmlformats.org/drawingml/2006/main">
            <a:off x="651510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FCF6DD00-6A1A-48BC-AE91-8A5DD5B70AEF}"/>
              </a:ext>
            </a:extLst>
          </p:cNvPr>
          <p:cNvSpPr>
            <a:spLocks xmlns:a="http://schemas.openxmlformats.org/drawingml/2006/main" noGrp="1"/>
          </p:cNvSpPr>
          <p:nvPr/>
        </p:nvSpPr>
        <p:spPr>
          <a:xfrm xmlns:a="http://schemas.openxmlformats.org/drawingml/2006/main">
            <a:off x="685800" y="474345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2769BEC-768D-4D8F-9FA7-1297582A79C7}"/>
              </a:ext>
            </a:extLst>
          </p:cNvPr>
          <p:cNvSpPr>
            <a:spLocks xmlns:a="http://schemas.openxmlformats.org/drawingml/2006/main" noGrp="1"/>
          </p:cNvSpPr>
          <p:nvPr/>
        </p:nvSpPr>
        <p:spPr>
          <a:xfrm xmlns:a="http://schemas.openxmlformats.org/drawingml/2006/main">
            <a:off x="6838950" y="1657350"/>
            <a:ext cx="9525" cy="3429000"/>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BC189B3-5E2E-48A1-B535-3981A70242D6}"/>
              </a:ext>
            </a:extLst>
          </p:cNvPr>
          <p:cNvSpPr>
            <a:spLocks xmlns:a="http://schemas.openxmlformats.org/drawingml/2006/main" noGrp="1"/>
          </p:cNvSpPr>
          <p:nvPr/>
        </p:nvSpPr>
        <p:spPr>
          <a:xfrm xmlns:a="http://schemas.openxmlformats.org/drawingml/2006/main">
            <a:off x="685800" y="4914900"/>
            <a:ext cx="6477000" cy="9525"/>
          </a:xfrm>
          <a:prstGeom xmlns:a="http://schemas.openxmlformats.org/drawingml/2006/main" prst="rect">
            <a:avLst/>
          </a:prstGeom>
          <a:solidFill xmlns:a="http://schemas.openxmlformats.org/drawingml/2006/main">
            <a:srgbClr val="D8E5EA"/>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89ADAEA-BA84-4749-93F9-4763A1CC886E}"/>
              </a:ext>
            </a:extLst>
          </p:cNvPr>
          <p:cNvSpPr>
            <a:spLocks xmlns:a="http://schemas.openxmlformats.org/drawingml/2006/main" noGrp="1"/>
          </p:cNvSpPr>
          <p:nvPr/>
        </p:nvSpPr>
        <p:spPr>
          <a:xfrm xmlns:a="http://schemas.openxmlformats.org/drawingml/2006/main">
            <a:off x="685800" y="3943350"/>
            <a:ext cx="6477000" cy="1143000"/>
          </a:xfrm>
          <a:prstGeom xmlns:a="http://schemas.openxmlformats.org/drawingml/2006/main" prst="rect">
            <a:avLst/>
          </a:prstGeom>
          <a:solidFill xmlns:a="http://schemas.openxmlformats.org/drawingml/2006/main">
            <a:srgbClr val="DDF2F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7AB9859-5A4F-4DC5-8394-1B758B6583A5}"/>
              </a:ext>
            </a:extLst>
          </p:cNvPr>
          <p:cNvSpPr>
            <a:spLocks xmlns:a="http://schemas.openxmlformats.org/drawingml/2006/main" noGrp="1"/>
          </p:cNvSpPr>
          <p:nvPr/>
        </p:nvSpPr>
        <p:spPr>
          <a:xfrm xmlns:a="http://schemas.openxmlformats.org/drawingml/2006/main">
            <a:off x="685800" y="3371850"/>
            <a:ext cx="64770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9E8608B-85AA-496B-B60B-3DB528AFD43C}"/>
              </a:ext>
            </a:extLst>
          </p:cNvPr>
          <p:cNvSpPr>
            <a:spLocks xmlns:a="http://schemas.openxmlformats.org/drawingml/2006/main" noGrp="1"/>
          </p:cNvSpPr>
          <p:nvPr/>
        </p:nvSpPr>
        <p:spPr>
          <a:xfrm xmlns:a="http://schemas.openxmlformats.org/drawingml/2006/main">
            <a:off x="838200" y="31718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A8794"/>
                </a:solidFill>
                <a:latin typeface="Helvetica Neue"/>
                <a:ea typeface="Helvetica Neue"/>
                <a:cs typeface="Helvetica Neue"/>
              </a:defRPr>
            </a:pPr>
            <a:r>
              <a:rPr sz="900" b="1" i="0">
                <a:solidFill>
                  <a:srgbClr val="0A8794"/>
                </a:solidFill>
                <a:latin typeface="Helvetica Neue"/>
                <a:ea typeface="Helvetica Neue"/>
                <a:cs typeface="Helvetica Neue"/>
              </a:rPr>
              <a:t>z = 750 m: saturation-ratio transition</a:t>
            </a:r>
          </a:p>
        </p:txBody>
      </p:sp>
      <p:sp>
        <p:nvSpPr>
          <p:cNvPr id="46" name="">
            <a:extLst xmlns:a="http://schemas.openxmlformats.org/drawingml/2006/main">
              <a:ext uri="{FF2B5EF4-FFF2-40B4-BE49-F238E27FC236}">
                <a16:creationId xmlns:a16="http://schemas.microsoft.com/office/drawing/2014/main" id="{BC38AB0B-6E63-4418-8B79-4C6D2BC14FFB}"/>
              </a:ext>
            </a:extLst>
          </p:cNvPr>
          <p:cNvSpPr>
            <a:spLocks xmlns:a="http://schemas.openxmlformats.org/drawingml/2006/main" noGrp="1"/>
          </p:cNvSpPr>
          <p:nvPr/>
        </p:nvSpPr>
        <p:spPr>
          <a:xfrm xmlns:a="http://schemas.openxmlformats.org/drawingml/2006/main">
            <a:off x="838200" y="424815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05000"/>
              </a:lnSpc>
              <a:buNone/>
              <a:defRPr sz="1200" b="1" i="0">
                <a:solidFill>
                  <a:srgbClr val="082B4C"/>
                </a:solidFill>
                <a:latin typeface="Helvetica Neue"/>
                <a:ea typeface="Helvetica Neue"/>
                <a:cs typeface="Helvetica Neue"/>
              </a:defRPr>
            </a:pPr>
            <a:r>
              <a:rPr sz="1200" b="1" i="0">
                <a:solidFill>
                  <a:srgbClr val="082B4C"/>
                </a:solidFill>
                <a:latin typeface="Helvetica Neue"/>
                <a:ea typeface="Helvetica Neue"/>
                <a:cs typeface="Helvetica Neue"/>
              </a:rPr>
              <a:t>initial superdroplets: z &lt; 500 m</a:t>
            </a:r>
          </a:p>
          <a:p xmlns:a="http://schemas.openxmlformats.org/drawingml/2006/main">
            <a:pPr algn="l">
              <a:lnSpc>
                <a:spcPct val="105000"/>
              </a:lnSpc>
              <a:buNone/>
              <a:defRPr sz="1200" b="1" i="0">
                <a:solidFill>
                  <a:srgbClr val="082B4C"/>
                </a:solidFill>
                <a:latin typeface="Helvetica Neue"/>
                <a:ea typeface="Helvetica Neue"/>
                <a:cs typeface="Helvetica Neue"/>
              </a:defRPr>
            </a:pPr>
            <a:r>
              <a:rPr sz="1200" b="1" i="0">
                <a:solidFill>
                  <a:srgbClr val="082B4C"/>
                </a:solidFill>
                <a:latin typeface="Helvetica Neue"/>
                <a:ea typeface="Helvetica Neue"/>
                <a:cs typeface="Helvetica Neue"/>
              </a:rPr>
              <a:t>120 initially populated cells</a:t>
            </a:r>
          </a:p>
        </p:txBody>
      </p:sp>
      <p:sp>
        <p:nvSpPr>
          <p:cNvPr id="47" name="">
            <a:extLst xmlns:a="http://schemas.openxmlformats.org/drawingml/2006/main">
              <a:ext uri="{FF2B5EF4-FFF2-40B4-BE49-F238E27FC236}">
                <a16:creationId xmlns:a16="http://schemas.microsoft.com/office/drawing/2014/main" id="{F7DBB34A-7BF3-4F7A-B6C8-CCF6DE891A53}"/>
              </a:ext>
            </a:extLst>
          </p:cNvPr>
          <p:cNvSpPr>
            <a:spLocks xmlns:a="http://schemas.openxmlformats.org/drawingml/2006/main" noGrp="1"/>
          </p:cNvSpPr>
          <p:nvPr/>
        </p:nvSpPr>
        <p:spPr>
          <a:xfrm xmlns:a="http://schemas.openxmlformats.org/drawingml/2006/main">
            <a:off x="4867275" y="1943100"/>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i="0">
                <a:solidFill>
                  <a:srgbClr val="082B4C"/>
                </a:solidFill>
                <a:latin typeface="Helvetica Neue"/>
                <a:ea typeface="Helvetica Neue"/>
                <a:cs typeface="Helvetica Neue"/>
              </a:defRPr>
            </a:pPr>
            <a:r>
              <a:rPr sz="1200" b="1" i="0">
                <a:solidFill>
                  <a:srgbClr val="082B4C"/>
                </a:solidFill>
                <a:latin typeface="Helvetica Neue"/>
                <a:ea typeface="Helvetica Neue"/>
                <a:cs typeface="Helvetica Neue"/>
              </a:rPr>
              <a:t>20 × 20 fixed grid</a:t>
            </a:r>
          </a:p>
          <a:p xmlns:a="http://schemas.openxmlformats.org/drawingml/2006/main">
            <a:pPr algn="r">
              <a:lnSpc>
                <a:spcPct val="105000"/>
              </a:lnSpc>
              <a:buNone/>
              <a:defRPr sz="1200" b="1" i="0">
                <a:solidFill>
                  <a:srgbClr val="082B4C"/>
                </a:solidFill>
                <a:latin typeface="Helvetica Neue"/>
                <a:ea typeface="Helvetica Neue"/>
                <a:cs typeface="Helvetica Neue"/>
              </a:defRPr>
            </a:pPr>
            <a:r>
              <a:rPr sz="1200" b="1" i="0">
                <a:solidFill>
                  <a:srgbClr val="082B4C"/>
                </a:solidFill>
                <a:latin typeface="Helvetica Neue"/>
                <a:ea typeface="Helvetica Neue"/>
                <a:cs typeface="Helvetica Neue"/>
              </a:rPr>
              <a:t>75 m × 75 m × 20 m cells</a:t>
            </a:r>
          </a:p>
        </p:txBody>
      </p:sp>
      <p:sp>
        <p:nvSpPr>
          <p:cNvPr id="48" name="">
            <a:extLst xmlns:a="http://schemas.openxmlformats.org/drawingml/2006/main">
              <a:ext uri="{FF2B5EF4-FFF2-40B4-BE49-F238E27FC236}">
                <a16:creationId xmlns:a16="http://schemas.microsoft.com/office/drawing/2014/main" id="{493A0DD4-D46E-432F-96F2-9E9D4743B2A1}"/>
              </a:ext>
            </a:extLst>
          </p:cNvPr>
          <p:cNvSpPr>
            <a:spLocks xmlns:a="http://schemas.openxmlformats.org/drawingml/2006/main" noGrp="1"/>
          </p:cNvSpPr>
          <p:nvPr/>
        </p:nvSpPr>
        <p:spPr>
          <a:xfrm xmlns:a="http://schemas.openxmlformats.org/drawingml/2006/main">
            <a:off x="3267075" y="52387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0" i="0">
                <a:solidFill>
                  <a:srgbClr val="486581"/>
                </a:solidFill>
                <a:latin typeface="Helvetica Neue"/>
                <a:ea typeface="Helvetica Neue"/>
                <a:cs typeface="Helvetica Neue"/>
              </a:defRPr>
            </a:pPr>
            <a:r>
              <a:rPr sz="1050" b="0" i="0">
                <a:solidFill>
                  <a:srgbClr val="486581"/>
                </a:solidFill>
                <a:latin typeface="Helvetica Neue"/>
                <a:ea typeface="Helvetica Neue"/>
                <a:cs typeface="Helvetica Neue"/>
              </a:rPr>
              <a:t>x = 1,500 m</a:t>
            </a:r>
          </a:p>
        </p:txBody>
      </p:sp>
      <p:sp>
        <p:nvSpPr>
          <p:cNvPr id="49" name="">
            <a:extLst xmlns:a="http://schemas.openxmlformats.org/drawingml/2006/main">
              <a:ext uri="{FF2B5EF4-FFF2-40B4-BE49-F238E27FC236}">
                <a16:creationId xmlns:a16="http://schemas.microsoft.com/office/drawing/2014/main" id="{A49C8AEC-809A-4B7B-9987-FD3D8474EFCC}"/>
              </a:ext>
            </a:extLst>
          </p:cNvPr>
          <p:cNvSpPr>
            <a:spLocks xmlns:a="http://schemas.openxmlformats.org/drawingml/2006/main" noGrp="1"/>
          </p:cNvSpPr>
          <p:nvPr/>
        </p:nvSpPr>
        <p:spPr>
          <a:xfrm xmlns:a="http://schemas.openxmlformats.org/drawingml/2006/main">
            <a:off x="152400" y="32385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67411"/>
          </a:bodyPr>
          <a:lstStyle xmlns:a="http://schemas.openxmlformats.org/drawingml/2006/main"/>
          <a:p xmlns:a="http://schemas.openxmlformats.org/drawingml/2006/main">
            <a:pPr algn="ctr">
              <a:lnSpc>
                <a:spcPct val="105000"/>
              </a:lnSpc>
              <a:buNone/>
              <a:defRPr sz="1050" b="0" i="0">
                <a:solidFill>
                  <a:srgbClr val="486581"/>
                </a:solidFill>
                <a:latin typeface="Helvetica Neue"/>
                <a:ea typeface="Helvetica Neue"/>
                <a:cs typeface="Helvetica Neue"/>
              </a:defRPr>
            </a:pPr>
            <a:r>
              <a:rPr sz="1050" b="0" i="0">
                <a:solidFill>
                  <a:srgbClr val="486581"/>
                </a:solidFill>
                <a:latin typeface="Helvetica Neue"/>
                <a:ea typeface="Helvetica Neue"/>
                <a:cs typeface="Helvetica Neue"/>
              </a:rPr>
              <a:t>z = 1,500 m</a:t>
            </a:r>
          </a:p>
        </p:txBody>
      </p:sp>
      <p:sp>
        <p:nvSpPr>
          <p:cNvPr id="50" name="">
            <a:extLst xmlns:a="http://schemas.openxmlformats.org/drawingml/2006/main">
              <a:ext uri="{FF2B5EF4-FFF2-40B4-BE49-F238E27FC236}">
                <a16:creationId xmlns:a16="http://schemas.microsoft.com/office/drawing/2014/main" id="{E7E7D836-4148-4B44-819B-37DE607E352D}"/>
              </a:ext>
            </a:extLst>
          </p:cNvPr>
          <p:cNvSpPr>
            <a:spLocks xmlns:a="http://schemas.openxmlformats.org/drawingml/2006/main" noGrp="1"/>
          </p:cNvSpPr>
          <p:nvPr/>
        </p:nvSpPr>
        <p:spPr>
          <a:xfrm xmlns:a="http://schemas.openxmlformats.org/drawingml/2006/main">
            <a:off x="7791450" y="1790700"/>
            <a:ext cx="3219450" cy="685800"/>
          </a:xfrm>
          <a:prstGeom xmlns:a="http://schemas.openxmlformats.org/drawingml/2006/main" prst="roundRect">
            <a:avLst>
              <a:gd name="adj" fmla="val 13889"/>
            </a:avLst>
          </a:prstGeom>
          <a:solidFill xmlns:a="http://schemas.openxmlformats.org/drawingml/2006/main">
            <a:srgbClr val="EAF3F5"/>
          </a:solidFill>
          <a:ln xmlns:a="http://schemas.openxmlformats.org/drawingml/2006/main" w="9525">
            <a:solidFill>
              <a:srgbClr val="CAD7E2"/>
            </a:solidFill>
          </a:ln>
        </p:spPr>
      </p:sp>
      <p:sp>
        <p:nvSpPr>
          <p:cNvPr id="51" name="">
            <a:extLst xmlns:a="http://schemas.openxmlformats.org/drawingml/2006/main">
              <a:ext uri="{FF2B5EF4-FFF2-40B4-BE49-F238E27FC236}">
                <a16:creationId xmlns:a16="http://schemas.microsoft.com/office/drawing/2014/main" id="{8B575227-2746-4E47-B689-6968ACEC9D00}"/>
              </a:ext>
            </a:extLst>
          </p:cNvPr>
          <p:cNvSpPr>
            <a:spLocks xmlns:a="http://schemas.openxmlformats.org/drawingml/2006/main" noGrp="1"/>
          </p:cNvSpPr>
          <p:nvPr/>
        </p:nvSpPr>
        <p:spPr>
          <a:xfrm xmlns:a="http://schemas.openxmlformats.org/drawingml/2006/main">
            <a:off x="8020050" y="195262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082B4C"/>
                </a:solidFill>
                <a:latin typeface="Helvetica Neue"/>
                <a:ea typeface="Helvetica Neue"/>
                <a:cs typeface="Helvetica Neue"/>
              </a:defRPr>
            </a:pPr>
            <a:r>
              <a:rPr sz="1425" b="1" i="0">
                <a:solidFill>
                  <a:srgbClr val="082B4C"/>
                </a:solidFill>
                <a:latin typeface="Helvetica Neue"/>
                <a:ea typeface="Helvetica Neue"/>
                <a:cs typeface="Helvetica Neue"/>
              </a:rPr>
              <a:t>Physics switched on</a:t>
            </a:r>
          </a:p>
        </p:txBody>
      </p:sp>
      <p:sp>
        <p:nvSpPr>
          <p:cNvPr id="52" name="">
            <a:extLst xmlns:a="http://schemas.openxmlformats.org/drawingml/2006/main">
              <a:ext uri="{FF2B5EF4-FFF2-40B4-BE49-F238E27FC236}">
                <a16:creationId xmlns:a16="http://schemas.microsoft.com/office/drawing/2014/main" id="{2495B575-5E62-4544-B13D-B04120074CAE}"/>
              </a:ext>
            </a:extLst>
          </p:cNvPr>
          <p:cNvSpPr>
            <a:spLocks xmlns:a="http://schemas.openxmlformats.org/drawingml/2006/main" noGrp="1"/>
          </p:cNvSpPr>
          <p:nvPr/>
        </p:nvSpPr>
        <p:spPr>
          <a:xfrm xmlns:a="http://schemas.openxmlformats.org/drawingml/2006/main">
            <a:off x="8020050" y="2209800"/>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766"/>
          </a:bodyPr>
          <a:lstStyle xmlns:a="http://schemas.openxmlformats.org/drawingml/2006/main"/>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condensation / evaporation</a:t>
            </a:r>
          </a:p>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Long collision–coalescence</a:t>
            </a:r>
          </a:p>
        </p:txBody>
      </p:sp>
      <p:sp>
        <p:nvSpPr>
          <p:cNvPr id="53" name="">
            <a:extLst xmlns:a="http://schemas.openxmlformats.org/drawingml/2006/main">
              <a:ext uri="{FF2B5EF4-FFF2-40B4-BE49-F238E27FC236}">
                <a16:creationId xmlns:a16="http://schemas.microsoft.com/office/drawing/2014/main" id="{420E6D67-D3A4-4E12-AB3F-9DF27EA6CAEF}"/>
              </a:ext>
            </a:extLst>
          </p:cNvPr>
          <p:cNvSpPr>
            <a:spLocks xmlns:a="http://schemas.openxmlformats.org/drawingml/2006/main" noGrp="1"/>
          </p:cNvSpPr>
          <p:nvPr/>
        </p:nvSpPr>
        <p:spPr>
          <a:xfrm xmlns:a="http://schemas.openxmlformats.org/drawingml/2006/main">
            <a:off x="7791450" y="2743200"/>
            <a:ext cx="3219450" cy="685800"/>
          </a:xfrm>
          <a:prstGeom xmlns:a="http://schemas.openxmlformats.org/drawingml/2006/main" prst="roundRect">
            <a:avLst>
              <a:gd name="adj" fmla="val 13889"/>
            </a:avLst>
          </a:prstGeom>
          <a:solidFill xmlns:a="http://schemas.openxmlformats.org/drawingml/2006/main">
            <a:srgbClr val="EAF3F5"/>
          </a:solidFill>
          <a:ln xmlns:a="http://schemas.openxmlformats.org/drawingml/2006/main" w="9525">
            <a:solidFill>
              <a:srgbClr val="CAD7E2"/>
            </a:solidFill>
          </a:ln>
        </p:spPr>
      </p:sp>
      <p:sp>
        <p:nvSpPr>
          <p:cNvPr id="54" name="">
            <a:extLst xmlns:a="http://schemas.openxmlformats.org/drawingml/2006/main">
              <a:ext uri="{FF2B5EF4-FFF2-40B4-BE49-F238E27FC236}">
                <a16:creationId xmlns:a16="http://schemas.microsoft.com/office/drawing/2014/main" id="{59F76313-110C-4DED-9F92-AC070FC3A877}"/>
              </a:ext>
            </a:extLst>
          </p:cNvPr>
          <p:cNvSpPr>
            <a:spLocks xmlns:a="http://schemas.openxmlformats.org/drawingml/2006/main" noGrp="1"/>
          </p:cNvSpPr>
          <p:nvPr/>
        </p:nvSpPr>
        <p:spPr>
          <a:xfrm xmlns:a="http://schemas.openxmlformats.org/drawingml/2006/main">
            <a:off x="8020050" y="290512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082B4C"/>
                </a:solidFill>
                <a:latin typeface="Helvetica Neue"/>
                <a:ea typeface="Helvetica Neue"/>
                <a:cs typeface="Helvetica Neue"/>
              </a:defRPr>
            </a:pPr>
            <a:r>
              <a:rPr sz="1425" b="1" i="0">
                <a:solidFill>
                  <a:srgbClr val="082B4C"/>
                </a:solidFill>
                <a:latin typeface="Helvetica Neue"/>
                <a:ea typeface="Helvetica Neue"/>
                <a:cs typeface="Helvetica Neue"/>
              </a:rPr>
              <a:t>Motion</a:t>
            </a:r>
          </a:p>
        </p:txBody>
      </p:sp>
      <p:sp>
        <p:nvSpPr>
          <p:cNvPr id="55" name="">
            <a:extLst xmlns:a="http://schemas.openxmlformats.org/drawingml/2006/main">
              <a:ext uri="{FF2B5EF4-FFF2-40B4-BE49-F238E27FC236}">
                <a16:creationId xmlns:a16="http://schemas.microsoft.com/office/drawing/2014/main" id="{01CB7E9A-A0B2-43F5-AE33-D98970D4E3B7}"/>
              </a:ext>
            </a:extLst>
          </p:cNvPr>
          <p:cNvSpPr>
            <a:spLocks xmlns:a="http://schemas.openxmlformats.org/drawingml/2006/main" noGrp="1"/>
          </p:cNvSpPr>
          <p:nvPr/>
        </p:nvSpPr>
        <p:spPr>
          <a:xfrm xmlns:a="http://schemas.openxmlformats.org/drawingml/2006/main">
            <a:off x="8020050" y="3162300"/>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766"/>
          </a:bodyPr>
          <a:lstStyle xmlns:a="http://schemas.openxmlformats.org/drawingml/2006/main"/>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Cartesian trajectories with</a:t>
            </a:r>
          </a:p>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Rogers–Gunn–Kinzer vₜ(r)</a:t>
            </a:r>
          </a:p>
        </p:txBody>
      </p:sp>
      <p:sp>
        <p:nvSpPr>
          <p:cNvPr id="56" name="">
            <a:extLst xmlns:a="http://schemas.openxmlformats.org/drawingml/2006/main">
              <a:ext uri="{FF2B5EF4-FFF2-40B4-BE49-F238E27FC236}">
                <a16:creationId xmlns:a16="http://schemas.microsoft.com/office/drawing/2014/main" id="{F2A680DE-A0AB-44B8-843E-6EBCB6C7AE9D}"/>
              </a:ext>
            </a:extLst>
          </p:cNvPr>
          <p:cNvSpPr>
            <a:spLocks xmlns:a="http://schemas.openxmlformats.org/drawingml/2006/main" noGrp="1"/>
          </p:cNvSpPr>
          <p:nvPr/>
        </p:nvSpPr>
        <p:spPr>
          <a:xfrm xmlns:a="http://schemas.openxmlformats.org/drawingml/2006/main">
            <a:off x="7791450" y="3695700"/>
            <a:ext cx="3219450" cy="876300"/>
          </a:xfrm>
          <a:prstGeom xmlns:a="http://schemas.openxmlformats.org/drawingml/2006/main" prst="roundRect">
            <a:avLst>
              <a:gd name="adj" fmla="val 10870"/>
            </a:avLst>
          </a:prstGeom>
          <a:solidFill xmlns:a="http://schemas.openxmlformats.org/drawingml/2006/main">
            <a:srgbClr val="FFF8E4"/>
          </a:solidFill>
          <a:ln xmlns:a="http://schemas.openxmlformats.org/drawingml/2006/main" w="9525">
            <a:solidFill>
              <a:srgbClr val="F4B942"/>
            </a:solidFill>
          </a:ln>
        </p:spPr>
      </p:sp>
      <p:sp>
        <p:nvSpPr>
          <p:cNvPr id="57" name="">
            <a:extLst xmlns:a="http://schemas.openxmlformats.org/drawingml/2006/main">
              <a:ext uri="{FF2B5EF4-FFF2-40B4-BE49-F238E27FC236}">
                <a16:creationId xmlns:a16="http://schemas.microsoft.com/office/drawing/2014/main" id="{08881F65-33D3-43E9-B7B7-7A9EDE4022A8}"/>
              </a:ext>
            </a:extLst>
          </p:cNvPr>
          <p:cNvSpPr>
            <a:spLocks xmlns:a="http://schemas.openxmlformats.org/drawingml/2006/main" noGrp="1"/>
          </p:cNvSpPr>
          <p:nvPr/>
        </p:nvSpPr>
        <p:spPr>
          <a:xfrm xmlns:a="http://schemas.openxmlformats.org/drawingml/2006/main">
            <a:off x="8020050" y="384810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082B4C"/>
                </a:solidFill>
                <a:latin typeface="Helvetica Neue"/>
                <a:ea typeface="Helvetica Neue"/>
                <a:cs typeface="Helvetica Neue"/>
              </a:defRPr>
            </a:pPr>
            <a:r>
              <a:rPr sz="1425" b="1" i="0">
                <a:solidFill>
                  <a:srgbClr val="082B4C"/>
                </a:solidFill>
                <a:latin typeface="Helvetica Neue"/>
                <a:ea typeface="Helvetica Neue"/>
                <a:cs typeface="Helvetica Neue"/>
              </a:rPr>
              <a:t>Boundary interpretation</a:t>
            </a:r>
          </a:p>
        </p:txBody>
      </p:sp>
      <p:sp>
        <p:nvSpPr>
          <p:cNvPr id="58" name="">
            <a:extLst xmlns:a="http://schemas.openxmlformats.org/drawingml/2006/main">
              <a:ext uri="{FF2B5EF4-FFF2-40B4-BE49-F238E27FC236}">
                <a16:creationId xmlns:a16="http://schemas.microsoft.com/office/drawing/2014/main" id="{FFCD91AA-0C8B-4AAA-ADB6-25DA1D2767D5}"/>
              </a:ext>
            </a:extLst>
          </p:cNvPr>
          <p:cNvSpPr>
            <a:spLocks xmlns:a="http://schemas.openxmlformats.org/drawingml/2006/main" noGrp="1"/>
          </p:cNvSpPr>
          <p:nvPr/>
        </p:nvSpPr>
        <p:spPr>
          <a:xfrm xmlns:a="http://schemas.openxmlformats.org/drawingml/2006/main">
            <a:off x="8020050" y="4105275"/>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857"/>
          </a:bodyPr>
          <a:lstStyle xmlns:a="http://schemas.openxmlformats.org/drawingml/2006/main"/>
          <a:p xmlns:a="http://schemas.openxmlformats.org/drawingml/2006/main">
            <a:pPr algn="l">
              <a:lnSpc>
                <a:spcPct val="105000"/>
              </a:lnSpc>
              <a:buNone/>
              <a:defRPr sz="1125" b="0" i="0">
                <a:solidFill>
                  <a:srgbClr val="102A43"/>
                </a:solidFill>
                <a:latin typeface="Helvetica Neue"/>
                <a:ea typeface="Helvetica Neue"/>
                <a:cs typeface="Helvetica Neue"/>
              </a:defRPr>
            </a:pPr>
            <a:r>
              <a:rPr sz="1125" b="0" i="0">
                <a:solidFill>
                  <a:srgbClr val="102A43"/>
                </a:solidFill>
                <a:latin typeface="Helvetica Neue"/>
                <a:ea typeface="Helvetica Neue"/>
                <a:cs typeface="Helvetica Neue"/>
              </a:rPr>
              <a:t>Null boundaries: no rain-out.</a:t>
            </a:r>
          </a:p>
          <a:p xmlns:a="http://schemas.openxmlformats.org/drawingml/2006/main">
            <a:pPr algn="l">
              <a:lnSpc>
                <a:spcPct val="105000"/>
              </a:lnSpc>
              <a:buNone/>
              <a:defRPr sz="1125" b="0" i="0">
                <a:solidFill>
                  <a:srgbClr val="102A43"/>
                </a:solidFill>
                <a:latin typeface="Helvetica Neue"/>
                <a:ea typeface="Helvetica Neue"/>
                <a:cs typeface="Helvetica Neue"/>
              </a:defRPr>
            </a:pPr>
            <a:r>
              <a:rPr sz="1125" b="0" i="0">
                <a:solidFill>
                  <a:srgbClr val="102A43"/>
                </a:solidFill>
                <a:latin typeface="Helvetica Neue"/>
                <a:ea typeface="Helvetica Neue"/>
                <a:cs typeface="Helvetica Neue"/>
              </a:rPr>
              <a:t>Fluxes are in-domain virtual transport diagnostics.</a:t>
            </a:r>
          </a:p>
        </p:txBody>
      </p:sp>
      <p:sp>
        <p:nvSpPr>
          <p:cNvPr id="59" name="">
            <a:extLst xmlns:a="http://schemas.openxmlformats.org/drawingml/2006/main">
              <a:ext uri="{FF2B5EF4-FFF2-40B4-BE49-F238E27FC236}">
                <a16:creationId xmlns:a16="http://schemas.microsoft.com/office/drawing/2014/main" id="{99FA1319-E924-4998-AB0F-B1D55CED9657}"/>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99C48638-D838-4B58-AD26-FB213959C8AC}"/>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61" name="">
            <a:extLst xmlns:a="http://schemas.openxmlformats.org/drawingml/2006/main">
              <a:ext uri="{FF2B5EF4-FFF2-40B4-BE49-F238E27FC236}">
                <a16:creationId xmlns:a16="http://schemas.microsoft.com/office/drawing/2014/main" id="{05D442BB-60FA-45B4-AACD-5210C1869E0E}"/>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03</a:t>
            </a:r>
          </a:p>
        </p:txBody>
      </p:sp>
    </p:spTree>
    <p:extLst>
      <p:ext uri="{BB962C8B-B14F-4D97-AF65-F5344CB8AC3E}">
        <p14:creationId xmlns:p14="http://schemas.microsoft.com/office/powerpoint/2010/main" val="4941918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26DB35-39D9-4065-8173-26DCA9221643}"/>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CONFIGURATION</a:t>
            </a:r>
          </a:p>
        </p:txBody>
      </p:sp>
      <p:sp>
        <p:nvSpPr>
          <p:cNvPr id="2" name="">
            <a:extLst xmlns:a="http://schemas.openxmlformats.org/drawingml/2006/main">
              <a:ext uri="{FF2B5EF4-FFF2-40B4-BE49-F238E27FC236}">
                <a16:creationId xmlns:a16="http://schemas.microsoft.com/office/drawing/2014/main" id="{B343700E-0A3C-4A9E-A87A-CD335CB8CC28}"/>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Exact configuration held fixed across the resolution ladder</a:t>
            </a:r>
          </a:p>
        </p:txBody>
      </p:sp>
      <p:sp>
        <p:nvSpPr>
          <p:cNvPr id="3" name="">
            <a:extLst xmlns:a="http://schemas.openxmlformats.org/drawingml/2006/main">
              <a:ext uri="{FF2B5EF4-FFF2-40B4-BE49-F238E27FC236}">
                <a16:creationId xmlns:a16="http://schemas.microsoft.com/office/drawing/2014/main" id="{868CC71C-0DEE-42BD-8039-10C24948A2E8}"/>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graphicFrame>
        <p:nvGraphicFramePr>
          <p:cNvPr id="11" name=""/>
          <p:cNvGraphicFramePr/>
          <p:nvPr/>
        </p:nvGraphicFramePr>
        <p:xfrm>
          <a:off xmlns:a="http://schemas.openxmlformats.org/drawingml/2006/main" x="742950" y="1457325"/>
          <a:ext xmlns:a="http://schemas.openxmlformats.org/drawingml/2006/main" cx="10706100" cy="4343400"/>
        </p:xfrm>
        <a:graphic xmlns:a="http://schemas.openxmlformats.org/drawingml/2006/main">
          <a:graphicData uri="http://schemas.openxmlformats.org/drawingml/2006/table">
            <a:tbl>
              <a:tblPr firstRow="1" bandRow="1"/>
              <a:tblGrid>
                <a:gridCol w="2609850"/>
                <a:gridCol w="8096250"/>
              </a:tblGrid>
              <a:tr h="542925">
                <a:tc>
                  <a:txBody>
                    <a:bodyPr/>
                    <a:lstStyle/>
                    <a:p>
                      <a:r>
                        <a:rPr sz="1275" b="1">
                          <a:solidFill>
                            <a:srgbClr val="FFFFFF"/>
                          </a:solidFill>
                          <a:latin typeface="Helvetica Neue"/>
                          <a:ea typeface="Helvetica Neue"/>
                          <a:cs typeface="Helvetica Neue"/>
                        </a:rPr>
                        <a:t>Component</a:t>
                      </a:r>
                    </a:p>
                  </a:txBody>
                  <a:tcPr marL="114300" marR="114300" marT="66675" marB="66675">
                    <a:solidFill>
                      <a:srgbClr val="082B4C"/>
                    </a:solidFill>
                  </a:tcPr>
                </a:tc>
                <a:tc>
                  <a:txBody>
                    <a:bodyPr/>
                    <a:lstStyle/>
                    <a:p>
                      <a:r>
                        <a:rPr sz="1275" b="1">
                          <a:solidFill>
                            <a:srgbClr val="FFFFFF"/>
                          </a:solidFill>
                          <a:latin typeface="Helvetica Neue"/>
                          <a:ea typeface="Helvetica Neue"/>
                          <a:cs typeface="Helvetica Neue"/>
                        </a:rPr>
                        <a:t>Value used in this experiment</a:t>
                      </a:r>
                    </a:p>
                  </a:txBody>
                  <a:tcPr marL="114300" marR="114300" marT="66675" marB="66675">
                    <a:solidFill>
                      <a:srgbClr val="082B4C"/>
                    </a:solidFill>
                  </a:tcPr>
                </a:tc>
              </a:tr>
              <a:tr h="542925">
                <a:tc>
                  <a:txBody>
                    <a:bodyPr/>
                    <a:lstStyle/>
                    <a:p>
                      <a:r>
                        <a:rPr sz="1050" b="1">
                          <a:solidFill>
                            <a:srgbClr val="082B4C"/>
                          </a:solidFill>
                          <a:latin typeface="Helvetica Neue"/>
                          <a:ea typeface="Helvetica Neue"/>
                          <a:cs typeface="Helvetica Neue"/>
                        </a:rPr>
                        <a:t>Domain and native grid</a:t>
                      </a:r>
                    </a:p>
                  </a:txBody>
                  <a:tcPr marL="114300" marR="114300" marT="57150" marB="57150">
                    <a:solidFill>
                      <a:srgbClr val="EAF3F5"/>
                    </a:solidFill>
                  </a:tcPr>
                </a:tc>
                <a:tc>
                  <a:txBody>
                    <a:bodyPr/>
                    <a:lstStyle/>
                    <a:p>
                      <a:r>
                        <a:rPr sz="1050">
                          <a:solidFill>
                            <a:srgbClr val="102A43"/>
                          </a:solidFill>
                          <a:latin typeface="Helvetica Neue"/>
                          <a:ea typeface="Helvetica Neue"/>
                          <a:cs typeface="Helvetica Neue"/>
                        </a:rPr>
                        <a:t>x = 1,500 m; z = 1,500 m; y = 20 m; 20 × 20 cells; 75 m × 75 m × 20 m per cell</a:t>
                      </a:r>
                    </a:p>
                  </a:txBody>
                  <a:tcPr marL="114300" marR="114300" marT="57150" marB="57150"/>
                </a:tc>
              </a:tr>
              <a:tr h="542925">
                <a:tc>
                  <a:txBody>
                    <a:bodyPr/>
                    <a:lstStyle/>
                    <a:p>
                      <a:r>
                        <a:rPr sz="1050" b="1">
                          <a:solidFill>
                            <a:srgbClr val="082B4C"/>
                          </a:solidFill>
                          <a:latin typeface="Helvetica Neue"/>
                          <a:ea typeface="Helvetica Neue"/>
                          <a:cs typeface="Helvetica Neue"/>
                        </a:rPr>
                        <a:t>Initial cloud</a:t>
                      </a:r>
                    </a:p>
                  </a:txBody>
                  <a:tcPr marL="114300" marR="114300" marT="57150" marB="57150">
                    <a:solidFill>
                      <a:srgbClr val="EAF3F5"/>
                    </a:solidFill>
                  </a:tcPr>
                </a:tc>
                <a:tc>
                  <a:txBody>
                    <a:bodyPr/>
                    <a:lstStyle/>
                    <a:p>
                      <a:r>
                        <a:rPr sz="1050">
                          <a:solidFill>
                            <a:srgbClr val="102A43"/>
                          </a:solidFill>
                          <a:latin typeface="Helvetica Neue"/>
                          <a:ea typeface="Helvetica Neue"/>
                          <a:cs typeface="Helvetica Neue"/>
                        </a:rPr>
                        <a:t>120 populated cells below z = 500 m; number concentration = 1.0 × 10⁷ m⁻³</a:t>
                      </a:r>
                    </a:p>
                  </a:txBody>
                  <a:tcPr marL="114300" marR="114300" marT="57150" marB="57150"/>
                </a:tc>
              </a:tr>
              <a:tr h="542925">
                <a:tc>
                  <a:txBody>
                    <a:bodyPr/>
                    <a:lstStyle/>
                    <a:p>
                      <a:r>
                        <a:rPr sz="1050" b="1">
                          <a:solidFill>
                            <a:srgbClr val="082B4C"/>
                          </a:solidFill>
                          <a:latin typeface="Helvetica Neue"/>
                          <a:ea typeface="Helvetica Neue"/>
                          <a:cs typeface="Helvetica Neue"/>
                        </a:rPr>
                        <a:t>Initial radius sampling</a:t>
                      </a:r>
                    </a:p>
                  </a:txBody>
                  <a:tcPr marL="114300" marR="114300" marT="57150" marB="57150">
                    <a:solidFill>
                      <a:srgbClr val="EAF3F5"/>
                    </a:solidFill>
                  </a:tcPr>
                </a:tc>
                <a:tc>
                  <a:txBody>
                    <a:bodyPr/>
                    <a:lstStyle/>
                    <a:p>
                      <a:r>
                        <a:rPr sz="1050">
                          <a:solidFill>
                            <a:srgbClr val="102A43"/>
                          </a:solidFill>
                          <a:latin typeface="Helvetica Neue"/>
                          <a:ea typeface="Helvetica Neue"/>
                          <a:cs typeface="Helvetica Neue"/>
                        </a:rPr>
                        <a:t>log-uniform proposal, nominal 3 nm–3 µm; two-mode target parameters in frozen YAML</a:t>
                      </a:r>
                    </a:p>
                  </a:txBody>
                  <a:tcPr marL="114300" marR="114300" marT="57150" marB="57150"/>
                </a:tc>
              </a:tr>
              <a:tr h="542925">
                <a:tc>
                  <a:txBody>
                    <a:bodyPr/>
                    <a:lstStyle/>
                    <a:p>
                      <a:r>
                        <a:rPr sz="1050" b="1">
                          <a:solidFill>
                            <a:srgbClr val="082B4C"/>
                          </a:solidFill>
                          <a:latin typeface="Helvetica Neue"/>
                          <a:ea typeface="Helvetica Neue"/>
                          <a:cs typeface="Helvetica Neue"/>
                        </a:rPr>
                        <a:t>Thermodynamic forcing</a:t>
                      </a:r>
                    </a:p>
                  </a:txBody>
                  <a:tcPr marL="114300" marR="114300" marT="57150" marB="57150">
                    <a:solidFill>
                      <a:srgbClr val="EAF3F5"/>
                    </a:solidFill>
                  </a:tcPr>
                </a:tc>
                <a:tc>
                  <a:txBody>
                    <a:bodyPr/>
                    <a:lstStyle/>
                    <a:p>
                      <a:r>
                        <a:rPr sz="1050">
                          <a:solidFill>
                            <a:srgbClr val="102A43"/>
                          </a:solidFill>
                          <a:latin typeface="Helvetica Neue"/>
                          <a:ea typeface="Helvetica Neue"/>
                          <a:cs typeface="Helvetica Neue"/>
                        </a:rPr>
                        <a:t>prescribed profile; saturation ratio 0.99 below z = 750 m and 1.0025 above; do_alter_thermo = false</a:t>
                      </a:r>
                    </a:p>
                  </a:txBody>
                  <a:tcPr marL="114300" marR="114300" marT="57150" marB="57150"/>
                </a:tc>
              </a:tr>
              <a:tr h="542925">
                <a:tc>
                  <a:txBody>
                    <a:bodyPr/>
                    <a:lstStyle/>
                    <a:p>
                      <a:r>
                        <a:rPr sz="1050" b="1">
                          <a:solidFill>
                            <a:srgbClr val="082B4C"/>
                          </a:solidFill>
                          <a:latin typeface="Helvetica Neue"/>
                          <a:ea typeface="Helvetica Neue"/>
                          <a:cs typeface="Helvetica Neue"/>
                        </a:rPr>
                        <a:t>Microphysics and motion</a:t>
                      </a:r>
                    </a:p>
                  </a:txBody>
                  <a:tcPr marL="114300" marR="114300" marT="57150" marB="57150">
                    <a:solidFill>
                      <a:srgbClr val="EAF3F5"/>
                    </a:solidFill>
                  </a:tcPr>
                </a:tc>
                <a:tc>
                  <a:txBody>
                    <a:bodyPr/>
                    <a:lstStyle/>
                    <a:p>
                      <a:r>
                        <a:rPr sz="1050">
                          <a:solidFill>
                            <a:srgbClr val="102A43"/>
                          </a:solidFill>
                          <a:latin typeface="Helvetica Neue"/>
                          <a:ea typeface="Helvetica Neue"/>
                          <a:cs typeface="Helvetica Neue"/>
                        </a:rPr>
                        <a:t>condensation/evaporation + Long collision–coalescence; Rogers–Gunn–Kinzer terminal velocity; Cartesian motion</a:t>
                      </a:r>
                    </a:p>
                  </a:txBody>
                  <a:tcPr marL="114300" marR="114300" marT="57150" marB="57150"/>
                </a:tc>
              </a:tr>
              <a:tr h="542925">
                <a:tc>
                  <a:txBody>
                    <a:bodyPr/>
                    <a:lstStyle/>
                    <a:p>
                      <a:r>
                        <a:rPr sz="1050" b="1">
                          <a:solidFill>
                            <a:srgbClr val="082B4C"/>
                          </a:solidFill>
                          <a:latin typeface="Helvetica Neue"/>
                          <a:ea typeface="Helvetica Neue"/>
                          <a:cs typeface="Helvetica Neue"/>
                        </a:rPr>
                        <a:t>Time integration</a:t>
                      </a:r>
                    </a:p>
                  </a:txBody>
                  <a:tcPr marL="114300" marR="114300" marT="57150" marB="57150">
                    <a:solidFill>
                      <a:srgbClr val="EAF3F5"/>
                    </a:solidFill>
                  </a:tcPr>
                </a:tc>
                <a:tc>
                  <a:txBody>
                    <a:bodyPr/>
                    <a:lstStyle/>
                    <a:p>
                      <a:r>
                        <a:rPr sz="1050">
                          <a:solidFill>
                            <a:srgbClr val="102A43"/>
                          </a:solidFill>
                          <a:latin typeface="Helvetica Neue"/>
                          <a:ea typeface="Helvetica Neue"/>
                          <a:cs typeface="Helvetica Neue"/>
                        </a:rPr>
                        <a:t>condensation 1 s; collisions 1 s; motion 2 s; output every 120 s; T_end = 7,200 s (120 min)</a:t>
                      </a:r>
                    </a:p>
                  </a:txBody>
                  <a:tcPr marL="114300" marR="114300" marT="57150" marB="57150"/>
                </a:tc>
              </a:tr>
              <a:tr h="542925">
                <a:tc>
                  <a:txBody>
                    <a:bodyPr/>
                    <a:lstStyle/>
                    <a:p>
                      <a:r>
                        <a:rPr sz="1050" b="1">
                          <a:solidFill>
                            <a:srgbClr val="082B4C"/>
                          </a:solidFill>
                          <a:latin typeface="Helvetica Neue"/>
                          <a:ea typeface="Helvetica Neue"/>
                          <a:cs typeface="Helvetica Neue"/>
                        </a:rPr>
                        <a:t>Sampling and ensemble</a:t>
                      </a:r>
                    </a:p>
                  </a:txBody>
                  <a:tcPr marL="114300" marR="114300" marT="57150" marB="57150">
                    <a:solidFill>
                      <a:srgbClr val="EAF3F5"/>
                    </a:solidFill>
                  </a:tcPr>
                </a:tc>
                <a:tc>
                  <a:txBody>
                    <a:bodyPr/>
                    <a:lstStyle/>
                    <a:p>
                      <a:r>
                        <a:rPr sz="1050">
                          <a:solidFill>
                            <a:srgbClr val="102A43"/>
                          </a:solidFill>
                          <a:latin typeface="Helvetica Neue"/>
                          <a:ea typeface="Helvetica Neue"/>
                          <a:cs typeface="Helvetica Neue"/>
                        </a:rPr>
                        <a:t>normal sampling; Ncell = 2, 4, …, 4,096 plus an 8,192-SD internal comparator; 20 independent members / row</a:t>
                      </a:r>
                    </a:p>
                  </a:txBody>
                  <a:tcPr marL="114300" marR="114300" marT="57150" marB="57150"/>
                </a:tc>
              </a:tr>
            </a:tbl>
          </a:graphicData>
        </a:graphic>
      </p:graphicFrame>
      <p:sp>
        <p:nvSpPr>
          <p:cNvPr id="5" name="">
            <a:extLst xmlns:a="http://schemas.openxmlformats.org/drawingml/2006/main">
              <a:ext uri="{FF2B5EF4-FFF2-40B4-BE49-F238E27FC236}">
                <a16:creationId xmlns:a16="http://schemas.microsoft.com/office/drawing/2014/main" id="{7FBB9E32-B000-4EDB-813B-2AD55929801E}"/>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BB90E0A-5FB2-41EA-9288-8A3140005DC9}"/>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7" name="">
            <a:extLst xmlns:a="http://schemas.openxmlformats.org/drawingml/2006/main">
              <a:ext uri="{FF2B5EF4-FFF2-40B4-BE49-F238E27FC236}">
                <a16:creationId xmlns:a16="http://schemas.microsoft.com/office/drawing/2014/main" id="{F0B3F722-B670-4928-9532-48B369302D2F}"/>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04</a:t>
            </a:r>
          </a:p>
        </p:txBody>
      </p:sp>
    </p:spTree>
    <p:extLst>
      <p:ext uri="{BB962C8B-B14F-4D97-AF65-F5344CB8AC3E}">
        <p14:creationId xmlns:p14="http://schemas.microsoft.com/office/powerpoint/2010/main" val="12252238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C704698-C38C-431A-A67C-96EBD405C46C}"/>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COMPUTATION &amp; AUDIT</a:t>
            </a:r>
          </a:p>
        </p:txBody>
      </p:sp>
      <p:sp>
        <p:nvSpPr>
          <p:cNvPr id="2" name="">
            <a:extLst xmlns:a="http://schemas.openxmlformats.org/drawingml/2006/main">
              <a:ext uri="{FF2B5EF4-FFF2-40B4-BE49-F238E27FC236}">
                <a16:creationId xmlns:a16="http://schemas.microsoft.com/office/drawing/2014/main" id="{D0373301-E4D9-48CA-B027-EEB45C37597E}"/>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Execution design and integrity boundary</a:t>
            </a:r>
          </a:p>
        </p:txBody>
      </p:sp>
      <p:sp>
        <p:nvSpPr>
          <p:cNvPr id="3" name="">
            <a:extLst xmlns:a="http://schemas.openxmlformats.org/drawingml/2006/main">
              <a:ext uri="{FF2B5EF4-FFF2-40B4-BE49-F238E27FC236}">
                <a16:creationId xmlns:a16="http://schemas.microsoft.com/office/drawing/2014/main" id="{EE9A51D6-24F4-40C7-A12B-D84CACDC89C9}"/>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938C45-DC0C-4B2C-96D3-DD5464806F91}"/>
              </a:ext>
            </a:extLst>
          </p:cNvPr>
          <p:cNvSpPr>
            <a:spLocks xmlns:a="http://schemas.openxmlformats.org/drawingml/2006/main" noGrp="1"/>
          </p:cNvSpPr>
          <p:nvPr/>
        </p:nvSpPr>
        <p:spPr>
          <a:xfrm xmlns:a="http://schemas.openxmlformats.org/drawingml/2006/main">
            <a:off x="704850" y="1485900"/>
            <a:ext cx="10401300" cy="647700"/>
          </a:xfrm>
          <a:prstGeom xmlns:a="http://schemas.openxmlformats.org/drawingml/2006/main" prst="roundRect">
            <a:avLst>
              <a:gd name="adj" fmla="val 11765"/>
            </a:avLst>
          </a:prstGeom>
          <a:solidFill xmlns:a="http://schemas.openxmlformats.org/drawingml/2006/main">
            <a:srgbClr val="F5F8FA"/>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682C8600-6D72-4C1D-AD16-3E41794321C8}"/>
              </a:ext>
            </a:extLst>
          </p:cNvPr>
          <p:cNvSpPr>
            <a:spLocks xmlns:a="http://schemas.openxmlformats.org/drawingml/2006/main" noGrp="1"/>
          </p:cNvSpPr>
          <p:nvPr/>
        </p:nvSpPr>
        <p:spPr>
          <a:xfrm xmlns:a="http://schemas.openxmlformats.org/drawingml/2006/main">
            <a:off x="895350" y="164782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Resolution ladder</a:t>
            </a:r>
          </a:p>
        </p:txBody>
      </p:sp>
      <p:sp>
        <p:nvSpPr>
          <p:cNvPr id="6" name="">
            <a:extLst xmlns:a="http://schemas.openxmlformats.org/drawingml/2006/main">
              <a:ext uri="{FF2B5EF4-FFF2-40B4-BE49-F238E27FC236}">
                <a16:creationId xmlns:a16="http://schemas.microsoft.com/office/drawing/2014/main" id="{2F70FDE7-B2DC-4B01-8BF5-64B9CFEE0413}"/>
              </a:ext>
            </a:extLst>
          </p:cNvPr>
          <p:cNvSpPr>
            <a:spLocks xmlns:a="http://schemas.openxmlformats.org/drawingml/2006/main" noGrp="1"/>
          </p:cNvSpPr>
          <p:nvPr/>
        </p:nvSpPr>
        <p:spPr>
          <a:xfrm xmlns:a="http://schemas.openxmlformats.org/drawingml/2006/main">
            <a:off x="3162300" y="1609725"/>
            <a:ext cx="7677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102A43"/>
                </a:solidFill>
                <a:latin typeface="Helvetica Neue"/>
                <a:ea typeface="Helvetica Neue"/>
                <a:cs typeface="Helvetica Neue"/>
              </a:defRPr>
            </a:pPr>
            <a:r>
              <a:rPr sz="1125" b="0" i="0">
                <a:solidFill>
                  <a:srgbClr val="102A43"/>
                </a:solidFill>
                <a:latin typeface="Helvetica Neue"/>
                <a:ea typeface="Helvetica Neue"/>
                <a:cs typeface="Helvetica Neue"/>
              </a:rPr>
              <a:t>2, 4, 8, …, 4,096 SDs per populated grid box; plus 8,192 SDs per grid box as internal high-resolution comparator.</a:t>
            </a:r>
          </a:p>
        </p:txBody>
      </p:sp>
      <p:sp>
        <p:nvSpPr>
          <p:cNvPr id="7" name="">
            <a:extLst xmlns:a="http://schemas.openxmlformats.org/drawingml/2006/main">
              <a:ext uri="{FF2B5EF4-FFF2-40B4-BE49-F238E27FC236}">
                <a16:creationId xmlns:a16="http://schemas.microsoft.com/office/drawing/2014/main" id="{631F3CF6-B3A6-4CC7-A81F-A01B8051CC1E}"/>
              </a:ext>
            </a:extLst>
          </p:cNvPr>
          <p:cNvSpPr>
            <a:spLocks xmlns:a="http://schemas.openxmlformats.org/drawingml/2006/main" noGrp="1"/>
          </p:cNvSpPr>
          <p:nvPr/>
        </p:nvSpPr>
        <p:spPr>
          <a:xfrm xmlns:a="http://schemas.openxmlformats.org/drawingml/2006/main">
            <a:off x="704850" y="2200275"/>
            <a:ext cx="10401300" cy="647700"/>
          </a:xfrm>
          <a:prstGeom xmlns:a="http://schemas.openxmlformats.org/drawingml/2006/main" prst="roundRect">
            <a:avLst>
              <a:gd name="adj" fmla="val 11765"/>
            </a:avLst>
          </a:prstGeom>
          <a:solidFill xmlns:a="http://schemas.openxmlformats.org/drawingml/2006/main">
            <a:srgbClr val="F5F8FA"/>
          </a:solidFill>
          <a:ln xmlns:a="http://schemas.openxmlformats.org/drawingml/2006/main" w="9525">
            <a:solidFill>
              <a:srgbClr val="CAD7E2"/>
            </a:solidFill>
          </a:ln>
        </p:spPr>
      </p:sp>
      <p:sp>
        <p:nvSpPr>
          <p:cNvPr id="8" name="">
            <a:extLst xmlns:a="http://schemas.openxmlformats.org/drawingml/2006/main">
              <a:ext uri="{FF2B5EF4-FFF2-40B4-BE49-F238E27FC236}">
                <a16:creationId xmlns:a16="http://schemas.microsoft.com/office/drawing/2014/main" id="{F7A1ADF7-5E31-47DF-A3E5-C9317F2F8978}"/>
              </a:ext>
            </a:extLst>
          </p:cNvPr>
          <p:cNvSpPr>
            <a:spLocks xmlns:a="http://schemas.openxmlformats.org/drawingml/2006/main" noGrp="1"/>
          </p:cNvSpPr>
          <p:nvPr/>
        </p:nvSpPr>
        <p:spPr>
          <a:xfrm xmlns:a="http://schemas.openxmlformats.org/drawingml/2006/main">
            <a:off x="895350" y="23622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Domain count</a:t>
            </a:r>
          </a:p>
        </p:txBody>
      </p:sp>
      <p:sp>
        <p:nvSpPr>
          <p:cNvPr id="9" name="">
            <a:extLst xmlns:a="http://schemas.openxmlformats.org/drawingml/2006/main">
              <a:ext uri="{FF2B5EF4-FFF2-40B4-BE49-F238E27FC236}">
                <a16:creationId xmlns:a16="http://schemas.microsoft.com/office/drawing/2014/main" id="{BFCF9D93-C72B-4F9E-814C-A37D0A05BA16}"/>
              </a:ext>
            </a:extLst>
          </p:cNvPr>
          <p:cNvSpPr>
            <a:spLocks xmlns:a="http://schemas.openxmlformats.org/drawingml/2006/main" noGrp="1"/>
          </p:cNvSpPr>
          <p:nvPr/>
        </p:nvSpPr>
        <p:spPr>
          <a:xfrm xmlns:a="http://schemas.openxmlformats.org/drawingml/2006/main">
            <a:off x="3162300" y="2324100"/>
            <a:ext cx="7677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102A43"/>
                </a:solidFill>
                <a:latin typeface="Helvetica Neue"/>
                <a:ea typeface="Helvetica Neue"/>
                <a:cs typeface="Helvetica Neue"/>
              </a:defRPr>
            </a:pPr>
            <a:r>
              <a:rPr sz="1125" b="0" i="0">
                <a:solidFill>
                  <a:srgbClr val="102A43"/>
                </a:solidFill>
                <a:latin typeface="Helvetica Neue"/>
                <a:ea typeface="Helvetica Neue"/>
                <a:cs typeface="Helvetica Neue"/>
              </a:rPr>
              <a:t>120 populated grid boxes, so initial domain count = 120 × Ncell.</a:t>
            </a:r>
          </a:p>
        </p:txBody>
      </p:sp>
      <p:sp>
        <p:nvSpPr>
          <p:cNvPr id="10" name="">
            <a:extLst xmlns:a="http://schemas.openxmlformats.org/drawingml/2006/main">
              <a:ext uri="{FF2B5EF4-FFF2-40B4-BE49-F238E27FC236}">
                <a16:creationId xmlns:a16="http://schemas.microsoft.com/office/drawing/2014/main" id="{7D950686-429B-4BEB-B6A8-5DE2E602604C}"/>
              </a:ext>
            </a:extLst>
          </p:cNvPr>
          <p:cNvSpPr>
            <a:spLocks xmlns:a="http://schemas.openxmlformats.org/drawingml/2006/main" noGrp="1"/>
          </p:cNvSpPr>
          <p:nvPr/>
        </p:nvSpPr>
        <p:spPr>
          <a:xfrm xmlns:a="http://schemas.openxmlformats.org/drawingml/2006/main">
            <a:off x="704850" y="2914650"/>
            <a:ext cx="10401300" cy="647700"/>
          </a:xfrm>
          <a:prstGeom xmlns:a="http://schemas.openxmlformats.org/drawingml/2006/main" prst="roundRect">
            <a:avLst>
              <a:gd name="adj" fmla="val 11765"/>
            </a:avLst>
          </a:prstGeom>
          <a:solidFill xmlns:a="http://schemas.openxmlformats.org/drawingml/2006/main">
            <a:srgbClr val="F5F8FA"/>
          </a:solidFill>
          <a:ln xmlns:a="http://schemas.openxmlformats.org/drawingml/2006/main" w="9525">
            <a:solidFill>
              <a:srgbClr val="CAD7E2"/>
            </a:solidFill>
          </a:ln>
        </p:spPr>
      </p:sp>
      <p:sp>
        <p:nvSpPr>
          <p:cNvPr id="11" name="">
            <a:extLst xmlns:a="http://schemas.openxmlformats.org/drawingml/2006/main">
              <a:ext uri="{FF2B5EF4-FFF2-40B4-BE49-F238E27FC236}">
                <a16:creationId xmlns:a16="http://schemas.microsoft.com/office/drawing/2014/main" id="{C34A0BD5-7AE6-4542-B1E1-9EFA0DAABA21}"/>
              </a:ext>
            </a:extLst>
          </p:cNvPr>
          <p:cNvSpPr>
            <a:spLocks xmlns:a="http://schemas.openxmlformats.org/drawingml/2006/main" noGrp="1"/>
          </p:cNvSpPr>
          <p:nvPr/>
        </p:nvSpPr>
        <p:spPr>
          <a:xfrm xmlns:a="http://schemas.openxmlformats.org/drawingml/2006/main">
            <a:off x="895350" y="307657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Stochastic sampling</a:t>
            </a:r>
          </a:p>
        </p:txBody>
      </p:sp>
      <p:sp>
        <p:nvSpPr>
          <p:cNvPr id="12" name="">
            <a:extLst xmlns:a="http://schemas.openxmlformats.org/drawingml/2006/main">
              <a:ext uri="{FF2B5EF4-FFF2-40B4-BE49-F238E27FC236}">
                <a16:creationId xmlns:a16="http://schemas.microsoft.com/office/drawing/2014/main" id="{6BDCF1F7-A449-4E39-A9E0-F31410EE82C5}"/>
              </a:ext>
            </a:extLst>
          </p:cNvPr>
          <p:cNvSpPr>
            <a:spLocks xmlns:a="http://schemas.openxmlformats.org/drawingml/2006/main" noGrp="1"/>
          </p:cNvSpPr>
          <p:nvPr/>
        </p:nvSpPr>
        <p:spPr>
          <a:xfrm xmlns:a="http://schemas.openxmlformats.org/drawingml/2006/main">
            <a:off x="3162300" y="3038475"/>
            <a:ext cx="7677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102A43"/>
                </a:solidFill>
                <a:latin typeface="Helvetica Neue"/>
                <a:ea typeface="Helvetica Neue"/>
                <a:cs typeface="Helvetica Neue"/>
              </a:defRPr>
            </a:pPr>
            <a:r>
              <a:rPr sz="1125" b="0" i="0">
                <a:solidFill>
                  <a:srgbClr val="102A43"/>
                </a:solidFill>
                <a:latin typeface="Helvetica Neue"/>
                <a:ea typeface="Helvetica Neue"/>
                <a:cs typeface="Helvetica Neue"/>
              </a:rPr>
              <a:t>20 independently initialized/collision-realized members at every resolution.</a:t>
            </a:r>
          </a:p>
        </p:txBody>
      </p:sp>
      <p:sp>
        <p:nvSpPr>
          <p:cNvPr id="13" name="">
            <a:extLst xmlns:a="http://schemas.openxmlformats.org/drawingml/2006/main">
              <a:ext uri="{FF2B5EF4-FFF2-40B4-BE49-F238E27FC236}">
                <a16:creationId xmlns:a16="http://schemas.microsoft.com/office/drawing/2014/main" id="{19FBA32A-F21D-409E-8EF0-B3404B2736F3}"/>
              </a:ext>
            </a:extLst>
          </p:cNvPr>
          <p:cNvSpPr>
            <a:spLocks xmlns:a="http://schemas.openxmlformats.org/drawingml/2006/main" noGrp="1"/>
          </p:cNvSpPr>
          <p:nvPr/>
        </p:nvSpPr>
        <p:spPr>
          <a:xfrm xmlns:a="http://schemas.openxmlformats.org/drawingml/2006/main">
            <a:off x="704850" y="3629025"/>
            <a:ext cx="10401300" cy="647700"/>
          </a:xfrm>
          <a:prstGeom xmlns:a="http://schemas.openxmlformats.org/drawingml/2006/main" prst="roundRect">
            <a:avLst>
              <a:gd name="adj" fmla="val 11765"/>
            </a:avLst>
          </a:prstGeom>
          <a:solidFill xmlns:a="http://schemas.openxmlformats.org/drawingml/2006/main">
            <a:srgbClr val="F5F8FA"/>
          </a:solidFill>
          <a:ln xmlns:a="http://schemas.openxmlformats.org/drawingml/2006/main" w="9525">
            <a:solidFill>
              <a:srgbClr val="CAD7E2"/>
            </a:solidFill>
          </a:ln>
        </p:spPr>
      </p:sp>
      <p:sp>
        <p:nvSpPr>
          <p:cNvPr id="14" name="">
            <a:extLst xmlns:a="http://schemas.openxmlformats.org/drawingml/2006/main">
              <a:ext uri="{FF2B5EF4-FFF2-40B4-BE49-F238E27FC236}">
                <a16:creationId xmlns:a16="http://schemas.microsoft.com/office/drawing/2014/main" id="{EEF73C6B-A2A6-41FC-BCD7-2B75E8FFDC6C}"/>
              </a:ext>
            </a:extLst>
          </p:cNvPr>
          <p:cNvSpPr>
            <a:spLocks xmlns:a="http://schemas.openxmlformats.org/drawingml/2006/main" noGrp="1"/>
          </p:cNvSpPr>
          <p:nvPr/>
        </p:nvSpPr>
        <p:spPr>
          <a:xfrm xmlns:a="http://schemas.openxmlformats.org/drawingml/2006/main">
            <a:off x="895350" y="37909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Parallel layout</a:t>
            </a:r>
          </a:p>
        </p:txBody>
      </p:sp>
      <p:sp>
        <p:nvSpPr>
          <p:cNvPr id="15" name="">
            <a:extLst xmlns:a="http://schemas.openxmlformats.org/drawingml/2006/main">
              <a:ext uri="{FF2B5EF4-FFF2-40B4-BE49-F238E27FC236}">
                <a16:creationId xmlns:a16="http://schemas.microsoft.com/office/drawing/2014/main" id="{C8C21249-5548-447A-A6A1-70526F37F99F}"/>
              </a:ext>
            </a:extLst>
          </p:cNvPr>
          <p:cNvSpPr>
            <a:spLocks xmlns:a="http://schemas.openxmlformats.org/drawingml/2006/main" noGrp="1"/>
          </p:cNvSpPr>
          <p:nvPr/>
        </p:nvSpPr>
        <p:spPr>
          <a:xfrm xmlns:a="http://schemas.openxmlformats.org/drawingml/2006/main">
            <a:off x="3162300" y="3752850"/>
            <a:ext cx="7677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102A43"/>
                </a:solidFill>
                <a:latin typeface="Helvetica Neue"/>
                <a:ea typeface="Helvetica Neue"/>
                <a:cs typeface="Helvetica Neue"/>
              </a:defRPr>
            </a:pPr>
            <a:r>
              <a:rPr sz="1125" b="0" i="0">
                <a:solidFill>
                  <a:srgbClr val="102A43"/>
                </a:solidFill>
                <a:latin typeface="Helvetica Neue"/>
                <a:ea typeface="Helvetica Neue"/>
                <a:cs typeface="Helvetica Neue"/>
              </a:rPr>
              <a:t>One MPI rank; Kokkos Threads backend (16 threads in production); independent serial CLEO members run concurrently.</a:t>
            </a:r>
          </a:p>
        </p:txBody>
      </p:sp>
      <p:sp>
        <p:nvSpPr>
          <p:cNvPr id="16" name="">
            <a:extLst xmlns:a="http://schemas.openxmlformats.org/drawingml/2006/main">
              <a:ext uri="{FF2B5EF4-FFF2-40B4-BE49-F238E27FC236}">
                <a16:creationId xmlns:a16="http://schemas.microsoft.com/office/drawing/2014/main" id="{3C745B95-C551-4155-9B68-6304CF9F228C}"/>
              </a:ext>
            </a:extLst>
          </p:cNvPr>
          <p:cNvSpPr>
            <a:spLocks xmlns:a="http://schemas.openxmlformats.org/drawingml/2006/main" noGrp="1"/>
          </p:cNvSpPr>
          <p:nvPr/>
        </p:nvSpPr>
        <p:spPr>
          <a:xfrm xmlns:a="http://schemas.openxmlformats.org/drawingml/2006/main">
            <a:off x="704850" y="4343400"/>
            <a:ext cx="10401300" cy="647700"/>
          </a:xfrm>
          <a:prstGeom xmlns:a="http://schemas.openxmlformats.org/drawingml/2006/main" prst="roundRect">
            <a:avLst>
              <a:gd name="adj" fmla="val 11765"/>
            </a:avLst>
          </a:prstGeom>
          <a:solidFill xmlns:a="http://schemas.openxmlformats.org/drawingml/2006/main">
            <a:srgbClr val="F5F8FA"/>
          </a:solidFill>
          <a:ln xmlns:a="http://schemas.openxmlformats.org/drawingml/2006/main" w="9525">
            <a:solidFill>
              <a:srgbClr val="CAD7E2"/>
            </a:solidFill>
          </a:ln>
        </p:spPr>
      </p:sp>
      <p:sp>
        <p:nvSpPr>
          <p:cNvPr id="17" name="">
            <a:extLst xmlns:a="http://schemas.openxmlformats.org/drawingml/2006/main">
              <a:ext uri="{FF2B5EF4-FFF2-40B4-BE49-F238E27FC236}">
                <a16:creationId xmlns:a16="http://schemas.microsoft.com/office/drawing/2014/main" id="{67822DCF-896B-4186-BBB1-176E765D7AA4}"/>
              </a:ext>
            </a:extLst>
          </p:cNvPr>
          <p:cNvSpPr>
            <a:spLocks xmlns:a="http://schemas.openxmlformats.org/drawingml/2006/main" noGrp="1"/>
          </p:cNvSpPr>
          <p:nvPr/>
        </p:nvSpPr>
        <p:spPr>
          <a:xfrm xmlns:a="http://schemas.openxmlformats.org/drawingml/2006/main">
            <a:off x="895350" y="450532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Saved data</a:t>
            </a:r>
          </a:p>
        </p:txBody>
      </p:sp>
      <p:sp>
        <p:nvSpPr>
          <p:cNvPr id="18" name="">
            <a:extLst xmlns:a="http://schemas.openxmlformats.org/drawingml/2006/main">
              <a:ext uri="{FF2B5EF4-FFF2-40B4-BE49-F238E27FC236}">
                <a16:creationId xmlns:a16="http://schemas.microsoft.com/office/drawing/2014/main" id="{0520FC2B-A233-488F-BA55-E2470AB510ED}"/>
              </a:ext>
            </a:extLst>
          </p:cNvPr>
          <p:cNvSpPr>
            <a:spLocks xmlns:a="http://schemas.openxmlformats.org/drawingml/2006/main" noGrp="1"/>
          </p:cNvSpPr>
          <p:nvPr/>
        </p:nvSpPr>
        <p:spPr>
          <a:xfrm xmlns:a="http://schemas.openxmlformats.org/drawingml/2006/main">
            <a:off x="3162300" y="4467225"/>
            <a:ext cx="7677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102A43"/>
                </a:solidFill>
                <a:latin typeface="Helvetica Neue"/>
                <a:ea typeface="Helvetica Neue"/>
                <a:cs typeface="Helvetica Neue"/>
              </a:defRPr>
            </a:pPr>
            <a:r>
              <a:rPr sz="1125" b="0" i="0">
                <a:solidFill>
                  <a:srgbClr val="102A43"/>
                </a:solidFill>
                <a:latin typeface="Helvetica Neue"/>
                <a:ea typeface="Helvetica Neue"/>
                <a:cs typeface="Helvetica Neue"/>
              </a:rPr>
              <a:t>61 observer outputs on a 120-s grid from 0 to 120 min; raw Zarr plus per-case receipt and integrity marker.</a:t>
            </a:r>
          </a:p>
        </p:txBody>
      </p:sp>
      <p:sp>
        <p:nvSpPr>
          <p:cNvPr id="19" name="">
            <a:extLst xmlns:a="http://schemas.openxmlformats.org/drawingml/2006/main">
              <a:ext uri="{FF2B5EF4-FFF2-40B4-BE49-F238E27FC236}">
                <a16:creationId xmlns:a16="http://schemas.microsoft.com/office/drawing/2014/main" id="{D6B67B3C-40B4-4F8C-9521-B3C0B2E9D761}"/>
              </a:ext>
            </a:extLst>
          </p:cNvPr>
          <p:cNvSpPr>
            <a:spLocks xmlns:a="http://schemas.openxmlformats.org/drawingml/2006/main" noGrp="1"/>
          </p:cNvSpPr>
          <p:nvPr/>
        </p:nvSpPr>
        <p:spPr>
          <a:xfrm xmlns:a="http://schemas.openxmlformats.org/drawingml/2006/main">
            <a:off x="704850" y="5057775"/>
            <a:ext cx="10401300" cy="647700"/>
          </a:xfrm>
          <a:prstGeom xmlns:a="http://schemas.openxmlformats.org/drawingml/2006/main" prst="roundRect">
            <a:avLst>
              <a:gd name="adj" fmla="val 11765"/>
            </a:avLst>
          </a:prstGeom>
          <a:solidFill xmlns:a="http://schemas.openxmlformats.org/drawingml/2006/main">
            <a:srgbClr val="F5F8FA"/>
          </a:solidFill>
          <a:ln xmlns:a="http://schemas.openxmlformats.org/drawingml/2006/main" w="9525">
            <a:solidFill>
              <a:srgbClr val="CAD7E2"/>
            </a:solidFill>
          </a:ln>
        </p:spPr>
      </p:sp>
      <p:sp>
        <p:nvSpPr>
          <p:cNvPr id="20" name="">
            <a:extLst xmlns:a="http://schemas.openxmlformats.org/drawingml/2006/main">
              <a:ext uri="{FF2B5EF4-FFF2-40B4-BE49-F238E27FC236}">
                <a16:creationId xmlns:a16="http://schemas.microsoft.com/office/drawing/2014/main" id="{C8656AEA-9925-4018-B12A-EFF0109FDBBF}"/>
              </a:ext>
            </a:extLst>
          </p:cNvPr>
          <p:cNvSpPr>
            <a:spLocks xmlns:a="http://schemas.openxmlformats.org/drawingml/2006/main" noGrp="1"/>
          </p:cNvSpPr>
          <p:nvPr/>
        </p:nvSpPr>
        <p:spPr>
          <a:xfrm xmlns:a="http://schemas.openxmlformats.org/drawingml/2006/main">
            <a:off x="895350" y="52197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Audit outcome</a:t>
            </a:r>
          </a:p>
        </p:txBody>
      </p:sp>
      <p:sp>
        <p:nvSpPr>
          <p:cNvPr id="21" name="">
            <a:extLst xmlns:a="http://schemas.openxmlformats.org/drawingml/2006/main">
              <a:ext uri="{FF2B5EF4-FFF2-40B4-BE49-F238E27FC236}">
                <a16:creationId xmlns:a16="http://schemas.microsoft.com/office/drawing/2014/main" id="{3BE32270-8C88-4292-B3BC-E531C3F58516}"/>
              </a:ext>
            </a:extLst>
          </p:cNvPr>
          <p:cNvSpPr>
            <a:spLocks xmlns:a="http://schemas.openxmlformats.org/drawingml/2006/main" noGrp="1"/>
          </p:cNvSpPr>
          <p:nvPr/>
        </p:nvSpPr>
        <p:spPr>
          <a:xfrm xmlns:a="http://schemas.openxmlformats.org/drawingml/2006/main">
            <a:off x="3162300" y="5181600"/>
            <a:ext cx="7677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884"/>
          </a:bodyPr>
          <a:lstStyle xmlns:a="http://schemas.openxmlformats.org/drawingml/2006/main"/>
          <a:p xmlns:a="http://schemas.openxmlformats.org/drawingml/2006/main">
            <a:pPr algn="l">
              <a:lnSpc>
                <a:spcPct val="105000"/>
              </a:lnSpc>
              <a:buNone/>
              <a:defRPr sz="1125" b="0" i="0">
                <a:solidFill>
                  <a:srgbClr val="102A43"/>
                </a:solidFill>
                <a:latin typeface="Helvetica Neue"/>
                <a:ea typeface="Helvetica Neue"/>
                <a:cs typeface="Helvetica Neue"/>
              </a:defRPr>
            </a:pPr>
            <a:r>
              <a:rPr sz="1125" b="0" i="0">
                <a:solidFill>
                  <a:srgbClr val="102A43"/>
                </a:solidFill>
                <a:latin typeface="Helvetica Neue"/>
                <a:ea typeface="Helvetica Neue"/>
                <a:cs typeface="Helvetica Neue"/>
              </a:rPr>
              <a:t>240/240 base cases passed trajectory-integrity checks. A pre-integration Ncell = 4 materialization race was repaired and retained as control-plane evidence.</a:t>
            </a:r>
          </a:p>
        </p:txBody>
      </p:sp>
      <p:sp>
        <p:nvSpPr>
          <p:cNvPr id="22" name="">
            <a:extLst xmlns:a="http://schemas.openxmlformats.org/drawingml/2006/main">
              <a:ext uri="{FF2B5EF4-FFF2-40B4-BE49-F238E27FC236}">
                <a16:creationId xmlns:a16="http://schemas.microsoft.com/office/drawing/2014/main" id="{D5E92D5F-58C5-4078-BACF-224B2CABE3DC}"/>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F0B193F-EB86-487C-8857-8F4D7E49BDFE}"/>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24" name="">
            <a:extLst xmlns:a="http://schemas.openxmlformats.org/drawingml/2006/main">
              <a:ext uri="{FF2B5EF4-FFF2-40B4-BE49-F238E27FC236}">
                <a16:creationId xmlns:a16="http://schemas.microsoft.com/office/drawing/2014/main" id="{C072CA00-7FB7-4379-A2C7-FAB970CF8757}"/>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05</a:t>
            </a:r>
          </a:p>
        </p:txBody>
      </p:sp>
    </p:spTree>
    <p:extLst>
      <p:ext uri="{BB962C8B-B14F-4D97-AF65-F5344CB8AC3E}">
        <p14:creationId xmlns:p14="http://schemas.microsoft.com/office/powerpoint/2010/main" val="3757223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85A6A63-80BD-4790-A69C-23F17083A508}"/>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METHOD</a:t>
            </a:r>
          </a:p>
        </p:txBody>
      </p:sp>
      <p:sp>
        <p:nvSpPr>
          <p:cNvPr id="2" name="">
            <a:extLst xmlns:a="http://schemas.openxmlformats.org/drawingml/2006/main">
              <a:ext uri="{FF2B5EF4-FFF2-40B4-BE49-F238E27FC236}">
                <a16:creationId xmlns:a16="http://schemas.microsoft.com/office/drawing/2014/main" id="{D19DEC5D-1FAE-4493-B2B6-E6AF05C0243B}"/>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Diagnostics: distributional agreement plus physical moments</a:t>
            </a:r>
          </a:p>
        </p:txBody>
      </p:sp>
      <p:sp>
        <p:nvSpPr>
          <p:cNvPr id="3" name="">
            <a:extLst xmlns:a="http://schemas.openxmlformats.org/drawingml/2006/main">
              <a:ext uri="{FF2B5EF4-FFF2-40B4-BE49-F238E27FC236}">
                <a16:creationId xmlns:a16="http://schemas.microsoft.com/office/drawing/2014/main" id="{E686E520-96AA-4F18-910C-E742C88417CF}"/>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0DCA33-DF6E-49C6-8FAF-9DDE383BC351}"/>
              </a:ext>
            </a:extLst>
          </p:cNvPr>
          <p:cNvSpPr>
            <a:spLocks xmlns:a="http://schemas.openxmlformats.org/drawingml/2006/main" noGrp="1"/>
          </p:cNvSpPr>
          <p:nvPr/>
        </p:nvSpPr>
        <p:spPr>
          <a:xfrm xmlns:a="http://schemas.openxmlformats.org/drawingml/2006/main">
            <a:off x="609600" y="1457325"/>
            <a:ext cx="5334000" cy="1847850"/>
          </a:xfrm>
          <a:prstGeom xmlns:a="http://schemas.openxmlformats.org/drawingml/2006/main" prst="roundRect">
            <a:avLst>
              <a:gd name="adj" fmla="val 6186"/>
            </a:avLst>
          </a:prstGeom>
          <a:solidFill xmlns:a="http://schemas.openxmlformats.org/drawingml/2006/main">
            <a:srgbClr val="F5F8FA"/>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43138215-B590-4B57-8166-B5377439B36F}"/>
              </a:ext>
            </a:extLst>
          </p:cNvPr>
          <p:cNvSpPr>
            <a:spLocks xmlns:a="http://schemas.openxmlformats.org/drawingml/2006/main" noGrp="1"/>
          </p:cNvSpPr>
          <p:nvPr/>
        </p:nvSpPr>
        <p:spPr>
          <a:xfrm xmlns:a="http://schemas.openxmlformats.org/drawingml/2006/main">
            <a:off x="838200" y="1695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082B4C"/>
                </a:solidFill>
                <a:latin typeface="Helvetica Neue"/>
                <a:ea typeface="Helvetica Neue"/>
                <a:cs typeface="Helvetica Neue"/>
              </a:defRPr>
            </a:pPr>
            <a:r>
              <a:rPr sz="1650" b="1" i="0">
                <a:solidFill>
                  <a:srgbClr val="082B4C"/>
                </a:solidFill>
                <a:latin typeface="Helvetica Neue"/>
                <a:ea typeface="Helvetica Neue"/>
                <a:cs typeface="Helvetica Neue"/>
              </a:rPr>
              <a:t>Multiplicity-weighted moments</a:t>
            </a:r>
          </a:p>
        </p:txBody>
      </p:sp>
      <p:sp>
        <p:nvSpPr>
          <p:cNvPr id="6" name="">
            <a:extLst xmlns:a="http://schemas.openxmlformats.org/drawingml/2006/main">
              <a:ext uri="{FF2B5EF4-FFF2-40B4-BE49-F238E27FC236}">
                <a16:creationId xmlns:a16="http://schemas.microsoft.com/office/drawing/2014/main" id="{8A48007C-7040-4DBE-8E77-B47BDDCB1B78}"/>
              </a:ext>
            </a:extLst>
          </p:cNvPr>
          <p:cNvSpPr>
            <a:spLocks xmlns:a="http://schemas.openxmlformats.org/drawingml/2006/main" noGrp="1"/>
          </p:cNvSpPr>
          <p:nvPr/>
        </p:nvSpPr>
        <p:spPr>
          <a:xfrm xmlns:a="http://schemas.openxmlformats.org/drawingml/2006/main">
            <a:off x="838200" y="21431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i="0">
                <a:solidFill>
                  <a:srgbClr val="0A8794"/>
                </a:solidFill>
                <a:latin typeface="Helvetica Neue"/>
                <a:ea typeface="Helvetica Neue"/>
                <a:cs typeface="Helvetica Neue"/>
              </a:defRPr>
            </a:pPr>
            <a:r>
              <a:rPr sz="2100" b="1" i="0">
                <a:solidFill>
                  <a:srgbClr val="0A8794"/>
                </a:solidFill>
                <a:latin typeface="Helvetica Neue"/>
                <a:ea typeface="Helvetica Neue"/>
                <a:cs typeface="Helvetica Neue"/>
              </a:rPr>
              <a:t>λₖ(t) = (1/V) Σᵢ ξᵢ rᵢ(t)ᵏ</a:t>
            </a:r>
          </a:p>
        </p:txBody>
      </p:sp>
      <p:sp>
        <p:nvSpPr>
          <p:cNvPr id="7" name="">
            <a:extLst xmlns:a="http://schemas.openxmlformats.org/drawingml/2006/main">
              <a:ext uri="{FF2B5EF4-FFF2-40B4-BE49-F238E27FC236}">
                <a16:creationId xmlns:a16="http://schemas.microsoft.com/office/drawing/2014/main" id="{0C00D3B0-EF31-47F9-937A-9D1D8FCBEA3D}"/>
              </a:ext>
            </a:extLst>
          </p:cNvPr>
          <p:cNvSpPr>
            <a:spLocks xmlns:a="http://schemas.openxmlformats.org/drawingml/2006/main" noGrp="1"/>
          </p:cNvSpPr>
          <p:nvPr/>
        </p:nvSpPr>
        <p:spPr>
          <a:xfrm xmlns:a="http://schemas.openxmlformats.org/drawingml/2006/main">
            <a:off x="838200" y="2628900"/>
            <a:ext cx="4686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366"/>
          </a:bodyPr>
          <a:lstStyle xmlns:a="http://schemas.openxmlformats.org/drawingml/2006/main"/>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λ₀: number density   ·   λ₂: surface-area weighting</a:t>
            </a:r>
          </a:p>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λ₃: liquid-volume weighting   ·   λ₆: tail-sensitive / reflectivity-like weighting</a:t>
            </a:r>
          </a:p>
        </p:txBody>
      </p:sp>
      <p:sp>
        <p:nvSpPr>
          <p:cNvPr id="8" name="">
            <a:extLst xmlns:a="http://schemas.openxmlformats.org/drawingml/2006/main">
              <a:ext uri="{FF2B5EF4-FFF2-40B4-BE49-F238E27FC236}">
                <a16:creationId xmlns:a16="http://schemas.microsoft.com/office/drawing/2014/main" id="{41F040B1-FEDE-4858-B5A3-9424520433BF}"/>
              </a:ext>
            </a:extLst>
          </p:cNvPr>
          <p:cNvSpPr>
            <a:spLocks xmlns:a="http://schemas.openxmlformats.org/drawingml/2006/main" noGrp="1"/>
          </p:cNvSpPr>
          <p:nvPr/>
        </p:nvSpPr>
        <p:spPr>
          <a:xfrm xmlns:a="http://schemas.openxmlformats.org/drawingml/2006/main">
            <a:off x="6248400" y="1457325"/>
            <a:ext cx="5334000" cy="1847850"/>
          </a:xfrm>
          <a:prstGeom xmlns:a="http://schemas.openxmlformats.org/drawingml/2006/main" prst="roundRect">
            <a:avLst>
              <a:gd name="adj" fmla="val 6186"/>
            </a:avLst>
          </a:prstGeom>
          <a:solidFill xmlns:a="http://schemas.openxmlformats.org/drawingml/2006/main">
            <a:srgbClr val="F5F8FA"/>
          </a:solidFill>
          <a:ln xmlns:a="http://schemas.openxmlformats.org/drawingml/2006/main" w="9525">
            <a:solidFill>
              <a:srgbClr val="CAD7E2"/>
            </a:solidFill>
          </a:ln>
        </p:spPr>
      </p:sp>
      <p:sp>
        <p:nvSpPr>
          <p:cNvPr id="9" name="">
            <a:extLst xmlns:a="http://schemas.openxmlformats.org/drawingml/2006/main">
              <a:ext uri="{FF2B5EF4-FFF2-40B4-BE49-F238E27FC236}">
                <a16:creationId xmlns:a16="http://schemas.microsoft.com/office/drawing/2014/main" id="{8B6EB2E8-1EAC-4091-B550-D694BCE8E626}"/>
              </a:ext>
            </a:extLst>
          </p:cNvPr>
          <p:cNvSpPr>
            <a:spLocks xmlns:a="http://schemas.openxmlformats.org/drawingml/2006/main" noGrp="1"/>
          </p:cNvSpPr>
          <p:nvPr/>
        </p:nvSpPr>
        <p:spPr>
          <a:xfrm xmlns:a="http://schemas.openxmlformats.org/drawingml/2006/main">
            <a:off x="6477000" y="1695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082B4C"/>
                </a:solidFill>
                <a:latin typeface="Helvetica Neue"/>
                <a:ea typeface="Helvetica Neue"/>
                <a:cs typeface="Helvetica Neue"/>
              </a:defRPr>
            </a:pPr>
            <a:r>
              <a:rPr sz="1650" b="1" i="0">
                <a:solidFill>
                  <a:srgbClr val="082B4C"/>
                </a:solidFill>
                <a:latin typeface="Helvetica Neue"/>
                <a:ea typeface="Helvetica Neue"/>
                <a:cs typeface="Helvetica Neue"/>
              </a:rPr>
              <a:t>Distributional diagnostic</a:t>
            </a:r>
          </a:p>
        </p:txBody>
      </p:sp>
      <p:sp>
        <p:nvSpPr>
          <p:cNvPr id="10" name="">
            <a:extLst xmlns:a="http://schemas.openxmlformats.org/drawingml/2006/main">
              <a:ext uri="{FF2B5EF4-FFF2-40B4-BE49-F238E27FC236}">
                <a16:creationId xmlns:a16="http://schemas.microsoft.com/office/drawing/2014/main" id="{F61E7AED-D68C-46C6-9A42-5F687F374B45}"/>
              </a:ext>
            </a:extLst>
          </p:cNvPr>
          <p:cNvSpPr>
            <a:spLocks xmlns:a="http://schemas.openxmlformats.org/drawingml/2006/main" noGrp="1"/>
          </p:cNvSpPr>
          <p:nvPr/>
        </p:nvSpPr>
        <p:spPr>
          <a:xfrm xmlns:a="http://schemas.openxmlformats.org/drawingml/2006/main">
            <a:off x="6477000" y="21431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i="0">
                <a:solidFill>
                  <a:srgbClr val="0A8794"/>
                </a:solidFill>
                <a:latin typeface="Helvetica Neue"/>
                <a:ea typeface="Helvetica Neue"/>
                <a:cs typeface="Helvetica Neue"/>
              </a:defRPr>
            </a:pPr>
            <a:r>
              <a:rPr sz="2100" b="1" i="0">
                <a:solidFill>
                  <a:srgbClr val="0A8794"/>
                </a:solidFill>
                <a:latin typeface="Helvetica Neue"/>
                <a:ea typeface="Helvetica Neue"/>
                <a:cs typeface="Helvetica Neue"/>
              </a:rPr>
              <a:t>TV = 50 Σᵦ |pᵦ − qᵦ|</a:t>
            </a:r>
          </a:p>
        </p:txBody>
      </p:sp>
      <p:sp>
        <p:nvSpPr>
          <p:cNvPr id="11" name="">
            <a:extLst xmlns:a="http://schemas.openxmlformats.org/drawingml/2006/main">
              <a:ext uri="{FF2B5EF4-FFF2-40B4-BE49-F238E27FC236}">
                <a16:creationId xmlns:a16="http://schemas.microsoft.com/office/drawing/2014/main" id="{8AD95E3D-F0AA-4807-903D-A77B83E5B00D}"/>
              </a:ext>
            </a:extLst>
          </p:cNvPr>
          <p:cNvSpPr>
            <a:spLocks xmlns:a="http://schemas.openxmlformats.org/drawingml/2006/main" noGrp="1"/>
          </p:cNvSpPr>
          <p:nvPr/>
        </p:nvSpPr>
        <p:spPr>
          <a:xfrm xmlns:a="http://schemas.openxmlformats.org/drawingml/2006/main">
            <a:off x="6477000" y="2628900"/>
            <a:ext cx="4648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984"/>
          </a:bodyPr>
          <a:lstStyle xmlns:a="http://schemas.openxmlformats.org/drawingml/2006/main"/>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pᵦ and qᵦ are unit-liquid-mass-normalized</a:t>
            </a:r>
          </a:p>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log-radius DSDs; 500 bins is primary, 250/1000 are sensitivity checks.</a:t>
            </a:r>
          </a:p>
        </p:txBody>
      </p:sp>
      <p:sp>
        <p:nvSpPr>
          <p:cNvPr id="12" name="">
            <a:extLst xmlns:a="http://schemas.openxmlformats.org/drawingml/2006/main">
              <a:ext uri="{FF2B5EF4-FFF2-40B4-BE49-F238E27FC236}">
                <a16:creationId xmlns:a16="http://schemas.microsoft.com/office/drawing/2014/main" id="{8115EC05-6A46-49FC-8718-140431600634}"/>
              </a:ext>
            </a:extLst>
          </p:cNvPr>
          <p:cNvSpPr>
            <a:spLocks xmlns:a="http://schemas.openxmlformats.org/drawingml/2006/main" noGrp="1"/>
          </p:cNvSpPr>
          <p:nvPr/>
        </p:nvSpPr>
        <p:spPr>
          <a:xfrm xmlns:a="http://schemas.openxmlformats.org/drawingml/2006/main">
            <a:off x="609600" y="3686175"/>
            <a:ext cx="10972800" cy="1619250"/>
          </a:xfrm>
          <a:prstGeom xmlns:a="http://schemas.openxmlformats.org/drawingml/2006/main" prst="roundRect">
            <a:avLst>
              <a:gd name="adj" fmla="val 7059"/>
            </a:avLst>
          </a:prstGeom>
          <a:solidFill xmlns:a="http://schemas.openxmlformats.org/drawingml/2006/main">
            <a:srgbClr val="FFF8E4"/>
          </a:solidFill>
          <a:ln xmlns:a="http://schemas.openxmlformats.org/drawingml/2006/main" w="9525">
            <a:solidFill>
              <a:srgbClr val="F4B942"/>
            </a:solidFill>
          </a:ln>
        </p:spPr>
      </p:sp>
      <p:sp>
        <p:nvSpPr>
          <p:cNvPr id="13" name="">
            <a:extLst xmlns:a="http://schemas.openxmlformats.org/drawingml/2006/main">
              <a:ext uri="{FF2B5EF4-FFF2-40B4-BE49-F238E27FC236}">
                <a16:creationId xmlns:a16="http://schemas.microsoft.com/office/drawing/2014/main" id="{49305656-ABBE-4D85-9800-9FE2B48209A4}"/>
              </a:ext>
            </a:extLst>
          </p:cNvPr>
          <p:cNvSpPr>
            <a:spLocks xmlns:a="http://schemas.openxmlformats.org/drawingml/2006/main" noGrp="1"/>
          </p:cNvSpPr>
          <p:nvPr/>
        </p:nvSpPr>
        <p:spPr>
          <a:xfrm xmlns:a="http://schemas.openxmlformats.org/drawingml/2006/main">
            <a:off x="838200" y="3924300"/>
            <a:ext cx="609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82B4C"/>
                </a:solidFill>
                <a:latin typeface="Helvetica Neue"/>
                <a:ea typeface="Helvetica Neue"/>
                <a:cs typeface="Helvetica Neue"/>
              </a:defRPr>
            </a:pPr>
            <a:r>
              <a:rPr sz="1575" b="1" i="0">
                <a:solidFill>
                  <a:srgbClr val="082B4C"/>
                </a:solidFill>
                <a:latin typeface="Helvetica Neue"/>
                <a:ea typeface="Helvetica Neue"/>
                <a:cs typeface="Helvetica Neue"/>
              </a:rPr>
              <a:t>Physical translations used after the Bjorn discussion</a:t>
            </a:r>
          </a:p>
        </p:txBody>
      </p:sp>
      <p:sp>
        <p:nvSpPr>
          <p:cNvPr id="14" name="">
            <a:extLst xmlns:a="http://schemas.openxmlformats.org/drawingml/2006/main">
              <a:ext uri="{FF2B5EF4-FFF2-40B4-BE49-F238E27FC236}">
                <a16:creationId xmlns:a16="http://schemas.microsoft.com/office/drawing/2014/main" id="{E467DE3B-4DB1-4EEA-BEF3-3B08B620FE22}"/>
              </a:ext>
            </a:extLst>
          </p:cNvPr>
          <p:cNvSpPr>
            <a:spLocks xmlns:a="http://schemas.openxmlformats.org/drawingml/2006/main" noGrp="1"/>
          </p:cNvSpPr>
          <p:nvPr/>
        </p:nvSpPr>
        <p:spPr>
          <a:xfrm xmlns:a="http://schemas.openxmlformats.org/drawingml/2006/main">
            <a:off x="838200" y="4333875"/>
            <a:ext cx="5286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A = 4πλ₂   (geometric surface-area density)</a:t>
            </a:r>
          </a:p>
          <a:p xmlns:a="http://schemas.openxmlformats.org/drawingml/2006/main">
            <a:pPr algn="l">
              <a:lnSpc>
                <a:spcPct val="115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L = ρw (4π/3)λ₃   (liquid-equivalent water content)</a:t>
            </a:r>
          </a:p>
          <a:p xmlns:a="http://schemas.openxmlformats.org/drawingml/2006/main">
            <a:pPr algn="l">
              <a:lnSpc>
                <a:spcPct val="115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Z = 64λ₆ with r in mm   (Rayleigh reflectivity-factor proxy)</a:t>
            </a:r>
          </a:p>
        </p:txBody>
      </p:sp>
      <p:sp>
        <p:nvSpPr>
          <p:cNvPr id="15" name="">
            <a:extLst xmlns:a="http://schemas.openxmlformats.org/drawingml/2006/main">
              <a:ext uri="{FF2B5EF4-FFF2-40B4-BE49-F238E27FC236}">
                <a16:creationId xmlns:a16="http://schemas.microsoft.com/office/drawing/2014/main" id="{A525DE81-71CF-42AE-A975-D131E36473A7}"/>
              </a:ext>
            </a:extLst>
          </p:cNvPr>
          <p:cNvSpPr>
            <a:spLocks xmlns:a="http://schemas.openxmlformats.org/drawingml/2006/main" noGrp="1"/>
          </p:cNvSpPr>
          <p:nvPr/>
        </p:nvSpPr>
        <p:spPr>
          <a:xfrm xmlns:a="http://schemas.openxmlformats.org/drawingml/2006/main">
            <a:off x="6743700" y="4333875"/>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922"/>
          </a:bodyPr>
          <a:lstStyle xmlns:a="http://schemas.openxmlformats.org/drawingml/2006/main"/>
          <a:p xmlns:a="http://schemas.openxmlformats.org/drawingml/2006/main">
            <a:pPr algn="l">
              <a:lnSpc>
                <a:spcPct val="115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P = (1/V) Σᵢ ξᵢ mᵢ vₜ(rᵢ)</a:t>
            </a:r>
          </a:p>
          <a:p xmlns:a="http://schemas.openxmlformats.org/drawingml/2006/main">
            <a:pPr algn="l">
              <a:lnSpc>
                <a:spcPct val="115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 in-domain liquid-mass velocity / virtual flux proxy</a:t>
            </a:r>
          </a:p>
          <a:p xmlns:a="http://schemas.openxmlformats.org/drawingml/2006/main">
            <a:r>
              <a:t/>
            </a:r>
          </a:p>
          <a:p xmlns:a="http://schemas.openxmlformats.org/drawingml/2006/main">
            <a:pPr algn="l">
              <a:lnSpc>
                <a:spcPct val="115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Not a surface rainfall flux: the boundaries are null.</a:t>
            </a:r>
          </a:p>
        </p:txBody>
      </p:sp>
      <p:sp>
        <p:nvSpPr>
          <p:cNvPr id="16" name="">
            <a:extLst xmlns:a="http://schemas.openxmlformats.org/drawingml/2006/main">
              <a:ext uri="{FF2B5EF4-FFF2-40B4-BE49-F238E27FC236}">
                <a16:creationId xmlns:a16="http://schemas.microsoft.com/office/drawing/2014/main" id="{699AE112-5C75-4AF9-BB40-3B2C475F6BF5}"/>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5E87A52-6D12-413B-9C22-D722B2C942C1}"/>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18" name="">
            <a:extLst xmlns:a="http://schemas.openxmlformats.org/drawingml/2006/main">
              <a:ext uri="{FF2B5EF4-FFF2-40B4-BE49-F238E27FC236}">
                <a16:creationId xmlns:a16="http://schemas.microsoft.com/office/drawing/2014/main" id="{C987C729-79AD-4E15-B0E8-6214E42445AA}"/>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06</a:t>
            </a:r>
          </a:p>
        </p:txBody>
      </p:sp>
    </p:spTree>
    <p:extLst>
      <p:ext uri="{BB962C8B-B14F-4D97-AF65-F5344CB8AC3E}">
        <p14:creationId xmlns:p14="http://schemas.microsoft.com/office/powerpoint/2010/main" val="3833122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3D0A4AB-1CE1-43CA-8C7E-ED5BE3EC7F71}"/>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SELECTION RULE</a:t>
            </a:r>
          </a:p>
        </p:txBody>
      </p:sp>
      <p:sp>
        <p:nvSpPr>
          <p:cNvPr id="2" name="">
            <a:extLst xmlns:a="http://schemas.openxmlformats.org/drawingml/2006/main">
              <a:ext uri="{FF2B5EF4-FFF2-40B4-BE49-F238E27FC236}">
                <a16:creationId xmlns:a16="http://schemas.microsoft.com/office/drawing/2014/main" id="{E41BCB39-0212-4AB6-B8F9-50EB0C9618A8}"/>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Convergence rule: a tested resolution must pass three comparisons</a:t>
            </a:r>
          </a:p>
        </p:txBody>
      </p:sp>
      <p:sp>
        <p:nvSpPr>
          <p:cNvPr id="3" name="">
            <a:extLst xmlns:a="http://schemas.openxmlformats.org/drawingml/2006/main">
              <a:ext uri="{FF2B5EF4-FFF2-40B4-BE49-F238E27FC236}">
                <a16:creationId xmlns:a16="http://schemas.microsoft.com/office/drawing/2014/main" id="{D65D525B-77AB-4121-BF18-7897473FBDC1}"/>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F0E131-CC6B-496C-821B-455B5F96A4B5}"/>
              </a:ext>
            </a:extLst>
          </p:cNvPr>
          <p:cNvSpPr>
            <a:spLocks xmlns:a="http://schemas.openxmlformats.org/drawingml/2006/main" noGrp="1"/>
          </p:cNvSpPr>
          <p:nvPr/>
        </p:nvSpPr>
        <p:spPr>
          <a:xfrm xmlns:a="http://schemas.openxmlformats.org/drawingml/2006/main">
            <a:off x="866775" y="1924050"/>
            <a:ext cx="2667000" cy="1619250"/>
          </a:xfrm>
          <a:prstGeom xmlns:a="http://schemas.openxmlformats.org/drawingml/2006/main" prst="roundRect">
            <a:avLst>
              <a:gd name="adj" fmla="val 8235"/>
            </a:avLst>
          </a:prstGeom>
          <a:solidFill xmlns:a="http://schemas.openxmlformats.org/drawingml/2006/main">
            <a:srgbClr val="F5F8FA"/>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78FBEE19-96D1-4044-81A5-E795D210D5AB}"/>
              </a:ext>
            </a:extLst>
          </p:cNvPr>
          <p:cNvSpPr>
            <a:spLocks xmlns:a="http://schemas.openxmlformats.org/drawingml/2006/main" noGrp="1"/>
          </p:cNvSpPr>
          <p:nvPr/>
        </p:nvSpPr>
        <p:spPr>
          <a:xfrm xmlns:a="http://schemas.openxmlformats.org/drawingml/2006/main">
            <a:off x="1076325" y="210502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618"/>
          </a:bodyPr>
          <a:lstStyle xmlns:a="http://schemas.openxmlformats.org/drawingml/2006/main"/>
          <a:p xmlns:a="http://schemas.openxmlformats.org/drawingml/2006/main">
            <a:pPr algn="l">
              <a:lnSpc>
                <a:spcPct val="105000"/>
              </a:lnSpc>
              <a:buNone/>
              <a:defRPr sz="1725" b="1" i="0">
                <a:solidFill>
                  <a:srgbClr val="0A8794"/>
                </a:solidFill>
                <a:latin typeface="Helvetica Neue"/>
                <a:ea typeface="Helvetica Neue"/>
                <a:cs typeface="Helvetica Neue"/>
              </a:defRPr>
            </a:pPr>
            <a:r>
              <a:rPr sz="1725" b="1" i="0">
                <a:solidFill>
                  <a:srgbClr val="0A8794"/>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19341291-1095-4953-8537-9105694ED6D4}"/>
              </a:ext>
            </a:extLst>
          </p:cNvPr>
          <p:cNvSpPr>
            <a:spLocks xmlns:a="http://schemas.openxmlformats.org/drawingml/2006/main" noGrp="1"/>
          </p:cNvSpPr>
          <p:nvPr/>
        </p:nvSpPr>
        <p:spPr>
          <a:xfrm xmlns:a="http://schemas.openxmlformats.org/drawingml/2006/main">
            <a:off x="1076325" y="2505075"/>
            <a:ext cx="226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082B4C"/>
                </a:solidFill>
                <a:latin typeface="Helvetica Neue"/>
                <a:ea typeface="Helvetica Neue"/>
                <a:cs typeface="Helvetica Neue"/>
              </a:defRPr>
            </a:pPr>
            <a:r>
              <a:rPr sz="1500" b="1" i="0">
                <a:solidFill>
                  <a:srgbClr val="082B4C"/>
                </a:solidFill>
                <a:latin typeface="Helvetica Neue"/>
                <a:ea typeface="Helvetica Neue"/>
                <a:cs typeface="Helvetica Neue"/>
              </a:rPr>
              <a:t>Reference agreement</a:t>
            </a:r>
          </a:p>
        </p:txBody>
      </p:sp>
      <p:sp>
        <p:nvSpPr>
          <p:cNvPr id="7" name="">
            <a:extLst xmlns:a="http://schemas.openxmlformats.org/drawingml/2006/main">
              <a:ext uri="{FF2B5EF4-FFF2-40B4-BE49-F238E27FC236}">
                <a16:creationId xmlns:a16="http://schemas.microsoft.com/office/drawing/2014/main" id="{0D74957D-1FC7-471F-B95C-85F7964763D0}"/>
              </a:ext>
            </a:extLst>
          </p:cNvPr>
          <p:cNvSpPr>
            <a:spLocks xmlns:a="http://schemas.openxmlformats.org/drawingml/2006/main" noGrp="1"/>
          </p:cNvSpPr>
          <p:nvPr/>
        </p:nvSpPr>
        <p:spPr>
          <a:xfrm xmlns:a="http://schemas.openxmlformats.org/drawingml/2006/main">
            <a:off x="1076325" y="2876550"/>
            <a:ext cx="2266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591"/>
          </a:bodyPr>
          <a:lstStyle xmlns:a="http://schemas.openxmlformats.org/drawingml/2006/main"/>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N versus 8,192 SDs per cell</a:t>
            </a:r>
          </a:p>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internal high-resolution comparator</a:t>
            </a:r>
          </a:p>
        </p:txBody>
      </p:sp>
      <p:sp>
        <p:nvSpPr>
          <p:cNvPr id="8" name="">
            <a:extLst xmlns:a="http://schemas.openxmlformats.org/drawingml/2006/main">
              <a:ext uri="{FF2B5EF4-FFF2-40B4-BE49-F238E27FC236}">
                <a16:creationId xmlns:a16="http://schemas.microsoft.com/office/drawing/2014/main" id="{245A0310-4BAB-4F8F-B439-B882B29F4C5F}"/>
              </a:ext>
            </a:extLst>
          </p:cNvPr>
          <p:cNvSpPr>
            <a:spLocks xmlns:a="http://schemas.openxmlformats.org/drawingml/2006/main" noGrp="1"/>
          </p:cNvSpPr>
          <p:nvPr/>
        </p:nvSpPr>
        <p:spPr>
          <a:xfrm xmlns:a="http://schemas.openxmlformats.org/drawingml/2006/main">
            <a:off x="3667125" y="2486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806"/>
          </a:bodyPr>
          <a:lstStyle xmlns:a="http://schemas.openxmlformats.org/drawingml/2006/main"/>
          <a:p xmlns:a="http://schemas.openxmlformats.org/drawingml/2006/main">
            <a:pPr algn="ctr">
              <a:lnSpc>
                <a:spcPct val="105000"/>
              </a:lnSpc>
              <a:buNone/>
              <a:defRPr sz="2400" b="1" i="0">
                <a:solidFill>
                  <a:srgbClr val="0A8794"/>
                </a:solidFill>
                <a:latin typeface="Helvetica Neue"/>
                <a:ea typeface="Helvetica Neue"/>
                <a:cs typeface="Helvetica Neue"/>
              </a:defRPr>
            </a:pPr>
            <a:r>
              <a:rPr sz="2400" b="1" i="0">
                <a:solidFill>
                  <a:srgbClr val="0A8794"/>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2C1994AB-CA19-487A-AA7B-064C66B6364C}"/>
              </a:ext>
            </a:extLst>
          </p:cNvPr>
          <p:cNvSpPr>
            <a:spLocks xmlns:a="http://schemas.openxmlformats.org/drawingml/2006/main" noGrp="1"/>
          </p:cNvSpPr>
          <p:nvPr/>
        </p:nvSpPr>
        <p:spPr>
          <a:xfrm xmlns:a="http://schemas.openxmlformats.org/drawingml/2006/main">
            <a:off x="4333875" y="1924050"/>
            <a:ext cx="2667000" cy="1619250"/>
          </a:xfrm>
          <a:prstGeom xmlns:a="http://schemas.openxmlformats.org/drawingml/2006/main" prst="roundRect">
            <a:avLst>
              <a:gd name="adj" fmla="val 8235"/>
            </a:avLst>
          </a:prstGeom>
          <a:solidFill xmlns:a="http://schemas.openxmlformats.org/drawingml/2006/main">
            <a:srgbClr val="F5F8FA"/>
          </a:solidFill>
          <a:ln xmlns:a="http://schemas.openxmlformats.org/drawingml/2006/main" w="9525">
            <a:solidFill>
              <a:srgbClr val="CAD7E2"/>
            </a:solidFill>
          </a:ln>
        </p:spPr>
      </p:sp>
      <p:sp>
        <p:nvSpPr>
          <p:cNvPr id="10" name="">
            <a:extLst xmlns:a="http://schemas.openxmlformats.org/drawingml/2006/main">
              <a:ext uri="{FF2B5EF4-FFF2-40B4-BE49-F238E27FC236}">
                <a16:creationId xmlns:a16="http://schemas.microsoft.com/office/drawing/2014/main" id="{E60AB1A8-AC20-42C6-B38F-67D91C4BAFAB}"/>
              </a:ext>
            </a:extLst>
          </p:cNvPr>
          <p:cNvSpPr>
            <a:spLocks xmlns:a="http://schemas.openxmlformats.org/drawingml/2006/main" noGrp="1"/>
          </p:cNvSpPr>
          <p:nvPr/>
        </p:nvSpPr>
        <p:spPr>
          <a:xfrm xmlns:a="http://schemas.openxmlformats.org/drawingml/2006/main">
            <a:off x="4543425" y="210502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618"/>
          </a:bodyPr>
          <a:lstStyle xmlns:a="http://schemas.openxmlformats.org/drawingml/2006/main"/>
          <a:p xmlns:a="http://schemas.openxmlformats.org/drawingml/2006/main">
            <a:pPr algn="l">
              <a:lnSpc>
                <a:spcPct val="105000"/>
              </a:lnSpc>
              <a:buNone/>
              <a:defRPr sz="1725" b="1" i="0">
                <a:solidFill>
                  <a:srgbClr val="0A8794"/>
                </a:solidFill>
                <a:latin typeface="Helvetica Neue"/>
                <a:ea typeface="Helvetica Neue"/>
                <a:cs typeface="Helvetica Neue"/>
              </a:defRPr>
            </a:pPr>
            <a:r>
              <a:rPr sz="1725" b="1" i="0">
                <a:solidFill>
                  <a:srgbClr val="0A8794"/>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A8F1BA98-438E-429D-848F-847FAA180BFE}"/>
              </a:ext>
            </a:extLst>
          </p:cNvPr>
          <p:cNvSpPr>
            <a:spLocks xmlns:a="http://schemas.openxmlformats.org/drawingml/2006/main" noGrp="1"/>
          </p:cNvSpPr>
          <p:nvPr/>
        </p:nvSpPr>
        <p:spPr>
          <a:xfrm xmlns:a="http://schemas.openxmlformats.org/drawingml/2006/main">
            <a:off x="4543425" y="2505075"/>
            <a:ext cx="226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082B4C"/>
                </a:solidFill>
                <a:latin typeface="Helvetica Neue"/>
                <a:ea typeface="Helvetica Neue"/>
                <a:cs typeface="Helvetica Neue"/>
              </a:defRPr>
            </a:pPr>
            <a:r>
              <a:rPr sz="1500" b="1" i="0">
                <a:solidFill>
                  <a:srgbClr val="082B4C"/>
                </a:solidFill>
                <a:latin typeface="Helvetica Neue"/>
                <a:ea typeface="Helvetica Neue"/>
                <a:cs typeface="Helvetica Neue"/>
              </a:rPr>
              <a:t>First adjacent doubling</a:t>
            </a:r>
          </a:p>
        </p:txBody>
      </p:sp>
      <p:sp>
        <p:nvSpPr>
          <p:cNvPr id="12" name="">
            <a:extLst xmlns:a="http://schemas.openxmlformats.org/drawingml/2006/main">
              <a:ext uri="{FF2B5EF4-FFF2-40B4-BE49-F238E27FC236}">
                <a16:creationId xmlns:a16="http://schemas.microsoft.com/office/drawing/2014/main" id="{B099D751-C74B-4FA6-874B-41C4827A1124}"/>
              </a:ext>
            </a:extLst>
          </p:cNvPr>
          <p:cNvSpPr>
            <a:spLocks xmlns:a="http://schemas.openxmlformats.org/drawingml/2006/main" noGrp="1"/>
          </p:cNvSpPr>
          <p:nvPr/>
        </p:nvSpPr>
        <p:spPr>
          <a:xfrm xmlns:a="http://schemas.openxmlformats.org/drawingml/2006/main">
            <a:off x="4543425" y="2876550"/>
            <a:ext cx="2266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N versus 2N</a:t>
            </a:r>
          </a:p>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local resolution change</a:t>
            </a:r>
          </a:p>
        </p:txBody>
      </p:sp>
      <p:sp>
        <p:nvSpPr>
          <p:cNvPr id="13" name="">
            <a:extLst xmlns:a="http://schemas.openxmlformats.org/drawingml/2006/main">
              <a:ext uri="{FF2B5EF4-FFF2-40B4-BE49-F238E27FC236}">
                <a16:creationId xmlns:a16="http://schemas.microsoft.com/office/drawing/2014/main" id="{43046421-60CE-48C4-92D3-2D9F5854F4D2}"/>
              </a:ext>
            </a:extLst>
          </p:cNvPr>
          <p:cNvSpPr>
            <a:spLocks xmlns:a="http://schemas.openxmlformats.org/drawingml/2006/main" noGrp="1"/>
          </p:cNvSpPr>
          <p:nvPr/>
        </p:nvSpPr>
        <p:spPr>
          <a:xfrm xmlns:a="http://schemas.openxmlformats.org/drawingml/2006/main">
            <a:off x="7134225" y="2486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806"/>
          </a:bodyPr>
          <a:lstStyle xmlns:a="http://schemas.openxmlformats.org/drawingml/2006/main"/>
          <a:p xmlns:a="http://schemas.openxmlformats.org/drawingml/2006/main">
            <a:pPr algn="ctr">
              <a:lnSpc>
                <a:spcPct val="105000"/>
              </a:lnSpc>
              <a:buNone/>
              <a:defRPr sz="2400" b="1" i="0">
                <a:solidFill>
                  <a:srgbClr val="0A8794"/>
                </a:solidFill>
                <a:latin typeface="Helvetica Neue"/>
                <a:ea typeface="Helvetica Neue"/>
                <a:cs typeface="Helvetica Neue"/>
              </a:defRPr>
            </a:pPr>
            <a:r>
              <a:rPr sz="2400" b="1" i="0">
                <a:solidFill>
                  <a:srgbClr val="0A8794"/>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8B5811EF-8EB4-471A-8DBA-89A1FFBCDFA4}"/>
              </a:ext>
            </a:extLst>
          </p:cNvPr>
          <p:cNvSpPr>
            <a:spLocks xmlns:a="http://schemas.openxmlformats.org/drawingml/2006/main" noGrp="1"/>
          </p:cNvSpPr>
          <p:nvPr/>
        </p:nvSpPr>
        <p:spPr>
          <a:xfrm xmlns:a="http://schemas.openxmlformats.org/drawingml/2006/main">
            <a:off x="7800975" y="1924050"/>
            <a:ext cx="2667000" cy="1619250"/>
          </a:xfrm>
          <a:prstGeom xmlns:a="http://schemas.openxmlformats.org/drawingml/2006/main" prst="roundRect">
            <a:avLst>
              <a:gd name="adj" fmla="val 8235"/>
            </a:avLst>
          </a:prstGeom>
          <a:solidFill xmlns:a="http://schemas.openxmlformats.org/drawingml/2006/main">
            <a:srgbClr val="F5F8FA"/>
          </a:solidFill>
          <a:ln xmlns:a="http://schemas.openxmlformats.org/drawingml/2006/main" w="9525">
            <a:solidFill>
              <a:srgbClr val="CAD7E2"/>
            </a:solidFill>
          </a:ln>
        </p:spPr>
      </p:sp>
      <p:sp>
        <p:nvSpPr>
          <p:cNvPr id="15" name="">
            <a:extLst xmlns:a="http://schemas.openxmlformats.org/drawingml/2006/main">
              <a:ext uri="{FF2B5EF4-FFF2-40B4-BE49-F238E27FC236}">
                <a16:creationId xmlns:a16="http://schemas.microsoft.com/office/drawing/2014/main" id="{23021EFB-5C23-4F86-B0F3-E9CAB9A2F9B3}"/>
              </a:ext>
            </a:extLst>
          </p:cNvPr>
          <p:cNvSpPr>
            <a:spLocks xmlns:a="http://schemas.openxmlformats.org/drawingml/2006/main" noGrp="1"/>
          </p:cNvSpPr>
          <p:nvPr/>
        </p:nvSpPr>
        <p:spPr>
          <a:xfrm xmlns:a="http://schemas.openxmlformats.org/drawingml/2006/main">
            <a:off x="8010525" y="210502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618"/>
          </a:bodyPr>
          <a:lstStyle xmlns:a="http://schemas.openxmlformats.org/drawingml/2006/main"/>
          <a:p xmlns:a="http://schemas.openxmlformats.org/drawingml/2006/main">
            <a:pPr algn="l">
              <a:lnSpc>
                <a:spcPct val="105000"/>
              </a:lnSpc>
              <a:buNone/>
              <a:defRPr sz="1725" b="1" i="0">
                <a:solidFill>
                  <a:srgbClr val="0A8794"/>
                </a:solidFill>
                <a:latin typeface="Helvetica Neue"/>
                <a:ea typeface="Helvetica Neue"/>
                <a:cs typeface="Helvetica Neue"/>
              </a:defRPr>
            </a:pPr>
            <a:r>
              <a:rPr sz="1725" b="1" i="0">
                <a:solidFill>
                  <a:srgbClr val="0A8794"/>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1A21F6DB-2006-4844-85CA-18C41448A2C5}"/>
              </a:ext>
            </a:extLst>
          </p:cNvPr>
          <p:cNvSpPr>
            <a:spLocks xmlns:a="http://schemas.openxmlformats.org/drawingml/2006/main" noGrp="1"/>
          </p:cNvSpPr>
          <p:nvPr/>
        </p:nvSpPr>
        <p:spPr>
          <a:xfrm xmlns:a="http://schemas.openxmlformats.org/drawingml/2006/main">
            <a:off x="8010525" y="2505075"/>
            <a:ext cx="226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302"/>
          </a:bodyPr>
          <a:lstStyle xmlns:a="http://schemas.openxmlformats.org/drawingml/2006/main"/>
          <a:p xmlns:a="http://schemas.openxmlformats.org/drawingml/2006/main">
            <a:pPr algn="l">
              <a:lnSpc>
                <a:spcPct val="105000"/>
              </a:lnSpc>
              <a:buNone/>
              <a:defRPr sz="1500" b="1" i="0">
                <a:solidFill>
                  <a:srgbClr val="082B4C"/>
                </a:solidFill>
                <a:latin typeface="Helvetica Neue"/>
                <a:ea typeface="Helvetica Neue"/>
                <a:cs typeface="Helvetica Neue"/>
              </a:defRPr>
            </a:pPr>
            <a:r>
              <a:rPr sz="1500" b="1" i="0">
                <a:solidFill>
                  <a:srgbClr val="082B4C"/>
                </a:solidFill>
                <a:latin typeface="Helvetica Neue"/>
                <a:ea typeface="Helvetica Neue"/>
                <a:cs typeface="Helvetica Neue"/>
              </a:rPr>
              <a:t>Second adjacent doubling</a:t>
            </a:r>
          </a:p>
        </p:txBody>
      </p:sp>
      <p:sp>
        <p:nvSpPr>
          <p:cNvPr id="17" name="">
            <a:extLst xmlns:a="http://schemas.openxmlformats.org/drawingml/2006/main">
              <a:ext uri="{FF2B5EF4-FFF2-40B4-BE49-F238E27FC236}">
                <a16:creationId xmlns:a16="http://schemas.microsoft.com/office/drawing/2014/main" id="{52AA85D0-3E0F-4FE7-A17F-8BF434711E0D}"/>
              </a:ext>
            </a:extLst>
          </p:cNvPr>
          <p:cNvSpPr>
            <a:spLocks xmlns:a="http://schemas.openxmlformats.org/drawingml/2006/main" noGrp="1"/>
          </p:cNvSpPr>
          <p:nvPr/>
        </p:nvSpPr>
        <p:spPr>
          <a:xfrm xmlns:a="http://schemas.openxmlformats.org/drawingml/2006/main">
            <a:off x="8010525" y="2876550"/>
            <a:ext cx="2266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2N versus 4N</a:t>
            </a:r>
          </a:p>
          <a:p xmlns:a="http://schemas.openxmlformats.org/drawingml/2006/main">
            <a:pPr algn="l">
              <a:lnSpc>
                <a:spcPct val="105000"/>
              </a:lnSpc>
              <a:buNone/>
              <a:defRPr sz="1200" b="0" i="0">
                <a:solidFill>
                  <a:srgbClr val="102A43"/>
                </a:solidFill>
                <a:latin typeface="Helvetica Neue"/>
                <a:ea typeface="Helvetica Neue"/>
                <a:cs typeface="Helvetica Neue"/>
              </a:defRPr>
            </a:pPr>
            <a:r>
              <a:rPr sz="1200" b="0" i="0">
                <a:solidFill>
                  <a:srgbClr val="102A43"/>
                </a:solidFill>
                <a:latin typeface="Helvetica Neue"/>
                <a:ea typeface="Helvetica Neue"/>
                <a:cs typeface="Helvetica Neue"/>
              </a:rPr>
              <a:t>confirmation of the local plateau</a:t>
            </a:r>
          </a:p>
        </p:txBody>
      </p:sp>
      <p:sp>
        <p:nvSpPr>
          <p:cNvPr id="18" name="">
            <a:extLst xmlns:a="http://schemas.openxmlformats.org/drawingml/2006/main">
              <a:ext uri="{FF2B5EF4-FFF2-40B4-BE49-F238E27FC236}">
                <a16:creationId xmlns:a16="http://schemas.microsoft.com/office/drawing/2014/main" id="{5FAAE59F-5518-4EB5-B856-988A8B384FDC}"/>
              </a:ext>
            </a:extLst>
          </p:cNvPr>
          <p:cNvSpPr>
            <a:spLocks xmlns:a="http://schemas.openxmlformats.org/drawingml/2006/main" noGrp="1"/>
          </p:cNvSpPr>
          <p:nvPr/>
        </p:nvSpPr>
        <p:spPr>
          <a:xfrm xmlns:a="http://schemas.openxmlformats.org/drawingml/2006/main">
            <a:off x="876300" y="4067175"/>
            <a:ext cx="10439400" cy="1323975"/>
          </a:xfrm>
          <a:prstGeom xmlns:a="http://schemas.openxmlformats.org/drawingml/2006/main" prst="roundRect">
            <a:avLst>
              <a:gd name="adj" fmla="val 8633"/>
            </a:avLst>
          </a:prstGeom>
          <a:solidFill xmlns:a="http://schemas.openxmlformats.org/drawingml/2006/main">
            <a:srgbClr val="EAF3F5"/>
          </a:solidFill>
          <a:ln xmlns:a="http://schemas.openxmlformats.org/drawingml/2006/main" w="9525">
            <a:solidFill>
              <a:srgbClr val="CAD7E2"/>
            </a:solidFill>
          </a:ln>
        </p:spPr>
      </p:sp>
      <p:sp>
        <p:nvSpPr>
          <p:cNvPr id="19" name="">
            <a:extLst xmlns:a="http://schemas.openxmlformats.org/drawingml/2006/main">
              <a:ext uri="{FF2B5EF4-FFF2-40B4-BE49-F238E27FC236}">
                <a16:creationId xmlns:a16="http://schemas.microsoft.com/office/drawing/2014/main" id="{036740AD-E69D-4B67-953F-C0275C3C691C}"/>
              </a:ext>
            </a:extLst>
          </p:cNvPr>
          <p:cNvSpPr>
            <a:spLocks xmlns:a="http://schemas.openxmlformats.org/drawingml/2006/main" noGrp="1"/>
          </p:cNvSpPr>
          <p:nvPr/>
        </p:nvSpPr>
        <p:spPr>
          <a:xfrm xmlns:a="http://schemas.openxmlformats.org/drawingml/2006/main">
            <a:off x="1104900" y="4276725"/>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082B4C"/>
                </a:solidFill>
                <a:latin typeface="Helvetica Neue"/>
                <a:ea typeface="Helvetica Neue"/>
                <a:cs typeface="Helvetica Neue"/>
              </a:defRPr>
            </a:pPr>
            <a:r>
              <a:rPr sz="1350" b="1" i="0">
                <a:solidFill>
                  <a:srgbClr val="082B4C"/>
                </a:solidFill>
                <a:latin typeface="Helvetica Neue"/>
                <a:ea typeface="Helvetica Neue"/>
                <a:cs typeface="Helvetica Neue"/>
              </a:rPr>
              <a:t>At every post-initial stored time</a:t>
            </a:r>
          </a:p>
        </p:txBody>
      </p:sp>
      <p:sp>
        <p:nvSpPr>
          <p:cNvPr id="20" name="">
            <a:extLst xmlns:a="http://schemas.openxmlformats.org/drawingml/2006/main">
              <a:ext uri="{FF2B5EF4-FFF2-40B4-BE49-F238E27FC236}">
                <a16:creationId xmlns:a16="http://schemas.microsoft.com/office/drawing/2014/main" id="{7553C50B-D185-49F2-B824-8D496C176924}"/>
              </a:ext>
            </a:extLst>
          </p:cNvPr>
          <p:cNvSpPr>
            <a:spLocks xmlns:a="http://schemas.openxmlformats.org/drawingml/2006/main" noGrp="1"/>
          </p:cNvSpPr>
          <p:nvPr/>
        </p:nvSpPr>
        <p:spPr>
          <a:xfrm xmlns:a="http://schemas.openxmlformats.org/drawingml/2006/main">
            <a:off x="1104900" y="4591050"/>
            <a:ext cx="922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7146"/>
          </a:bodyPr>
          <a:lstStyle xmlns:a="http://schemas.openxmlformats.org/drawingml/2006/main"/>
          <a:p xmlns:a="http://schemas.openxmlformats.org/drawingml/2006/main">
            <a:pPr algn="l">
              <a:lnSpc>
                <a:spcPct val="120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 compare all-time maxima of the relevant diagnostics</a:t>
            </a:r>
          </a:p>
          <a:p xmlns:a="http://schemas.openxmlformats.org/drawingml/2006/main">
            <a:pPr algn="l">
              <a:lnSpc>
                <a:spcPct val="120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 independently bootstrap the 20 members on each side (2,000 replicates)</a:t>
            </a:r>
          </a:p>
          <a:p xmlns:a="http://schemas.openxmlformats.org/drawingml/2006/main">
            <a:pPr algn="l">
              <a:lnSpc>
                <a:spcPct val="120000"/>
              </a:lnSpc>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 require the one-sided 95% upper bound to remain within the predeclared tolerance</a:t>
            </a:r>
          </a:p>
        </p:txBody>
      </p:sp>
      <p:sp>
        <p:nvSpPr>
          <p:cNvPr id="21" name="">
            <a:extLst xmlns:a="http://schemas.openxmlformats.org/drawingml/2006/main">
              <a:ext uri="{FF2B5EF4-FFF2-40B4-BE49-F238E27FC236}">
                <a16:creationId xmlns:a16="http://schemas.microsoft.com/office/drawing/2014/main" id="{6BF38479-4C41-4D5F-B2C8-512D6C181712}"/>
              </a:ext>
            </a:extLst>
          </p:cNvPr>
          <p:cNvSpPr>
            <a:spLocks xmlns:a="http://schemas.openxmlformats.org/drawingml/2006/main" noGrp="1"/>
          </p:cNvSpPr>
          <p:nvPr/>
        </p:nvSpPr>
        <p:spPr>
          <a:xfrm xmlns:a="http://schemas.openxmlformats.org/drawingml/2006/main">
            <a:off x="876300" y="5715000"/>
            <a:ext cx="10420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082B4C"/>
                </a:solidFill>
                <a:latin typeface="Helvetica Neue"/>
                <a:ea typeface="Helvetica Neue"/>
                <a:cs typeface="Helvetica Neue"/>
              </a:defRPr>
            </a:pPr>
            <a:r>
              <a:rPr sz="1275" b="1" i="0">
                <a:solidFill>
                  <a:srgbClr val="082B4C"/>
                </a:solidFill>
                <a:latin typeface="Helvetica Neue"/>
                <a:ea typeface="Helvetica Neue"/>
                <a:cs typeface="Helvetica Neue"/>
              </a:rPr>
              <a:t>Core 5% checks: 500-bin mass DSD, λ₀, λ₂, λ₃, mass-weighted terminal speed.  Tail 10% margin: λ₆ and r₉₀.</a:t>
            </a:r>
          </a:p>
        </p:txBody>
      </p:sp>
      <p:sp>
        <p:nvSpPr>
          <p:cNvPr id="22" name="">
            <a:extLst xmlns:a="http://schemas.openxmlformats.org/drawingml/2006/main">
              <a:ext uri="{FF2B5EF4-FFF2-40B4-BE49-F238E27FC236}">
                <a16:creationId xmlns:a16="http://schemas.microsoft.com/office/drawing/2014/main" id="{FA54FAA2-5610-4B6B-B7CE-444F8EF92176}"/>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10DC050-5C41-4543-AEF3-2F8CB6733673}"/>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24" name="">
            <a:extLst xmlns:a="http://schemas.openxmlformats.org/drawingml/2006/main">
              <a:ext uri="{FF2B5EF4-FFF2-40B4-BE49-F238E27FC236}">
                <a16:creationId xmlns:a16="http://schemas.microsoft.com/office/drawing/2014/main" id="{DAF9EA4D-46AE-409F-BC86-E99247E1DA46}"/>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07</a:t>
            </a:r>
          </a:p>
        </p:txBody>
      </p:sp>
    </p:spTree>
    <p:extLst>
      <p:ext uri="{BB962C8B-B14F-4D97-AF65-F5344CB8AC3E}">
        <p14:creationId xmlns:p14="http://schemas.microsoft.com/office/powerpoint/2010/main" val="14712913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620406-2B16-4E09-AAB8-0742284AF201}"/>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CC4C2D54-2316-4170-8DA3-73EF509B50C1}"/>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258"/>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Ensemble means: cloud depletion and tail growth are already visually stable above low Ncell</a:t>
            </a:r>
          </a:p>
        </p:txBody>
      </p:sp>
      <p:sp>
        <p:nvSpPr>
          <p:cNvPr id="3" name="">
            <a:extLst xmlns:a="http://schemas.openxmlformats.org/drawingml/2006/main">
              <a:ext uri="{FF2B5EF4-FFF2-40B4-BE49-F238E27FC236}">
                <a16:creationId xmlns:a16="http://schemas.microsoft.com/office/drawing/2014/main" id="{0B5B1570-2465-439F-8B3C-E74EEE465EA7}"/>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DE1681-0512-4874-8F7B-FA22FC75C64A}"/>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3542ED4F-8C35-4946-9D62-3C75C8562A90}"/>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59"/>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The Ncell = 2 case is qualitatively distinct; the higher-resolution means cluster, but the formal choice is made with uncertainty bounds — not visual overlap alone.</a:t>
            </a:r>
          </a:p>
        </p:txBody>
      </p:sp>
      <p:sp>
        <p:nvSpPr>
          <p:cNvPr id="6" name="">
            <a:extLst xmlns:a="http://schemas.openxmlformats.org/drawingml/2006/main">
              <a:ext uri="{FF2B5EF4-FFF2-40B4-BE49-F238E27FC236}">
                <a16:creationId xmlns:a16="http://schemas.microsoft.com/office/drawing/2014/main" id="{B7B52A6F-810C-4754-9914-09ED8B5CD922}"/>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9C09FE-376A-48A1-AAEB-D8070CCF6580}"/>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BD5D8721-6B1B-46E4-979E-C64C3837631C}"/>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08</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82e37e896d441ae"/>
          <a:stretch xmlns:a="http://schemas.openxmlformats.org/drawingml/2006/main"/>
        </p:blipFill>
        <p:spPr>
          <a:xfrm xmlns:a="http://schemas.openxmlformats.org/drawingml/2006/main">
            <a:off x="2276095" y="1314450"/>
            <a:ext cx="7639810" cy="4476750"/>
          </a:xfrm>
          <a:prstGeom xmlns:a="http://schemas.openxmlformats.org/drawingml/2006/main" prst="rect">
            <a:avLst/>
          </a:prstGeom>
        </p:spPr>
      </p:pic>
    </p:spTree>
    <p:extLst>
      <p:ext uri="{BB962C8B-B14F-4D97-AF65-F5344CB8AC3E}">
        <p14:creationId xmlns:p14="http://schemas.microsoft.com/office/powerpoint/2010/main" val="14712105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D44D80-6EE2-4730-BECC-4AEDBBFEBDB6}"/>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27A6AA6A-37FD-4DA4-8F2C-407BDFFB81ED}"/>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Mass-DSD evolution: the resolved distribution, not merely a single scalar</a:t>
            </a:r>
          </a:p>
        </p:txBody>
      </p:sp>
      <p:sp>
        <p:nvSpPr>
          <p:cNvPr id="3" name="">
            <a:extLst xmlns:a="http://schemas.openxmlformats.org/drawingml/2006/main">
              <a:ext uri="{FF2B5EF4-FFF2-40B4-BE49-F238E27FC236}">
                <a16:creationId xmlns:a16="http://schemas.microsoft.com/office/drawing/2014/main" id="{19BA7F1C-D124-48EE-80FE-8B594803DF37}"/>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C19F88-7B9F-4A49-BAC5-B8E77E7D5DC1}"/>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6BB52135-BDF6-459C-9A06-F0BF91D07C09}"/>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916"/>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The mass distribution shifts toward larger radii as collisions proceed; low Ncell produces visibly different tail structure, whereas higher resolutions align.</a:t>
            </a:r>
          </a:p>
        </p:txBody>
      </p:sp>
      <p:sp>
        <p:nvSpPr>
          <p:cNvPr id="6" name="">
            <a:extLst xmlns:a="http://schemas.openxmlformats.org/drawingml/2006/main">
              <a:ext uri="{FF2B5EF4-FFF2-40B4-BE49-F238E27FC236}">
                <a16:creationId xmlns:a16="http://schemas.microsoft.com/office/drawing/2014/main" id="{6162378A-B74E-4DC2-AD2A-FDC8D7C7E121}"/>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0F4A48E-00CA-437F-9AC2-7B1B3419C6A1}"/>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CA34E286-09F9-4BAE-8B40-9F257B52A760}"/>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09</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b29e2a998604acc"/>
          <a:stretch xmlns:a="http://schemas.openxmlformats.org/drawingml/2006/main"/>
        </p:blipFill>
        <p:spPr>
          <a:xfrm xmlns:a="http://schemas.openxmlformats.org/drawingml/2006/main">
            <a:off x="2904145" y="1314450"/>
            <a:ext cx="6383711" cy="4476750"/>
          </a:xfrm>
          <a:prstGeom xmlns:a="http://schemas.openxmlformats.org/drawingml/2006/main" prst="rect">
            <a:avLst/>
          </a:prstGeom>
        </p:spPr>
      </p:pic>
    </p:spTree>
    <p:extLst>
      <p:ext uri="{BB962C8B-B14F-4D97-AF65-F5344CB8AC3E}">
        <p14:creationId xmlns:p14="http://schemas.microsoft.com/office/powerpoint/2010/main" val="11936623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F17E96-B104-4A55-B805-32897C61C5C0}"/>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36E65B0A-601C-454F-BDDB-D27F3AA267A6}"/>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Full 20-member resolution ladder: errors fall as Ncell increases</a:t>
            </a:r>
          </a:p>
        </p:txBody>
      </p:sp>
      <p:sp>
        <p:nvSpPr>
          <p:cNvPr id="3" name="">
            <a:extLst xmlns:a="http://schemas.openxmlformats.org/drawingml/2006/main">
              <a:ext uri="{FF2B5EF4-FFF2-40B4-BE49-F238E27FC236}">
                <a16:creationId xmlns:a16="http://schemas.microsoft.com/office/drawing/2014/main" id="{A318E701-5E99-45FF-AB3D-65DF31730AEE}"/>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92C1403-A58B-4188-B37D-552994375CB8}"/>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8521CF68-980A-4772-972E-4906C8EB69FA}"/>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291"/>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The ladder makes the signal clear: coarse superdroplet representations are biased/noisy; successive refinements compress the discrepancy toward the 8,192-SD comparator.</a:t>
            </a:r>
          </a:p>
        </p:txBody>
      </p:sp>
      <p:sp>
        <p:nvSpPr>
          <p:cNvPr id="6" name="">
            <a:extLst xmlns:a="http://schemas.openxmlformats.org/drawingml/2006/main">
              <a:ext uri="{FF2B5EF4-FFF2-40B4-BE49-F238E27FC236}">
                <a16:creationId xmlns:a16="http://schemas.microsoft.com/office/drawing/2014/main" id="{1041C6A4-9613-41DF-AB14-2A215A2583A5}"/>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A77C997-342E-45B1-A8C7-5EBECB6F02E0}"/>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71FFEEAA-CFBB-4723-9AA4-EDA334A0ACC7}"/>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10</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bb5f5d564f1400b"/>
          <a:stretch xmlns:a="http://schemas.openxmlformats.org/drawingml/2006/main"/>
        </p:blipFill>
        <p:spPr>
          <a:xfrm xmlns:a="http://schemas.openxmlformats.org/drawingml/2006/main">
            <a:off x="2155011" y="1314450"/>
            <a:ext cx="7881978" cy="4476750"/>
          </a:xfrm>
          <a:prstGeom xmlns:a="http://schemas.openxmlformats.org/drawingml/2006/main" prst="rect">
            <a:avLst/>
          </a:prstGeom>
        </p:spPr>
      </p:pic>
    </p:spTree>
    <p:extLst>
      <p:ext uri="{BB962C8B-B14F-4D97-AF65-F5344CB8AC3E}">
        <p14:creationId xmlns:p14="http://schemas.microsoft.com/office/powerpoint/2010/main" val="14327832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ADA785-05B3-4847-8C5F-0C5DF43B03AB}"/>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66C07770-F2BF-4304-95B3-D591A6B11191}"/>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52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Member-level variability: the stochastic component is visible at every resolution</a:t>
            </a:r>
          </a:p>
        </p:txBody>
      </p:sp>
      <p:sp>
        <p:nvSpPr>
          <p:cNvPr id="3" name="">
            <a:extLst xmlns:a="http://schemas.openxmlformats.org/drawingml/2006/main">
              <a:ext uri="{FF2B5EF4-FFF2-40B4-BE49-F238E27FC236}">
                <a16:creationId xmlns:a16="http://schemas.microsoft.com/office/drawing/2014/main" id="{4D3BAD5E-1E7C-471D-87F3-69E59FD8ACA1}"/>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A6AFA3-5C32-4997-AC34-C6D053B8A9C7}"/>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19DEE5E7-E95B-4349-912E-B97F6AB22890}"/>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741"/>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Violin width is the distribution across the 20 independent members; narrowing with resolution is evidence of improved estimator precision, not a replacement for the bootstrap decision.</a:t>
            </a:r>
          </a:p>
        </p:txBody>
      </p:sp>
      <p:sp>
        <p:nvSpPr>
          <p:cNvPr id="6" name="">
            <a:extLst xmlns:a="http://schemas.openxmlformats.org/drawingml/2006/main">
              <a:ext uri="{FF2B5EF4-FFF2-40B4-BE49-F238E27FC236}">
                <a16:creationId xmlns:a16="http://schemas.microsoft.com/office/drawing/2014/main" id="{8D98630A-8069-476E-B10C-BD504D12456B}"/>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3ADD451-3BE4-4628-99C6-7042C403EBB4}"/>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DC8CC1FE-CDDF-411B-961D-D3B10D295ECF}"/>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b399572e51549c3"/>
          <a:stretch xmlns:a="http://schemas.openxmlformats.org/drawingml/2006/main"/>
        </p:blipFill>
        <p:spPr>
          <a:xfrm xmlns:a="http://schemas.openxmlformats.org/drawingml/2006/main">
            <a:off x="2486110" y="1314450"/>
            <a:ext cx="7219780" cy="4476750"/>
          </a:xfrm>
          <a:prstGeom xmlns:a="http://schemas.openxmlformats.org/drawingml/2006/main" prst="rect">
            <a:avLst/>
          </a:prstGeom>
        </p:spPr>
      </p:pic>
    </p:spTree>
    <p:extLst>
      <p:ext uri="{BB962C8B-B14F-4D97-AF65-F5344CB8AC3E}">
        <p14:creationId xmlns:p14="http://schemas.microsoft.com/office/powerpoint/2010/main" val="2043791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77D3B00-8658-4AB7-85D9-4C0C399B6D49}"/>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D870B645-8EAB-4969-833B-857EF38B5C6D}"/>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677"/>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Resolution–ensemble precision surface: uncertainty is a joint design problem</a:t>
            </a:r>
          </a:p>
        </p:txBody>
      </p:sp>
      <p:sp>
        <p:nvSpPr>
          <p:cNvPr id="3" name="">
            <a:extLst xmlns:a="http://schemas.openxmlformats.org/drawingml/2006/main">
              <a:ext uri="{FF2B5EF4-FFF2-40B4-BE49-F238E27FC236}">
                <a16:creationId xmlns:a16="http://schemas.microsoft.com/office/drawing/2014/main" id="{6353D2FE-F926-43B2-A4B2-AE12454D5682}"/>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8F4598-FAB2-447A-8064-8AF085157611}"/>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7B2E472A-B613-4506-A36F-274F64ADEE55}"/>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678"/>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More members tighten estimates at each Ncell, while more superdroplets reduce discrepancy; the two resources are complementary rather than interchangeable.</a:t>
            </a:r>
          </a:p>
        </p:txBody>
      </p:sp>
      <p:sp>
        <p:nvSpPr>
          <p:cNvPr id="6" name="">
            <a:extLst xmlns:a="http://schemas.openxmlformats.org/drawingml/2006/main">
              <a:ext uri="{FF2B5EF4-FFF2-40B4-BE49-F238E27FC236}">
                <a16:creationId xmlns:a16="http://schemas.microsoft.com/office/drawing/2014/main" id="{ED297247-5D8C-4339-9971-6F20D27E96D1}"/>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3B2359-B014-4B03-8E0E-585F20CE124C}"/>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9920B092-E533-4E97-81F2-194E15FA78D0}"/>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12</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4159ebf7d064bee"/>
          <a:stretch xmlns:a="http://schemas.openxmlformats.org/drawingml/2006/main"/>
        </p:blipFill>
        <p:spPr>
          <a:xfrm xmlns:a="http://schemas.openxmlformats.org/drawingml/2006/main">
            <a:off x="723900" y="1463946"/>
            <a:ext cx="10744200" cy="4177758"/>
          </a:xfrm>
          <a:prstGeom xmlns:a="http://schemas.openxmlformats.org/drawingml/2006/main" prst="rect">
            <a:avLst/>
          </a:prstGeom>
        </p:spPr>
      </p:pic>
    </p:spTree>
    <p:extLst>
      <p:ext uri="{BB962C8B-B14F-4D97-AF65-F5344CB8AC3E}">
        <p14:creationId xmlns:p14="http://schemas.microsoft.com/office/powerpoint/2010/main" val="6720857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560977C-E3B3-4758-BA6C-589D1CC283E0}"/>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C6AFFD05-263F-4ED7-866D-62D03A1FF80F}"/>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Uncertainty and bin sensitivity protect the distributional result</a:t>
            </a:r>
          </a:p>
        </p:txBody>
      </p:sp>
      <p:sp>
        <p:nvSpPr>
          <p:cNvPr id="3" name="">
            <a:extLst xmlns:a="http://schemas.openxmlformats.org/drawingml/2006/main">
              <a:ext uri="{FF2B5EF4-FFF2-40B4-BE49-F238E27FC236}">
                <a16:creationId xmlns:a16="http://schemas.microsoft.com/office/drawing/2014/main" id="{FF82549E-AAD3-4E48-A19F-7C9E8E4C43AA}"/>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A22A9F-E66A-48CA-BFDD-319DBA510180}"/>
              </a:ext>
            </a:extLst>
          </p:cNvPr>
          <p:cNvSpPr>
            <a:spLocks xmlns:a="http://schemas.openxmlformats.org/drawingml/2006/main" noGrp="1"/>
          </p:cNvSpPr>
          <p:nvPr/>
        </p:nvSpPr>
        <p:spPr>
          <a:xfrm xmlns:a="http://schemas.openxmlformats.org/drawingml/2006/main">
            <a:off x="5334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23A11B5B-E832-4355-B630-C02A04672E20}"/>
              </a:ext>
            </a:extLst>
          </p:cNvPr>
          <p:cNvSpPr>
            <a:spLocks xmlns:a="http://schemas.openxmlformats.org/drawingml/2006/main" noGrp="1"/>
          </p:cNvSpPr>
          <p:nvPr/>
        </p:nvSpPr>
        <p:spPr>
          <a:xfrm xmlns:a="http://schemas.openxmlformats.org/drawingml/2006/main">
            <a:off x="63246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6" name="">
            <a:extLst xmlns:a="http://schemas.openxmlformats.org/drawingml/2006/main">
              <a:ext uri="{FF2B5EF4-FFF2-40B4-BE49-F238E27FC236}">
                <a16:creationId xmlns:a16="http://schemas.microsoft.com/office/drawing/2014/main" id="{273FF506-306A-48F6-96E4-6D6A7BD5D39A}"/>
              </a:ext>
            </a:extLst>
          </p:cNvPr>
          <p:cNvSpPr>
            <a:spLocks xmlns:a="http://schemas.openxmlformats.org/drawingml/2006/main" noGrp="1"/>
          </p:cNvSpPr>
          <p:nvPr/>
        </p:nvSpPr>
        <p:spPr>
          <a:xfrm xmlns:a="http://schemas.openxmlformats.org/drawingml/2006/main">
            <a:off x="7048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Bootstrap upper bounds</a:t>
            </a:r>
          </a:p>
        </p:txBody>
      </p:sp>
      <p:sp>
        <p:nvSpPr>
          <p:cNvPr id="7" name="">
            <a:extLst xmlns:a="http://schemas.openxmlformats.org/drawingml/2006/main">
              <a:ext uri="{FF2B5EF4-FFF2-40B4-BE49-F238E27FC236}">
                <a16:creationId xmlns:a16="http://schemas.microsoft.com/office/drawing/2014/main" id="{93B2AC75-F48C-4F7E-BF16-8AAA2659CCF6}"/>
              </a:ext>
            </a:extLst>
          </p:cNvPr>
          <p:cNvSpPr>
            <a:spLocks xmlns:a="http://schemas.openxmlformats.org/drawingml/2006/main" noGrp="1"/>
          </p:cNvSpPr>
          <p:nvPr/>
        </p:nvSpPr>
        <p:spPr>
          <a:xfrm xmlns:a="http://schemas.openxmlformats.org/drawingml/2006/main">
            <a:off x="64960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250 / 500 / 1,000-bin sensitivity</a:t>
            </a:r>
          </a:p>
        </p:txBody>
      </p:sp>
      <p:sp>
        <p:nvSpPr>
          <p:cNvPr id="8" name="">
            <a:extLst xmlns:a="http://schemas.openxmlformats.org/drawingml/2006/main">
              <a:ext uri="{FF2B5EF4-FFF2-40B4-BE49-F238E27FC236}">
                <a16:creationId xmlns:a16="http://schemas.microsoft.com/office/drawing/2014/main" id="{A1644CD9-625C-46F0-AA29-554C79377CED}"/>
              </a:ext>
            </a:extLst>
          </p:cNvPr>
          <p:cNvSpPr>
            <a:spLocks xmlns:a="http://schemas.openxmlformats.org/drawingml/2006/main" noGrp="1"/>
          </p:cNvSpPr>
          <p:nvPr/>
        </p:nvSpPr>
        <p:spPr>
          <a:xfrm xmlns:a="http://schemas.openxmlformats.org/drawingml/2006/main">
            <a:off x="533400" y="5791200"/>
            <a:ext cx="11125200" cy="476250"/>
          </a:xfrm>
          <a:prstGeom xmlns:a="http://schemas.openxmlformats.org/drawingml/2006/main" prst="roundRect">
            <a:avLst>
              <a:gd name="adj" fmla="val 20000"/>
            </a:avLst>
          </a:prstGeom>
          <a:solidFill xmlns:a="http://schemas.openxmlformats.org/drawingml/2006/main">
            <a:srgbClr val="EAF3F5"/>
          </a:solidFill>
          <a:ln xmlns:a="http://schemas.openxmlformats.org/drawingml/2006/main" w="9525">
            <a:solidFill>
              <a:srgbClr val="CAD7E2"/>
            </a:solidFill>
          </a:ln>
        </p:spPr>
      </p:sp>
      <p:sp>
        <p:nvSpPr>
          <p:cNvPr id="9" name="">
            <a:extLst xmlns:a="http://schemas.openxmlformats.org/drawingml/2006/main">
              <a:ext uri="{FF2B5EF4-FFF2-40B4-BE49-F238E27FC236}">
                <a16:creationId xmlns:a16="http://schemas.microsoft.com/office/drawing/2014/main" id="{FF7BEFB0-BB26-493F-8B7F-814CA91CB88F}"/>
              </a:ext>
            </a:extLst>
          </p:cNvPr>
          <p:cNvSpPr>
            <a:spLocks xmlns:a="http://schemas.openxmlformats.org/drawingml/2006/main" noGrp="1"/>
          </p:cNvSpPr>
          <p:nvPr/>
        </p:nvSpPr>
        <p:spPr>
          <a:xfrm xmlns:a="http://schemas.openxmlformats.org/drawingml/2006/main">
            <a:off x="704850" y="5895975"/>
            <a:ext cx="10782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The selection is not an artefact of a single plotted mean or a single bin count: the bootstrap and bin-sensitivity views are explicit parts of the audit.</a:t>
            </a:r>
          </a:p>
        </p:txBody>
      </p:sp>
      <p:sp>
        <p:nvSpPr>
          <p:cNvPr id="10" name="">
            <a:extLst xmlns:a="http://schemas.openxmlformats.org/drawingml/2006/main">
              <a:ext uri="{FF2B5EF4-FFF2-40B4-BE49-F238E27FC236}">
                <a16:creationId xmlns:a16="http://schemas.microsoft.com/office/drawing/2014/main" id="{A611F7C2-525B-4AA1-A504-EB2D1790A55A}"/>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6801B4-8B78-417C-A078-F508DA443119}"/>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12" name="">
            <a:extLst xmlns:a="http://schemas.openxmlformats.org/drawingml/2006/main">
              <a:ext uri="{FF2B5EF4-FFF2-40B4-BE49-F238E27FC236}">
                <a16:creationId xmlns:a16="http://schemas.microsoft.com/office/drawing/2014/main" id="{AB49C76F-B274-488A-93EC-9A1886113555}"/>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20112169bb74fc3"/>
          <a:stretch xmlns:a="http://schemas.openxmlformats.org/drawingml/2006/main"/>
        </p:blipFill>
        <p:spPr>
          <a:xfrm xmlns:a="http://schemas.openxmlformats.org/drawingml/2006/main">
            <a:off x="6419850" y="2001523"/>
            <a:ext cx="5143500" cy="2912103"/>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138469e015845ce"/>
          <a:stretch xmlns:a="http://schemas.openxmlformats.org/drawingml/2006/main"/>
        </p:blipFill>
        <p:spPr>
          <a:xfrm xmlns:a="http://schemas.openxmlformats.org/drawingml/2006/main">
            <a:off x="628650" y="2118787"/>
            <a:ext cx="5143500" cy="2677575"/>
          </a:xfrm>
          <a:prstGeom xmlns:a="http://schemas.openxmlformats.org/drawingml/2006/main" prst="rect">
            <a:avLst/>
          </a:prstGeom>
        </p:spPr>
      </p:pic>
    </p:spTree>
    <p:extLst>
      <p:ext uri="{BB962C8B-B14F-4D97-AF65-F5344CB8AC3E}">
        <p14:creationId xmlns:p14="http://schemas.microsoft.com/office/powerpoint/2010/main" val="11761182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99494A-BD28-4B56-AD02-B9121715C268}"/>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1E235904-C027-4E9B-953F-CBC8EC59A0AD}"/>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355"/>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Operational gate matrix: Ncell = 1,024 is the first candidate that clears the rule</a:t>
            </a:r>
          </a:p>
        </p:txBody>
      </p:sp>
      <p:sp>
        <p:nvSpPr>
          <p:cNvPr id="3" name="">
            <a:extLst xmlns:a="http://schemas.openxmlformats.org/drawingml/2006/main">
              <a:ext uri="{FF2B5EF4-FFF2-40B4-BE49-F238E27FC236}">
                <a16:creationId xmlns:a16="http://schemas.microsoft.com/office/drawing/2014/main" id="{0632CD37-E23D-45FC-9A3B-B201C92707AD}"/>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47BD87-575D-4C14-BE8A-649F38328F53}"/>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44DAEEC7-397F-45D2-87EF-CEDE9AC01AE2}"/>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Ncell = 512 is close but fails the 512→1,024 mass-DSD row (5.11% &gt; 5%). Ncell = 1,024 passes all required comparisons; 2,048 confirms the plateau.</a:t>
            </a:r>
          </a:p>
        </p:txBody>
      </p:sp>
      <p:sp>
        <p:nvSpPr>
          <p:cNvPr id="6" name="">
            <a:extLst xmlns:a="http://schemas.openxmlformats.org/drawingml/2006/main">
              <a:ext uri="{FF2B5EF4-FFF2-40B4-BE49-F238E27FC236}">
                <a16:creationId xmlns:a16="http://schemas.microsoft.com/office/drawing/2014/main" id="{A24005F0-1497-42AD-AA13-7AC26AC50DBE}"/>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C3797C-2E60-454F-BDA4-A25E6C45B6DD}"/>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E0D91E13-877B-47D1-8595-2FE29726BFC2}"/>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14</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30ebdb0c2604592"/>
          <a:stretch xmlns:a="http://schemas.openxmlformats.org/drawingml/2006/main"/>
        </p:blipFill>
        <p:spPr>
          <a:xfrm xmlns:a="http://schemas.openxmlformats.org/drawingml/2006/main">
            <a:off x="2690893" y="1314450"/>
            <a:ext cx="6810214" cy="4476750"/>
          </a:xfrm>
          <a:prstGeom xmlns:a="http://schemas.openxmlformats.org/drawingml/2006/main" prst="rect">
            <a:avLst/>
          </a:prstGeom>
        </p:spPr>
      </p:pic>
    </p:spTree>
    <p:extLst>
      <p:ext uri="{BB962C8B-B14F-4D97-AF65-F5344CB8AC3E}">
        <p14:creationId xmlns:p14="http://schemas.microsoft.com/office/powerpoint/2010/main" val="14041850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D32320-8A8B-4721-B4A8-188A19BD4396}"/>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A8DFE13B-AAEB-4D3C-8277-B072D9BC20A2}"/>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Physical evolution: all resolved moments and liquid mass move coherently</a:t>
            </a:r>
          </a:p>
        </p:txBody>
      </p:sp>
      <p:sp>
        <p:nvSpPr>
          <p:cNvPr id="3" name="">
            <a:extLst xmlns:a="http://schemas.openxmlformats.org/drawingml/2006/main">
              <a:ext uri="{FF2B5EF4-FFF2-40B4-BE49-F238E27FC236}">
                <a16:creationId xmlns:a16="http://schemas.microsoft.com/office/drawing/2014/main" id="{A0B6D817-0E75-420F-AFBB-ADF155C22B77}"/>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EAD29A-1788-4933-87AA-10627C029138}"/>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9DC8C185-9572-48C3-B4F3-97F5A813F7B8}"/>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λ₀ declines, λ₂/λ₃/λ₆ diagnose increasing size and tail development, while total liquid mass stays consistent within the closed in-domain system.</a:t>
            </a:r>
          </a:p>
        </p:txBody>
      </p:sp>
      <p:sp>
        <p:nvSpPr>
          <p:cNvPr id="6" name="">
            <a:extLst xmlns:a="http://schemas.openxmlformats.org/drawingml/2006/main">
              <a:ext uri="{FF2B5EF4-FFF2-40B4-BE49-F238E27FC236}">
                <a16:creationId xmlns:a16="http://schemas.microsoft.com/office/drawing/2014/main" id="{EE98050C-31E7-43C1-B4A5-DCE85760E9F0}"/>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4218047-C156-40A1-8CE6-12DBFCCA36C8}"/>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0483E8F5-BD82-48BD-8C91-2620F1903AB5}"/>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15</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be2c520591346ad"/>
          <a:stretch xmlns:a="http://schemas.openxmlformats.org/drawingml/2006/main"/>
        </p:blipFill>
        <p:spPr>
          <a:xfrm xmlns:a="http://schemas.openxmlformats.org/drawingml/2006/main">
            <a:off x="2276155" y="1314450"/>
            <a:ext cx="7639690" cy="4476750"/>
          </a:xfrm>
          <a:prstGeom xmlns:a="http://schemas.openxmlformats.org/drawingml/2006/main" prst="rect">
            <a:avLst/>
          </a:prstGeom>
        </p:spPr>
      </p:pic>
    </p:spTree>
    <p:extLst>
      <p:ext uri="{BB962C8B-B14F-4D97-AF65-F5344CB8AC3E}">
        <p14:creationId xmlns:p14="http://schemas.microsoft.com/office/powerpoint/2010/main" val="176982740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2B201F-03AD-45C2-9BBB-A751755623C0}"/>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06FF714C-6242-447C-8EC3-C1F3CA0F9D3E}"/>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836"/>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Radius, population and transport measures show the transition into a fast-droplet regime</a:t>
            </a:r>
          </a:p>
        </p:txBody>
      </p:sp>
      <p:sp>
        <p:nvSpPr>
          <p:cNvPr id="3" name="">
            <a:extLst xmlns:a="http://schemas.openxmlformats.org/drawingml/2006/main">
              <a:ext uri="{FF2B5EF4-FFF2-40B4-BE49-F238E27FC236}">
                <a16:creationId xmlns:a16="http://schemas.microsoft.com/office/drawing/2014/main" id="{6D96832A-06AA-40D9-BC89-BD9B4A29CC38}"/>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D3FE78-8546-41C7-8394-5CFFAEDB95C1}"/>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B9BF08FD-6713-4C3D-AE22-B564D7E0AAED}"/>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The coalescence transition is visible jointly in reduced number, increased high-percentile radii, and increasing mass-weighted terminal speed.</a:t>
            </a:r>
          </a:p>
        </p:txBody>
      </p:sp>
      <p:sp>
        <p:nvSpPr>
          <p:cNvPr id="6" name="">
            <a:extLst xmlns:a="http://schemas.openxmlformats.org/drawingml/2006/main">
              <a:ext uri="{FF2B5EF4-FFF2-40B4-BE49-F238E27FC236}">
                <a16:creationId xmlns:a16="http://schemas.microsoft.com/office/drawing/2014/main" id="{7105223E-1F9C-4822-870F-52ED6DCBE709}"/>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2C4312-4635-464E-B734-0D24ED9691FF}"/>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AD0258DB-753D-4772-A61F-BC92D65E55FF}"/>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0be8898b90b4521"/>
          <a:stretch xmlns:a="http://schemas.openxmlformats.org/drawingml/2006/main"/>
        </p:blipFill>
        <p:spPr>
          <a:xfrm xmlns:a="http://schemas.openxmlformats.org/drawingml/2006/main">
            <a:off x="2333011" y="1314450"/>
            <a:ext cx="7525978" cy="4476750"/>
          </a:xfrm>
          <a:prstGeom xmlns:a="http://schemas.openxmlformats.org/drawingml/2006/main" prst="rect">
            <a:avLst/>
          </a:prstGeom>
        </p:spPr>
      </p:pic>
    </p:spTree>
    <p:extLst>
      <p:ext uri="{BB962C8B-B14F-4D97-AF65-F5344CB8AC3E}">
        <p14:creationId xmlns:p14="http://schemas.microsoft.com/office/powerpoint/2010/main" val="157991128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1214B7E-0C43-4718-A33B-770FB6CEE565}"/>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9D125856-48C5-45CB-A167-682119EBFA82}"/>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Number and mass DSDs answer different physical questions</a:t>
            </a:r>
          </a:p>
        </p:txBody>
      </p:sp>
      <p:sp>
        <p:nvSpPr>
          <p:cNvPr id="3" name="">
            <a:extLst xmlns:a="http://schemas.openxmlformats.org/drawingml/2006/main">
              <a:ext uri="{FF2B5EF4-FFF2-40B4-BE49-F238E27FC236}">
                <a16:creationId xmlns:a16="http://schemas.microsoft.com/office/drawing/2014/main" id="{66C9C402-71C3-4D40-B969-E769E511004C}"/>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A70EAA-A775-460E-A6E1-F945A922F205}"/>
              </a:ext>
            </a:extLst>
          </p:cNvPr>
          <p:cNvSpPr>
            <a:spLocks xmlns:a="http://schemas.openxmlformats.org/drawingml/2006/main" noGrp="1"/>
          </p:cNvSpPr>
          <p:nvPr/>
        </p:nvSpPr>
        <p:spPr>
          <a:xfrm xmlns:a="http://schemas.openxmlformats.org/drawingml/2006/main">
            <a:off x="5334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68264103-0FAC-436F-8046-EA8DDF0FB07F}"/>
              </a:ext>
            </a:extLst>
          </p:cNvPr>
          <p:cNvSpPr>
            <a:spLocks xmlns:a="http://schemas.openxmlformats.org/drawingml/2006/main" noGrp="1"/>
          </p:cNvSpPr>
          <p:nvPr/>
        </p:nvSpPr>
        <p:spPr>
          <a:xfrm xmlns:a="http://schemas.openxmlformats.org/drawingml/2006/main">
            <a:off x="63246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6" name="">
            <a:extLst xmlns:a="http://schemas.openxmlformats.org/drawingml/2006/main">
              <a:ext uri="{FF2B5EF4-FFF2-40B4-BE49-F238E27FC236}">
                <a16:creationId xmlns:a16="http://schemas.microsoft.com/office/drawing/2014/main" id="{DFDE16FD-9906-403F-80A1-B7153CDD13FD}"/>
              </a:ext>
            </a:extLst>
          </p:cNvPr>
          <p:cNvSpPr>
            <a:spLocks xmlns:a="http://schemas.openxmlformats.org/drawingml/2006/main" noGrp="1"/>
          </p:cNvSpPr>
          <p:nvPr/>
        </p:nvSpPr>
        <p:spPr>
          <a:xfrm xmlns:a="http://schemas.openxmlformats.org/drawingml/2006/main">
            <a:off x="7048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Number DSD evolution</a:t>
            </a:r>
          </a:p>
        </p:txBody>
      </p:sp>
      <p:sp>
        <p:nvSpPr>
          <p:cNvPr id="7" name="">
            <a:extLst xmlns:a="http://schemas.openxmlformats.org/drawingml/2006/main">
              <a:ext uri="{FF2B5EF4-FFF2-40B4-BE49-F238E27FC236}">
                <a16:creationId xmlns:a16="http://schemas.microsoft.com/office/drawing/2014/main" id="{B1B75B51-E6E8-4C75-B6DD-6DC31A71D8EC}"/>
              </a:ext>
            </a:extLst>
          </p:cNvPr>
          <p:cNvSpPr>
            <a:spLocks xmlns:a="http://schemas.openxmlformats.org/drawingml/2006/main" noGrp="1"/>
          </p:cNvSpPr>
          <p:nvPr/>
        </p:nvSpPr>
        <p:spPr>
          <a:xfrm xmlns:a="http://schemas.openxmlformats.org/drawingml/2006/main">
            <a:off x="64960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Total-droplet-mass DSD evolution</a:t>
            </a:r>
          </a:p>
        </p:txBody>
      </p:sp>
      <p:sp>
        <p:nvSpPr>
          <p:cNvPr id="8" name="">
            <a:extLst xmlns:a="http://schemas.openxmlformats.org/drawingml/2006/main">
              <a:ext uri="{FF2B5EF4-FFF2-40B4-BE49-F238E27FC236}">
                <a16:creationId xmlns:a16="http://schemas.microsoft.com/office/drawing/2014/main" id="{8DCBD7E2-2B03-403A-9DE2-7B2B9ED6D1FD}"/>
              </a:ext>
            </a:extLst>
          </p:cNvPr>
          <p:cNvSpPr>
            <a:spLocks xmlns:a="http://schemas.openxmlformats.org/drawingml/2006/main" noGrp="1"/>
          </p:cNvSpPr>
          <p:nvPr/>
        </p:nvSpPr>
        <p:spPr>
          <a:xfrm xmlns:a="http://schemas.openxmlformats.org/drawingml/2006/main">
            <a:off x="533400" y="5791200"/>
            <a:ext cx="11125200" cy="476250"/>
          </a:xfrm>
          <a:prstGeom xmlns:a="http://schemas.openxmlformats.org/drawingml/2006/main" prst="roundRect">
            <a:avLst>
              <a:gd name="adj" fmla="val 20000"/>
            </a:avLst>
          </a:prstGeom>
          <a:solidFill xmlns:a="http://schemas.openxmlformats.org/drawingml/2006/main">
            <a:srgbClr val="EAF3F5"/>
          </a:solidFill>
          <a:ln xmlns:a="http://schemas.openxmlformats.org/drawingml/2006/main" w="9525">
            <a:solidFill>
              <a:srgbClr val="CAD7E2"/>
            </a:solidFill>
          </a:ln>
        </p:spPr>
      </p:sp>
      <p:sp>
        <p:nvSpPr>
          <p:cNvPr id="9" name="">
            <a:extLst xmlns:a="http://schemas.openxmlformats.org/drawingml/2006/main">
              <a:ext uri="{FF2B5EF4-FFF2-40B4-BE49-F238E27FC236}">
                <a16:creationId xmlns:a16="http://schemas.microsoft.com/office/drawing/2014/main" id="{AEF1575A-40AB-40E2-A788-EFF7F89C60F6}"/>
              </a:ext>
            </a:extLst>
          </p:cNvPr>
          <p:cNvSpPr>
            <a:spLocks xmlns:a="http://schemas.openxmlformats.org/drawingml/2006/main" noGrp="1"/>
          </p:cNvSpPr>
          <p:nvPr/>
        </p:nvSpPr>
        <p:spPr>
          <a:xfrm xmlns:a="http://schemas.openxmlformats.org/drawingml/2006/main">
            <a:off x="704850" y="5895975"/>
            <a:ext cx="10782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341"/>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The number spectrum tracks the abundant small droplets; the mass spectrum reveals where the liquid water has moved. Both are needed to understand collision–coalescence.</a:t>
            </a:r>
          </a:p>
        </p:txBody>
      </p:sp>
      <p:sp>
        <p:nvSpPr>
          <p:cNvPr id="10" name="">
            <a:extLst xmlns:a="http://schemas.openxmlformats.org/drawingml/2006/main">
              <a:ext uri="{FF2B5EF4-FFF2-40B4-BE49-F238E27FC236}">
                <a16:creationId xmlns:a16="http://schemas.microsoft.com/office/drawing/2014/main" id="{5C60B01E-6059-4162-B724-FDA78FC1414A}"/>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4C5BE2-07F9-4115-9FCA-B3DC9017DDB1}"/>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12" name="">
            <a:extLst xmlns:a="http://schemas.openxmlformats.org/drawingml/2006/main">
              <a:ext uri="{FF2B5EF4-FFF2-40B4-BE49-F238E27FC236}">
                <a16:creationId xmlns:a16="http://schemas.microsoft.com/office/drawing/2014/main" id="{9979F9B7-2ECA-4A62-9BD3-EDC644AB8577}"/>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17</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ed893b68672441c"/>
          <a:stretch xmlns:a="http://schemas.openxmlformats.org/drawingml/2006/main"/>
        </p:blipFill>
        <p:spPr>
          <a:xfrm xmlns:a="http://schemas.openxmlformats.org/drawingml/2006/main">
            <a:off x="628650" y="1929217"/>
            <a:ext cx="5143500" cy="3056715"/>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4edfcd103234003"/>
          <a:stretch xmlns:a="http://schemas.openxmlformats.org/drawingml/2006/main"/>
        </p:blipFill>
        <p:spPr>
          <a:xfrm xmlns:a="http://schemas.openxmlformats.org/drawingml/2006/main">
            <a:off x="6419850" y="1934523"/>
            <a:ext cx="5143500" cy="3046104"/>
          </a:xfrm>
          <a:prstGeom xmlns:a="http://schemas.openxmlformats.org/drawingml/2006/main" prst="rect">
            <a:avLst/>
          </a:prstGeom>
        </p:spPr>
      </p:pic>
    </p:spTree>
    <p:extLst>
      <p:ext uri="{BB962C8B-B14F-4D97-AF65-F5344CB8AC3E}">
        <p14:creationId xmlns:p14="http://schemas.microsoft.com/office/powerpoint/2010/main" val="2850893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FF1624-BBDC-4EDD-A76E-A3A743BB750F}"/>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B06110CF-F166-4A09-94D8-BAE8C009B7E1}"/>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1925"/>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Physical moment proxies: λ₂, λ₃ and λ₆ can be read as surface area, liquid water and radar-like tail measures</a:t>
            </a:r>
          </a:p>
        </p:txBody>
      </p:sp>
      <p:sp>
        <p:nvSpPr>
          <p:cNvPr id="3" name="">
            <a:extLst xmlns:a="http://schemas.openxmlformats.org/drawingml/2006/main">
              <a:ext uri="{FF2B5EF4-FFF2-40B4-BE49-F238E27FC236}">
                <a16:creationId xmlns:a16="http://schemas.microsoft.com/office/drawing/2014/main" id="{A867812E-388A-4B3D-B77A-D1E335E11A9B}"/>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08CB54-8D21-4642-8D0F-19ACFD1FB892}"/>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15CF6FFA-4AAA-4BD8-9680-5027D71EA2A6}"/>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491"/>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λ₂, λ₃ and λ₆ are not redundant: each weights the distribution differently, so a resolution that looks adequate for one may still miss the tail-sensitive λ₆ behavior.</a:t>
            </a:r>
          </a:p>
        </p:txBody>
      </p:sp>
      <p:sp>
        <p:nvSpPr>
          <p:cNvPr id="6" name="">
            <a:extLst xmlns:a="http://schemas.openxmlformats.org/drawingml/2006/main">
              <a:ext uri="{FF2B5EF4-FFF2-40B4-BE49-F238E27FC236}">
                <a16:creationId xmlns:a16="http://schemas.microsoft.com/office/drawing/2014/main" id="{7B334001-C194-46F7-BEC6-4295CE3DB01F}"/>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2372151-25A8-407F-84C3-A47195B9A63D}"/>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2F074CF4-E004-4F20-B4B6-20F91EBAC9F7}"/>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18</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34dab3f628f4cb7"/>
          <a:stretch xmlns:a="http://schemas.openxmlformats.org/drawingml/2006/main"/>
        </p:blipFill>
        <p:spPr>
          <a:xfrm xmlns:a="http://schemas.openxmlformats.org/drawingml/2006/main">
            <a:off x="723900" y="1399494"/>
            <a:ext cx="10744200" cy="4306663"/>
          </a:xfrm>
          <a:prstGeom xmlns:a="http://schemas.openxmlformats.org/drawingml/2006/main" prst="rect">
            <a:avLst/>
          </a:prstGeom>
        </p:spPr>
      </p:pic>
    </p:spTree>
    <p:extLst>
      <p:ext uri="{BB962C8B-B14F-4D97-AF65-F5344CB8AC3E}">
        <p14:creationId xmlns:p14="http://schemas.microsoft.com/office/powerpoint/2010/main" val="18229397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4601227-0B8E-408F-B534-EECCB14A540E}"/>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B139A9A3-0ECB-4B0B-935A-78039AD14164}"/>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Terminal-speed transport is useful — but it is not surface rainfall</a:t>
            </a:r>
          </a:p>
        </p:txBody>
      </p:sp>
      <p:sp>
        <p:nvSpPr>
          <p:cNvPr id="3" name="">
            <a:extLst xmlns:a="http://schemas.openxmlformats.org/drawingml/2006/main">
              <a:ext uri="{FF2B5EF4-FFF2-40B4-BE49-F238E27FC236}">
                <a16:creationId xmlns:a16="http://schemas.microsoft.com/office/drawing/2014/main" id="{F128A71F-FA55-4EAF-9498-07995298AEE5}"/>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7D02A4-5A8F-4362-8812-643E03EE0865}"/>
              </a:ext>
            </a:extLst>
          </p:cNvPr>
          <p:cNvSpPr>
            <a:spLocks xmlns:a="http://schemas.openxmlformats.org/drawingml/2006/main" noGrp="1"/>
          </p:cNvSpPr>
          <p:nvPr/>
        </p:nvSpPr>
        <p:spPr>
          <a:xfrm xmlns:a="http://schemas.openxmlformats.org/drawingml/2006/main">
            <a:off x="5334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BD3FBE7F-58E9-4F66-A908-3416EE6EAB3C}"/>
              </a:ext>
            </a:extLst>
          </p:cNvPr>
          <p:cNvSpPr>
            <a:spLocks xmlns:a="http://schemas.openxmlformats.org/drawingml/2006/main" noGrp="1"/>
          </p:cNvSpPr>
          <p:nvPr/>
        </p:nvSpPr>
        <p:spPr>
          <a:xfrm xmlns:a="http://schemas.openxmlformats.org/drawingml/2006/main">
            <a:off x="63246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6" name="">
            <a:extLst xmlns:a="http://schemas.openxmlformats.org/drawingml/2006/main">
              <a:ext uri="{FF2B5EF4-FFF2-40B4-BE49-F238E27FC236}">
                <a16:creationId xmlns:a16="http://schemas.microsoft.com/office/drawing/2014/main" id="{713C692C-D06B-4294-8CD6-CB13447A7EEE}"/>
              </a:ext>
            </a:extLst>
          </p:cNvPr>
          <p:cNvSpPr>
            <a:spLocks xmlns:a="http://schemas.openxmlformats.org/drawingml/2006/main" noGrp="1"/>
          </p:cNvSpPr>
          <p:nvPr/>
        </p:nvSpPr>
        <p:spPr>
          <a:xfrm xmlns:a="http://schemas.openxmlformats.org/drawingml/2006/main">
            <a:off x="7048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Virtual flux and fast-drop development</a:t>
            </a:r>
          </a:p>
        </p:txBody>
      </p:sp>
      <p:sp>
        <p:nvSpPr>
          <p:cNvPr id="7" name="">
            <a:extLst xmlns:a="http://schemas.openxmlformats.org/drawingml/2006/main">
              <a:ext uri="{FF2B5EF4-FFF2-40B4-BE49-F238E27FC236}">
                <a16:creationId xmlns:a16="http://schemas.microsoft.com/office/drawing/2014/main" id="{D48E94A9-9833-414C-B3B2-7B99E9AD4DC9}"/>
              </a:ext>
            </a:extLst>
          </p:cNvPr>
          <p:cNvSpPr>
            <a:spLocks xmlns:a="http://schemas.openxmlformats.org/drawingml/2006/main" noGrp="1"/>
          </p:cNvSpPr>
          <p:nvPr/>
        </p:nvSpPr>
        <p:spPr>
          <a:xfrm xmlns:a="http://schemas.openxmlformats.org/drawingml/2006/main">
            <a:off x="64960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Mass spectrum over terminal speed</a:t>
            </a:r>
          </a:p>
        </p:txBody>
      </p:sp>
      <p:sp>
        <p:nvSpPr>
          <p:cNvPr id="8" name="">
            <a:extLst xmlns:a="http://schemas.openxmlformats.org/drawingml/2006/main">
              <a:ext uri="{FF2B5EF4-FFF2-40B4-BE49-F238E27FC236}">
                <a16:creationId xmlns:a16="http://schemas.microsoft.com/office/drawing/2014/main" id="{5C029A45-A591-4EF5-9672-0B2EC8D19B60}"/>
              </a:ext>
            </a:extLst>
          </p:cNvPr>
          <p:cNvSpPr>
            <a:spLocks xmlns:a="http://schemas.openxmlformats.org/drawingml/2006/main" noGrp="1"/>
          </p:cNvSpPr>
          <p:nvPr/>
        </p:nvSpPr>
        <p:spPr>
          <a:xfrm xmlns:a="http://schemas.openxmlformats.org/drawingml/2006/main">
            <a:off x="533400" y="5791200"/>
            <a:ext cx="11125200" cy="476250"/>
          </a:xfrm>
          <a:prstGeom xmlns:a="http://schemas.openxmlformats.org/drawingml/2006/main" prst="roundRect">
            <a:avLst>
              <a:gd name="adj" fmla="val 20000"/>
            </a:avLst>
          </a:prstGeom>
          <a:solidFill xmlns:a="http://schemas.openxmlformats.org/drawingml/2006/main">
            <a:srgbClr val="EAF3F5"/>
          </a:solidFill>
          <a:ln xmlns:a="http://schemas.openxmlformats.org/drawingml/2006/main" w="9525">
            <a:solidFill>
              <a:srgbClr val="CAD7E2"/>
            </a:solidFill>
          </a:ln>
        </p:spPr>
      </p:sp>
      <p:sp>
        <p:nvSpPr>
          <p:cNvPr id="9" name="">
            <a:extLst xmlns:a="http://schemas.openxmlformats.org/drawingml/2006/main">
              <a:ext uri="{FF2B5EF4-FFF2-40B4-BE49-F238E27FC236}">
                <a16:creationId xmlns:a16="http://schemas.microsoft.com/office/drawing/2014/main" id="{6D8B921D-C16B-42DA-A76B-1AB58C650F4B}"/>
              </a:ext>
            </a:extLst>
          </p:cNvPr>
          <p:cNvSpPr>
            <a:spLocks xmlns:a="http://schemas.openxmlformats.org/drawingml/2006/main" noGrp="1"/>
          </p:cNvSpPr>
          <p:nvPr/>
        </p:nvSpPr>
        <p:spPr>
          <a:xfrm xmlns:a="http://schemas.openxmlformats.org/drawingml/2006/main">
            <a:off x="704850" y="5895975"/>
            <a:ext cx="10782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991"/>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The relevant liquid mass develops in the sub-to-approximately 1 m s⁻¹ range. With null boundaries, use this to describe in-domain fast-drop development, not rain reaching the ground.</a:t>
            </a:r>
          </a:p>
        </p:txBody>
      </p:sp>
      <p:sp>
        <p:nvSpPr>
          <p:cNvPr id="10" name="">
            <a:extLst xmlns:a="http://schemas.openxmlformats.org/drawingml/2006/main">
              <a:ext uri="{FF2B5EF4-FFF2-40B4-BE49-F238E27FC236}">
                <a16:creationId xmlns:a16="http://schemas.microsoft.com/office/drawing/2014/main" id="{186125AE-1243-4DE4-9251-605061E72FFA}"/>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5402A6D-365A-493E-A51B-223FAFA9D698}"/>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12" name="">
            <a:extLst xmlns:a="http://schemas.openxmlformats.org/drawingml/2006/main">
              <a:ext uri="{FF2B5EF4-FFF2-40B4-BE49-F238E27FC236}">
                <a16:creationId xmlns:a16="http://schemas.microsoft.com/office/drawing/2014/main" id="{0FE00646-3FCA-4A34-9E3D-CA0D6C2CD19C}"/>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19</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a61e05d08d6497a"/>
          <a:stretch xmlns:a="http://schemas.openxmlformats.org/drawingml/2006/main"/>
        </p:blipFill>
        <p:spPr>
          <a:xfrm xmlns:a="http://schemas.openxmlformats.org/drawingml/2006/main">
            <a:off x="628650" y="2368823"/>
            <a:ext cx="5143500" cy="2177503"/>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846f202ce304f3a"/>
          <a:stretch xmlns:a="http://schemas.openxmlformats.org/drawingml/2006/main"/>
        </p:blipFill>
        <p:spPr>
          <a:xfrm xmlns:a="http://schemas.openxmlformats.org/drawingml/2006/main">
            <a:off x="6419850" y="2303430"/>
            <a:ext cx="5143500" cy="2308289"/>
          </a:xfrm>
          <a:prstGeom xmlns:a="http://schemas.openxmlformats.org/drawingml/2006/main" prst="rect">
            <a:avLst/>
          </a:prstGeom>
        </p:spPr>
      </p:pic>
    </p:spTree>
    <p:extLst>
      <p:ext uri="{BB962C8B-B14F-4D97-AF65-F5344CB8AC3E}">
        <p14:creationId xmlns:p14="http://schemas.microsoft.com/office/powerpoint/2010/main" val="9807105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413F4A-EDC5-46BE-A5EB-47FE9ED65ECE}"/>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4E97E1C1-D820-41F1-8486-82F6A04AF85B}"/>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Physical convergence audit independently corroborates Ncell = 1,024</a:t>
            </a:r>
          </a:p>
        </p:txBody>
      </p:sp>
      <p:sp>
        <p:nvSpPr>
          <p:cNvPr id="3" name="">
            <a:extLst xmlns:a="http://schemas.openxmlformats.org/drawingml/2006/main">
              <a:ext uri="{FF2B5EF4-FFF2-40B4-BE49-F238E27FC236}">
                <a16:creationId xmlns:a16="http://schemas.microsoft.com/office/drawing/2014/main" id="{F9F427EE-D312-42C8-97F3-259A4D39FC6E}"/>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F0145E-9CD4-4A66-9CD3-9F70E7614622}"/>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7038E4E5-1867-4BB5-8C18-312B0A5F83D3}"/>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253"/>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For 1,024 vs 8,192 SDs per cell, the bootstrap upper bounds are A 1.00%, L 1.88%, Z 5.71%, speed 2.35%, flux 3.53% — all inside their stated margins.</a:t>
            </a:r>
          </a:p>
        </p:txBody>
      </p:sp>
      <p:sp>
        <p:nvSpPr>
          <p:cNvPr id="6" name="">
            <a:extLst xmlns:a="http://schemas.openxmlformats.org/drawingml/2006/main">
              <a:ext uri="{FF2B5EF4-FFF2-40B4-BE49-F238E27FC236}">
                <a16:creationId xmlns:a16="http://schemas.microsoft.com/office/drawing/2014/main" id="{EA44861C-5DEC-4362-82A9-9B4871742468}"/>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23FA43-8BCC-4D68-932B-37D5D8B8699E}"/>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B49375DE-FEDB-4A38-BCA6-147C8439F89B}"/>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20</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144a214450c4ca0"/>
          <a:stretch xmlns:a="http://schemas.openxmlformats.org/drawingml/2006/main"/>
        </p:blipFill>
        <p:spPr>
          <a:xfrm xmlns:a="http://schemas.openxmlformats.org/drawingml/2006/main">
            <a:off x="2333011" y="1314450"/>
            <a:ext cx="7525978" cy="4476750"/>
          </a:xfrm>
          <a:prstGeom xmlns:a="http://schemas.openxmlformats.org/drawingml/2006/main" prst="rect">
            <a:avLst/>
          </a:prstGeom>
        </p:spPr>
      </p:pic>
    </p:spTree>
    <p:extLst>
      <p:ext uri="{BB962C8B-B14F-4D97-AF65-F5344CB8AC3E}">
        <p14:creationId xmlns:p14="http://schemas.microsoft.com/office/powerpoint/2010/main" val="174203017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D30E7E-F007-4B9E-94B7-695D9BF3B9E3}"/>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4BF8FBCD-C593-46A6-9AE0-6609C1B44905}"/>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Fast-drop development time is a timing diagnostic, not a rainfall-onset claim</a:t>
            </a:r>
          </a:p>
        </p:txBody>
      </p:sp>
      <p:sp>
        <p:nvSpPr>
          <p:cNvPr id="3" name="">
            <a:extLst xmlns:a="http://schemas.openxmlformats.org/drawingml/2006/main">
              <a:ext uri="{FF2B5EF4-FFF2-40B4-BE49-F238E27FC236}">
                <a16:creationId xmlns:a16="http://schemas.microsoft.com/office/drawing/2014/main" id="{215C9644-4F76-4E69-AC93-C6693BBE5CF5}"/>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E41E4E-D8C5-448F-9C39-D6B6ABAF8B66}"/>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35C72CD7-EA03-40E8-A6F8-EB40EC8BA67A}"/>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097"/>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Definition: first stored time at which ≥1% of in-domain liquid mass has vₜ ≥ 1 m s⁻¹. High-resolution rows cluster near 68–70 min; the 120-s output grid limits timing resolution.</a:t>
            </a:r>
          </a:p>
        </p:txBody>
      </p:sp>
      <p:sp>
        <p:nvSpPr>
          <p:cNvPr id="6" name="">
            <a:extLst xmlns:a="http://schemas.openxmlformats.org/drawingml/2006/main">
              <a:ext uri="{FF2B5EF4-FFF2-40B4-BE49-F238E27FC236}">
                <a16:creationId xmlns:a16="http://schemas.microsoft.com/office/drawing/2014/main" id="{749C40AD-16DC-4243-98DC-52D1F67B4826}"/>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47808A-5D20-4A62-BEB3-D4BDEFBBB481}"/>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5705134B-20DE-4514-91FC-115C519530DD}"/>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21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cd6dc2c9a04af5"/>
          <a:stretch xmlns:a="http://schemas.openxmlformats.org/drawingml/2006/main"/>
        </p:blipFill>
        <p:spPr>
          <a:xfrm xmlns:a="http://schemas.openxmlformats.org/drawingml/2006/main">
            <a:off x="1468955" y="1314450"/>
            <a:ext cx="9254090" cy="4476750"/>
          </a:xfrm>
          <a:prstGeom xmlns:a="http://schemas.openxmlformats.org/drawingml/2006/main" prst="rect">
            <a:avLst/>
          </a:prstGeom>
        </p:spPr>
      </p:pic>
    </p:spTree>
    <p:extLst>
      <p:ext uri="{BB962C8B-B14F-4D97-AF65-F5344CB8AC3E}">
        <p14:creationId xmlns:p14="http://schemas.microsoft.com/office/powerpoint/2010/main" val="19539518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0735F8-0A52-4E57-8447-88B32902D376}"/>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B7326CA8-3048-47E5-9656-9D012F52252F}"/>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883"/>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Spatial structure: coarse Ncell is visibly noisy; resolved rows retain the same pattern</a:t>
            </a:r>
          </a:p>
        </p:txBody>
      </p:sp>
      <p:sp>
        <p:nvSpPr>
          <p:cNvPr id="3" name="">
            <a:extLst xmlns:a="http://schemas.openxmlformats.org/drawingml/2006/main">
              <a:ext uri="{FF2B5EF4-FFF2-40B4-BE49-F238E27FC236}">
                <a16:creationId xmlns:a16="http://schemas.microsoft.com/office/drawing/2014/main" id="{C911FD85-C674-4F70-AA60-9DD548F9CF2E}"/>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B2E65DC-548E-40F9-815C-43AE4047B9CE}"/>
              </a:ext>
            </a:extLst>
          </p:cNvPr>
          <p:cNvSpPr>
            <a:spLocks xmlns:a="http://schemas.openxmlformats.org/drawingml/2006/main" noGrp="1"/>
          </p:cNvSpPr>
          <p:nvPr/>
        </p:nvSpPr>
        <p:spPr>
          <a:xfrm xmlns:a="http://schemas.openxmlformats.org/drawingml/2006/main">
            <a:off x="533400" y="5905500"/>
            <a:ext cx="11125200" cy="438150"/>
          </a:xfrm>
          <a:prstGeom xmlns:a="http://schemas.openxmlformats.org/drawingml/2006/main" prst="roundRect">
            <a:avLst>
              <a:gd name="adj" fmla="val 21739"/>
            </a:avLst>
          </a:prstGeom>
          <a:solidFill xmlns:a="http://schemas.openxmlformats.org/drawingml/2006/main">
            <a:srgbClr val="EAF3F5"/>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D5478E02-2313-41DE-9DC7-FD4F0ECD8436}"/>
              </a:ext>
            </a:extLst>
          </p:cNvPr>
          <p:cNvSpPr>
            <a:spLocks xmlns:a="http://schemas.openxmlformats.org/drawingml/2006/main" noGrp="1"/>
          </p:cNvSpPr>
          <p:nvPr/>
        </p:nvSpPr>
        <p:spPr>
          <a:xfrm xmlns:a="http://schemas.openxmlformats.org/drawingml/2006/main">
            <a:off x="704850" y="6010275"/>
            <a:ext cx="1078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709"/>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The native-grid mass fields provide a spatial test that scalar domain means cannot: Ncell = 2 is speckled, whereas Ncell = 1,024 and 8,192 agree on the broad redistribution pattern.</a:t>
            </a:r>
          </a:p>
        </p:txBody>
      </p:sp>
      <p:sp>
        <p:nvSpPr>
          <p:cNvPr id="6" name="">
            <a:extLst xmlns:a="http://schemas.openxmlformats.org/drawingml/2006/main">
              <a:ext uri="{FF2B5EF4-FFF2-40B4-BE49-F238E27FC236}">
                <a16:creationId xmlns:a16="http://schemas.microsoft.com/office/drawing/2014/main" id="{4246B20B-1650-48F1-B071-4A428C59B620}"/>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8EC5644-82D0-4AEC-B99A-4752386B5D9E}"/>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8" name="">
            <a:extLst xmlns:a="http://schemas.openxmlformats.org/drawingml/2006/main">
              <a:ext uri="{FF2B5EF4-FFF2-40B4-BE49-F238E27FC236}">
                <a16:creationId xmlns:a16="http://schemas.microsoft.com/office/drawing/2014/main" id="{64C4606E-F93A-45D4-9B68-B39B093C9B80}"/>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22</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f2c7dc8240d41dd"/>
          <a:stretch xmlns:a="http://schemas.openxmlformats.org/drawingml/2006/main"/>
        </p:blipFill>
        <p:spPr>
          <a:xfrm xmlns:a="http://schemas.openxmlformats.org/drawingml/2006/main">
            <a:off x="2937676" y="1314450"/>
            <a:ext cx="6316649" cy="4476750"/>
          </a:xfrm>
          <a:prstGeom xmlns:a="http://schemas.openxmlformats.org/drawingml/2006/main" prst="rect">
            <a:avLst/>
          </a:prstGeom>
        </p:spPr>
      </p:pic>
    </p:spTree>
    <p:extLst>
      <p:ext uri="{BB962C8B-B14F-4D97-AF65-F5344CB8AC3E}">
        <p14:creationId xmlns:p14="http://schemas.microsoft.com/office/powerpoint/2010/main" val="41400373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F8229EA-9FFA-4679-82E8-2B8788EC52CC}"/>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EDC40C2E-CF49-4C43-A63F-2652BB214E8B}"/>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317"/>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Size-class view: drizzle and rain categories make the DSD evolution easier to read</a:t>
            </a:r>
          </a:p>
        </p:txBody>
      </p:sp>
      <p:sp>
        <p:nvSpPr>
          <p:cNvPr id="3" name="">
            <a:extLst xmlns:a="http://schemas.openxmlformats.org/drawingml/2006/main">
              <a:ext uri="{FF2B5EF4-FFF2-40B4-BE49-F238E27FC236}">
                <a16:creationId xmlns:a16="http://schemas.microsoft.com/office/drawing/2014/main" id="{411515C4-BE3B-4351-9EDE-889981C422D3}"/>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43D175-DA21-485D-8B61-BD8DE4048199}"/>
              </a:ext>
            </a:extLst>
          </p:cNvPr>
          <p:cNvSpPr>
            <a:spLocks xmlns:a="http://schemas.openxmlformats.org/drawingml/2006/main" noGrp="1"/>
          </p:cNvSpPr>
          <p:nvPr/>
        </p:nvSpPr>
        <p:spPr>
          <a:xfrm xmlns:a="http://schemas.openxmlformats.org/drawingml/2006/main">
            <a:off x="5334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0B637E84-9529-4CDA-AC32-0E053E244382}"/>
              </a:ext>
            </a:extLst>
          </p:cNvPr>
          <p:cNvSpPr>
            <a:spLocks xmlns:a="http://schemas.openxmlformats.org/drawingml/2006/main" noGrp="1"/>
          </p:cNvSpPr>
          <p:nvPr/>
        </p:nvSpPr>
        <p:spPr>
          <a:xfrm xmlns:a="http://schemas.openxmlformats.org/drawingml/2006/main">
            <a:off x="63246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6" name="">
            <a:extLst xmlns:a="http://schemas.openxmlformats.org/drawingml/2006/main">
              <a:ext uri="{FF2B5EF4-FFF2-40B4-BE49-F238E27FC236}">
                <a16:creationId xmlns:a16="http://schemas.microsoft.com/office/drawing/2014/main" id="{5753A09E-E574-4328-9F95-CEE72AD7428B}"/>
              </a:ext>
            </a:extLst>
          </p:cNvPr>
          <p:cNvSpPr>
            <a:spLocks xmlns:a="http://schemas.openxmlformats.org/drawingml/2006/main" noGrp="1"/>
          </p:cNvSpPr>
          <p:nvPr/>
        </p:nvSpPr>
        <p:spPr>
          <a:xfrm xmlns:a="http://schemas.openxmlformats.org/drawingml/2006/main">
            <a:off x="7048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Mass DSD in time–radius space (Ncell=1,024)</a:t>
            </a:r>
          </a:p>
        </p:txBody>
      </p:sp>
      <p:sp>
        <p:nvSpPr>
          <p:cNvPr id="7" name="">
            <a:extLst xmlns:a="http://schemas.openxmlformats.org/drawingml/2006/main">
              <a:ext uri="{FF2B5EF4-FFF2-40B4-BE49-F238E27FC236}">
                <a16:creationId xmlns:a16="http://schemas.microsoft.com/office/drawing/2014/main" id="{0EB2CA34-F016-4AFE-9818-69AB87C18DDE}"/>
              </a:ext>
            </a:extLst>
          </p:cNvPr>
          <p:cNvSpPr>
            <a:spLocks xmlns:a="http://schemas.openxmlformats.org/drawingml/2006/main" noGrp="1"/>
          </p:cNvSpPr>
          <p:nvPr/>
        </p:nvSpPr>
        <p:spPr>
          <a:xfrm xmlns:a="http://schemas.openxmlformats.org/drawingml/2006/main">
            <a:off x="64960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Mass fractions by size class</a:t>
            </a:r>
          </a:p>
        </p:txBody>
      </p:sp>
      <p:sp>
        <p:nvSpPr>
          <p:cNvPr id="8" name="">
            <a:extLst xmlns:a="http://schemas.openxmlformats.org/drawingml/2006/main">
              <a:ext uri="{FF2B5EF4-FFF2-40B4-BE49-F238E27FC236}">
                <a16:creationId xmlns:a16="http://schemas.microsoft.com/office/drawing/2014/main" id="{8EDD4EBB-1303-48BB-B0AE-8063572A4804}"/>
              </a:ext>
            </a:extLst>
          </p:cNvPr>
          <p:cNvSpPr>
            <a:spLocks xmlns:a="http://schemas.openxmlformats.org/drawingml/2006/main" noGrp="1"/>
          </p:cNvSpPr>
          <p:nvPr/>
        </p:nvSpPr>
        <p:spPr>
          <a:xfrm xmlns:a="http://schemas.openxmlformats.org/drawingml/2006/main">
            <a:off x="533400" y="5791200"/>
            <a:ext cx="11125200" cy="476250"/>
          </a:xfrm>
          <a:prstGeom xmlns:a="http://schemas.openxmlformats.org/drawingml/2006/main" prst="roundRect">
            <a:avLst>
              <a:gd name="adj" fmla="val 20000"/>
            </a:avLst>
          </a:prstGeom>
          <a:solidFill xmlns:a="http://schemas.openxmlformats.org/drawingml/2006/main">
            <a:srgbClr val="EAF3F5"/>
          </a:solidFill>
          <a:ln xmlns:a="http://schemas.openxmlformats.org/drawingml/2006/main" w="9525">
            <a:solidFill>
              <a:srgbClr val="CAD7E2"/>
            </a:solidFill>
          </a:ln>
        </p:spPr>
      </p:sp>
      <p:sp>
        <p:nvSpPr>
          <p:cNvPr id="9" name="">
            <a:extLst xmlns:a="http://schemas.openxmlformats.org/drawingml/2006/main">
              <a:ext uri="{FF2B5EF4-FFF2-40B4-BE49-F238E27FC236}">
                <a16:creationId xmlns:a16="http://schemas.microsoft.com/office/drawing/2014/main" id="{E83CA8B7-0543-4ABB-9475-F423BF75CD38}"/>
              </a:ext>
            </a:extLst>
          </p:cNvPr>
          <p:cNvSpPr>
            <a:spLocks xmlns:a="http://schemas.openxmlformats.org/drawingml/2006/main" noGrp="1"/>
          </p:cNvSpPr>
          <p:nvPr/>
        </p:nvSpPr>
        <p:spPr>
          <a:xfrm xmlns:a="http://schemas.openxmlformats.org/drawingml/2006/main">
            <a:off x="704850" y="5895975"/>
            <a:ext cx="10782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7903"/>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Size classes are a descriptive lens: they reveal the transfer of liquid mass through the spectrum without replacing the quantitative DSD and moment convergence criteria.</a:t>
            </a:r>
          </a:p>
        </p:txBody>
      </p:sp>
      <p:sp>
        <p:nvSpPr>
          <p:cNvPr id="10" name="">
            <a:extLst xmlns:a="http://schemas.openxmlformats.org/drawingml/2006/main">
              <a:ext uri="{FF2B5EF4-FFF2-40B4-BE49-F238E27FC236}">
                <a16:creationId xmlns:a16="http://schemas.microsoft.com/office/drawing/2014/main" id="{D5A4B0ED-9400-4099-AD4C-CDCA8E57354A}"/>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BFB64E-4336-492A-817D-3FDE8D6AE025}"/>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12" name="">
            <a:extLst xmlns:a="http://schemas.openxmlformats.org/drawingml/2006/main">
              <a:ext uri="{FF2B5EF4-FFF2-40B4-BE49-F238E27FC236}">
                <a16:creationId xmlns:a16="http://schemas.microsoft.com/office/drawing/2014/main" id="{9493E925-469E-4946-B97E-FF29AC5ACFAC}"/>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23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c18913497c84216"/>
          <a:stretch xmlns:a="http://schemas.openxmlformats.org/drawingml/2006/main"/>
        </p:blipFill>
        <p:spPr>
          <a:xfrm xmlns:a="http://schemas.openxmlformats.org/drawingml/2006/main">
            <a:off x="6419850" y="2570923"/>
            <a:ext cx="5143500" cy="1773305"/>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44aa833280847f1"/>
          <a:stretch xmlns:a="http://schemas.openxmlformats.org/drawingml/2006/main"/>
        </p:blipFill>
        <p:spPr>
          <a:xfrm xmlns:a="http://schemas.openxmlformats.org/drawingml/2006/main">
            <a:off x="628650" y="1950335"/>
            <a:ext cx="5143500" cy="3014479"/>
          </a:xfrm>
          <a:prstGeom xmlns:a="http://schemas.openxmlformats.org/drawingml/2006/main" prst="rect">
            <a:avLst/>
          </a:prstGeom>
        </p:spPr>
      </p:pic>
    </p:spTree>
    <p:extLst>
      <p:ext uri="{BB962C8B-B14F-4D97-AF65-F5344CB8AC3E}">
        <p14:creationId xmlns:p14="http://schemas.microsoft.com/office/powerpoint/2010/main" val="149366180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8982C0B-8ECD-48BD-8A67-104E2B0F803C}"/>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2-D CLEO CONSTTHERMO2D</a:t>
            </a:r>
          </a:p>
        </p:txBody>
      </p:sp>
      <p:sp>
        <p:nvSpPr>
          <p:cNvPr id="2" name="">
            <a:extLst xmlns:a="http://schemas.openxmlformats.org/drawingml/2006/main">
              <a:ext uri="{FF2B5EF4-FFF2-40B4-BE49-F238E27FC236}">
                <a16:creationId xmlns:a16="http://schemas.microsoft.com/office/drawing/2014/main" id="{29143663-59EB-442C-8253-0DC2203380E2}"/>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873"/>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Native-grid mass fields and animation inputs preserve the actual 2-minute output cadence</a:t>
            </a:r>
          </a:p>
        </p:txBody>
      </p:sp>
      <p:sp>
        <p:nvSpPr>
          <p:cNvPr id="3" name="">
            <a:extLst xmlns:a="http://schemas.openxmlformats.org/drawingml/2006/main">
              <a:ext uri="{FF2B5EF4-FFF2-40B4-BE49-F238E27FC236}">
                <a16:creationId xmlns:a16="http://schemas.microsoft.com/office/drawing/2014/main" id="{34389103-36CB-49C4-BEB6-89C5483E8F18}"/>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D81915-393E-40B1-A090-7651EB7D53B0}"/>
              </a:ext>
            </a:extLst>
          </p:cNvPr>
          <p:cNvSpPr>
            <a:spLocks xmlns:a="http://schemas.openxmlformats.org/drawingml/2006/main" noGrp="1"/>
          </p:cNvSpPr>
          <p:nvPr/>
        </p:nvSpPr>
        <p:spPr>
          <a:xfrm xmlns:a="http://schemas.openxmlformats.org/drawingml/2006/main">
            <a:off x="5334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2C203773-3FA4-4A37-B29C-14D381CFB1A4}"/>
              </a:ext>
            </a:extLst>
          </p:cNvPr>
          <p:cNvSpPr>
            <a:spLocks xmlns:a="http://schemas.openxmlformats.org/drawingml/2006/main" noGrp="1"/>
          </p:cNvSpPr>
          <p:nvPr/>
        </p:nvSpPr>
        <p:spPr>
          <a:xfrm xmlns:a="http://schemas.openxmlformats.org/drawingml/2006/main">
            <a:off x="6324600" y="1352550"/>
            <a:ext cx="5334000" cy="4248150"/>
          </a:xfrm>
          <a:prstGeom xmlns:a="http://schemas.openxmlformats.org/drawingml/2006/main" prst="roundRect">
            <a:avLst>
              <a:gd name="adj" fmla="val 1794"/>
            </a:avLst>
          </a:prstGeom>
          <a:solidFill xmlns:a="http://schemas.openxmlformats.org/drawingml/2006/main">
            <a:srgbClr val="F5F8FA"/>
          </a:solidFill>
          <a:ln xmlns:a="http://schemas.openxmlformats.org/drawingml/2006/main" w="9525">
            <a:solidFill>
              <a:srgbClr val="CAD7E2"/>
            </a:solidFill>
          </a:ln>
        </p:spPr>
      </p:sp>
      <p:sp>
        <p:nvSpPr>
          <p:cNvPr id="6" name="">
            <a:extLst xmlns:a="http://schemas.openxmlformats.org/drawingml/2006/main">
              <a:ext uri="{FF2B5EF4-FFF2-40B4-BE49-F238E27FC236}">
                <a16:creationId xmlns:a16="http://schemas.microsoft.com/office/drawing/2014/main" id="{47FD6519-9E03-4F9D-B56F-DD21D8CE3FD7}"/>
              </a:ext>
            </a:extLst>
          </p:cNvPr>
          <p:cNvSpPr>
            <a:spLocks xmlns:a="http://schemas.openxmlformats.org/drawingml/2006/main" noGrp="1"/>
          </p:cNvSpPr>
          <p:nvPr/>
        </p:nvSpPr>
        <p:spPr>
          <a:xfrm xmlns:a="http://schemas.openxmlformats.org/drawingml/2006/main">
            <a:off x="7048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Ncell=1,024 native-grid mass field</a:t>
            </a:r>
          </a:p>
        </p:txBody>
      </p:sp>
      <p:sp>
        <p:nvSpPr>
          <p:cNvPr id="7" name="">
            <a:extLst xmlns:a="http://schemas.openxmlformats.org/drawingml/2006/main">
              <a:ext uri="{FF2B5EF4-FFF2-40B4-BE49-F238E27FC236}">
                <a16:creationId xmlns:a16="http://schemas.microsoft.com/office/drawing/2014/main" id="{B08B099B-DCDD-4A86-8415-56B9ADE61881}"/>
              </a:ext>
            </a:extLst>
          </p:cNvPr>
          <p:cNvSpPr>
            <a:spLocks xmlns:a="http://schemas.openxmlformats.org/drawingml/2006/main" noGrp="1"/>
          </p:cNvSpPr>
          <p:nvPr/>
        </p:nvSpPr>
        <p:spPr>
          <a:xfrm xmlns:a="http://schemas.openxmlformats.org/drawingml/2006/main">
            <a:off x="6496050" y="13906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486581"/>
                </a:solidFill>
                <a:latin typeface="Helvetica Neue"/>
                <a:ea typeface="Helvetica Neue"/>
                <a:cs typeface="Helvetica Neue"/>
              </a:defRPr>
            </a:pPr>
            <a:r>
              <a:rPr sz="900" b="1" i="0">
                <a:solidFill>
                  <a:srgbClr val="486581"/>
                </a:solidFill>
                <a:latin typeface="Helvetica Neue"/>
                <a:ea typeface="Helvetica Neue"/>
                <a:cs typeface="Helvetica Neue"/>
              </a:rPr>
              <a:t>First frame of 0–120 min spatial animation</a:t>
            </a:r>
          </a:p>
        </p:txBody>
      </p:sp>
      <p:sp>
        <p:nvSpPr>
          <p:cNvPr id="8" name="">
            <a:extLst xmlns:a="http://schemas.openxmlformats.org/drawingml/2006/main">
              <a:ext uri="{FF2B5EF4-FFF2-40B4-BE49-F238E27FC236}">
                <a16:creationId xmlns:a16="http://schemas.microsoft.com/office/drawing/2014/main" id="{6F1B59E6-83B4-437D-B20E-393D66665238}"/>
              </a:ext>
            </a:extLst>
          </p:cNvPr>
          <p:cNvSpPr>
            <a:spLocks xmlns:a="http://schemas.openxmlformats.org/drawingml/2006/main" noGrp="1"/>
          </p:cNvSpPr>
          <p:nvPr/>
        </p:nvSpPr>
        <p:spPr>
          <a:xfrm xmlns:a="http://schemas.openxmlformats.org/drawingml/2006/main">
            <a:off x="533400" y="5791200"/>
            <a:ext cx="11125200" cy="476250"/>
          </a:xfrm>
          <a:prstGeom xmlns:a="http://schemas.openxmlformats.org/drawingml/2006/main" prst="roundRect">
            <a:avLst>
              <a:gd name="adj" fmla="val 20000"/>
            </a:avLst>
          </a:prstGeom>
          <a:solidFill xmlns:a="http://schemas.openxmlformats.org/drawingml/2006/main">
            <a:srgbClr val="EAF3F5"/>
          </a:solidFill>
          <a:ln xmlns:a="http://schemas.openxmlformats.org/drawingml/2006/main" w="9525">
            <a:solidFill>
              <a:srgbClr val="CAD7E2"/>
            </a:solidFill>
          </a:ln>
        </p:spPr>
      </p:sp>
      <p:sp>
        <p:nvSpPr>
          <p:cNvPr id="9" name="">
            <a:extLst xmlns:a="http://schemas.openxmlformats.org/drawingml/2006/main">
              <a:ext uri="{FF2B5EF4-FFF2-40B4-BE49-F238E27FC236}">
                <a16:creationId xmlns:a16="http://schemas.microsoft.com/office/drawing/2014/main" id="{CFCE7AE0-0A1B-4E3D-9F3D-3F9442416F47}"/>
              </a:ext>
            </a:extLst>
          </p:cNvPr>
          <p:cNvSpPr>
            <a:spLocks xmlns:a="http://schemas.openxmlformats.org/drawingml/2006/main" noGrp="1"/>
          </p:cNvSpPr>
          <p:nvPr/>
        </p:nvSpPr>
        <p:spPr>
          <a:xfrm xmlns:a="http://schemas.openxmlformats.org/drawingml/2006/main">
            <a:off x="704850" y="5895975"/>
            <a:ext cx="10782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102A43"/>
                </a:solidFill>
                <a:latin typeface="Helvetica Neue"/>
                <a:ea typeface="Helvetica Neue"/>
                <a:cs typeface="Helvetica Neue"/>
              </a:defRPr>
            </a:pPr>
            <a:r>
              <a:rPr sz="1200" b="1" i="0">
                <a:solidFill>
                  <a:srgbClr val="102A43"/>
                </a:solidFill>
                <a:latin typeface="Helvetica Neue"/>
                <a:ea typeface="Helvetica Neue"/>
                <a:cs typeface="Helvetica Neue"/>
              </a:rPr>
              <a:t>The animation contains all 61 stored frames; no temporal interpolation or artificial spatial smoothing was added.</a:t>
            </a:r>
          </a:p>
        </p:txBody>
      </p:sp>
      <p:sp>
        <p:nvSpPr>
          <p:cNvPr id="10" name="">
            <a:extLst xmlns:a="http://schemas.openxmlformats.org/drawingml/2006/main">
              <a:ext uri="{FF2B5EF4-FFF2-40B4-BE49-F238E27FC236}">
                <a16:creationId xmlns:a16="http://schemas.microsoft.com/office/drawing/2014/main" id="{973B6012-6922-4A72-9B80-94864D8E5DA6}"/>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2435A2-532E-4E46-B78E-B4FC400C7B10}"/>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12" name="">
            <a:extLst xmlns:a="http://schemas.openxmlformats.org/drawingml/2006/main">
              <a:ext uri="{FF2B5EF4-FFF2-40B4-BE49-F238E27FC236}">
                <a16:creationId xmlns:a16="http://schemas.microsoft.com/office/drawing/2014/main" id="{BE7CAD6B-C20C-4BE1-A975-E6D5DFA3BFC7}"/>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24</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4ca0b990f304d3e"/>
          <a:stretch xmlns:a="http://schemas.openxmlformats.org/drawingml/2006/main"/>
        </p:blipFill>
        <p:spPr>
          <a:xfrm xmlns:a="http://schemas.openxmlformats.org/drawingml/2006/main">
            <a:off x="6419850" y="2310094"/>
            <a:ext cx="5143500" cy="2294962"/>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086b26d8c9e4c4d"/>
          <a:stretch xmlns:a="http://schemas.openxmlformats.org/drawingml/2006/main"/>
        </p:blipFill>
        <p:spPr>
          <a:xfrm xmlns:a="http://schemas.openxmlformats.org/drawingml/2006/main">
            <a:off x="628650" y="2325790"/>
            <a:ext cx="5143500" cy="2263571"/>
          </a:xfrm>
          <a:prstGeom xmlns:a="http://schemas.openxmlformats.org/drawingml/2006/main" prst="rect">
            <a:avLst/>
          </a:prstGeom>
        </p:spPr>
      </p:pic>
    </p:spTree>
    <p:extLst>
      <p:ext uri="{BB962C8B-B14F-4D97-AF65-F5344CB8AC3E}">
        <p14:creationId xmlns:p14="http://schemas.microsoft.com/office/powerpoint/2010/main" val="35613303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A8A1FED-1965-4152-8E5B-51CC0236F54E}"/>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CONCLUSION</a:t>
            </a:r>
          </a:p>
        </p:txBody>
      </p:sp>
      <p:sp>
        <p:nvSpPr>
          <p:cNvPr id="2" name="">
            <a:extLst xmlns:a="http://schemas.openxmlformats.org/drawingml/2006/main">
              <a:ext uri="{FF2B5EF4-FFF2-40B4-BE49-F238E27FC236}">
                <a16:creationId xmlns:a16="http://schemas.microsoft.com/office/drawing/2014/main" id="{307A4162-3579-427E-ADF5-4076D2AA59A9}"/>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Selection: Ncell = 1,024 is the smallest tested defensible choice</a:t>
            </a:r>
          </a:p>
        </p:txBody>
      </p:sp>
      <p:sp>
        <p:nvSpPr>
          <p:cNvPr id="3" name="">
            <a:extLst xmlns:a="http://schemas.openxmlformats.org/drawingml/2006/main">
              <a:ext uri="{FF2B5EF4-FFF2-40B4-BE49-F238E27FC236}">
                <a16:creationId xmlns:a16="http://schemas.microsoft.com/office/drawing/2014/main" id="{3C2B947B-9F4F-49DE-A4A5-7997302E979F}"/>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EB0797-CE57-46D4-B554-818790BB3B20}"/>
              </a:ext>
            </a:extLst>
          </p:cNvPr>
          <p:cNvSpPr>
            <a:spLocks xmlns:a="http://schemas.openxmlformats.org/drawingml/2006/main" noGrp="1"/>
          </p:cNvSpPr>
          <p:nvPr/>
        </p:nvSpPr>
        <p:spPr>
          <a:xfrm xmlns:a="http://schemas.openxmlformats.org/drawingml/2006/main">
            <a:off x="742950" y="1543050"/>
            <a:ext cx="4667250" cy="3390900"/>
          </a:xfrm>
          <a:prstGeom xmlns:a="http://schemas.openxmlformats.org/drawingml/2006/main" prst="roundRect">
            <a:avLst>
              <a:gd name="adj" fmla="val 3933"/>
            </a:avLst>
          </a:prstGeom>
          <a:solidFill xmlns:a="http://schemas.openxmlformats.org/drawingml/2006/main">
            <a:srgbClr val="082B4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0DBD124-CCD7-471A-BCC8-A811FB2486B1}"/>
              </a:ext>
            </a:extLst>
          </p:cNvPr>
          <p:cNvSpPr>
            <a:spLocks xmlns:a="http://schemas.openxmlformats.org/drawingml/2006/main" noGrp="1"/>
          </p:cNvSpPr>
          <p:nvPr/>
        </p:nvSpPr>
        <p:spPr>
          <a:xfrm xmlns:a="http://schemas.openxmlformats.org/drawingml/2006/main">
            <a:off x="1009650" y="18478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2CA6A4"/>
                </a:solidFill>
                <a:latin typeface="Helvetica Neue"/>
                <a:ea typeface="Helvetica Neue"/>
                <a:cs typeface="Helvetica Neue"/>
              </a:defRPr>
            </a:pPr>
            <a:r>
              <a:rPr sz="1500" b="1" i="0">
                <a:solidFill>
                  <a:srgbClr val="2CA6A4"/>
                </a:solidFill>
                <a:latin typeface="Helvetica Neue"/>
                <a:ea typeface="Helvetica Neue"/>
                <a:cs typeface="Helvetica Neue"/>
              </a:rPr>
              <a:t>Operational result</a:t>
            </a:r>
          </a:p>
        </p:txBody>
      </p:sp>
      <p:sp>
        <p:nvSpPr>
          <p:cNvPr id="6" name="">
            <a:extLst xmlns:a="http://schemas.openxmlformats.org/drawingml/2006/main">
              <a:ext uri="{FF2B5EF4-FFF2-40B4-BE49-F238E27FC236}">
                <a16:creationId xmlns:a16="http://schemas.microsoft.com/office/drawing/2014/main" id="{77874022-BED9-417D-838F-6E55EEE08280}"/>
              </a:ext>
            </a:extLst>
          </p:cNvPr>
          <p:cNvSpPr>
            <a:spLocks xmlns:a="http://schemas.openxmlformats.org/drawingml/2006/main" noGrp="1"/>
          </p:cNvSpPr>
          <p:nvPr/>
        </p:nvSpPr>
        <p:spPr>
          <a:xfrm xmlns:a="http://schemas.openxmlformats.org/drawingml/2006/main">
            <a:off x="1009650" y="2228850"/>
            <a:ext cx="342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5400" b="1" i="0">
                <a:solidFill>
                  <a:srgbClr val="FFFFFF"/>
                </a:solidFill>
                <a:latin typeface="Helvetica Neue"/>
                <a:ea typeface="Helvetica Neue"/>
                <a:cs typeface="Helvetica Neue"/>
              </a:defRPr>
            </a:pPr>
            <a:r>
              <a:rPr sz="5400" b="1" i="0">
                <a:solidFill>
                  <a:srgbClr val="FFFFFF"/>
                </a:solidFill>
                <a:latin typeface="Helvetica Neue"/>
                <a:ea typeface="Helvetica Neue"/>
                <a:cs typeface="Helvetica Neue"/>
              </a:rPr>
              <a:t>1,024</a:t>
            </a:r>
          </a:p>
        </p:txBody>
      </p:sp>
      <p:sp>
        <p:nvSpPr>
          <p:cNvPr id="7" name="">
            <a:extLst xmlns:a="http://schemas.openxmlformats.org/drawingml/2006/main">
              <a:ext uri="{FF2B5EF4-FFF2-40B4-BE49-F238E27FC236}">
                <a16:creationId xmlns:a16="http://schemas.microsoft.com/office/drawing/2014/main" id="{76903D55-C87C-4A96-9F1C-9BF3E66FBAF8}"/>
              </a:ext>
            </a:extLst>
          </p:cNvPr>
          <p:cNvSpPr>
            <a:spLocks xmlns:a="http://schemas.openxmlformats.org/drawingml/2006/main" noGrp="1"/>
          </p:cNvSpPr>
          <p:nvPr/>
        </p:nvSpPr>
        <p:spPr>
          <a:xfrm xmlns:a="http://schemas.openxmlformats.org/drawingml/2006/main">
            <a:off x="1028700" y="3190875"/>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SDs per initially populated grid box</a:t>
            </a:r>
          </a:p>
        </p:txBody>
      </p:sp>
      <p:sp>
        <p:nvSpPr>
          <p:cNvPr id="8" name="">
            <a:extLst xmlns:a="http://schemas.openxmlformats.org/drawingml/2006/main">
              <a:ext uri="{FF2B5EF4-FFF2-40B4-BE49-F238E27FC236}">
                <a16:creationId xmlns:a16="http://schemas.microsoft.com/office/drawing/2014/main" id="{B7F16D04-D8BE-4257-B3A1-63CFF186116A}"/>
              </a:ext>
            </a:extLst>
          </p:cNvPr>
          <p:cNvSpPr>
            <a:spLocks xmlns:a="http://schemas.openxmlformats.org/drawingml/2006/main" noGrp="1"/>
          </p:cNvSpPr>
          <p:nvPr/>
        </p:nvSpPr>
        <p:spPr>
          <a:xfrm xmlns:a="http://schemas.openxmlformats.org/drawingml/2006/main">
            <a:off x="1028700" y="37147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D6E7F1"/>
                </a:solidFill>
                <a:latin typeface="Helvetica Neue"/>
                <a:ea typeface="Helvetica Neue"/>
                <a:cs typeface="Helvetica Neue"/>
              </a:defRPr>
            </a:pPr>
            <a:r>
              <a:rPr sz="1200" b="0" i="0">
                <a:solidFill>
                  <a:srgbClr val="D6E7F1"/>
                </a:solidFill>
                <a:latin typeface="Helvetica Neue"/>
                <a:ea typeface="Helvetica Neue"/>
                <a:cs typeface="Helvetica Neue"/>
              </a:rPr>
              <a:t>120 populated cells ⇒ 122,880 initial domain SDs</a:t>
            </a:r>
          </a:p>
        </p:txBody>
      </p:sp>
      <p:sp>
        <p:nvSpPr>
          <p:cNvPr id="9" name="">
            <a:extLst xmlns:a="http://schemas.openxmlformats.org/drawingml/2006/main">
              <a:ext uri="{FF2B5EF4-FFF2-40B4-BE49-F238E27FC236}">
                <a16:creationId xmlns:a16="http://schemas.microsoft.com/office/drawing/2014/main" id="{083DF269-4000-4889-AC41-7C9B743CB3F0}"/>
              </a:ext>
            </a:extLst>
          </p:cNvPr>
          <p:cNvSpPr>
            <a:spLocks xmlns:a="http://schemas.openxmlformats.org/drawingml/2006/main" noGrp="1"/>
          </p:cNvSpPr>
          <p:nvPr/>
        </p:nvSpPr>
        <p:spPr>
          <a:xfrm xmlns:a="http://schemas.openxmlformats.org/drawingml/2006/main">
            <a:off x="5905500" y="1543050"/>
            <a:ext cx="5105400" cy="3390900"/>
          </a:xfrm>
          <a:prstGeom xmlns:a="http://schemas.openxmlformats.org/drawingml/2006/main" prst="roundRect">
            <a:avLst>
              <a:gd name="adj" fmla="val 3933"/>
            </a:avLst>
          </a:prstGeom>
          <a:solidFill xmlns:a="http://schemas.openxmlformats.org/drawingml/2006/main">
            <a:srgbClr val="F5F8FA"/>
          </a:solidFill>
          <a:ln xmlns:a="http://schemas.openxmlformats.org/drawingml/2006/main" w="9525">
            <a:solidFill>
              <a:srgbClr val="CAD7E2"/>
            </a:solidFill>
          </a:ln>
        </p:spPr>
      </p:sp>
      <p:sp>
        <p:nvSpPr>
          <p:cNvPr id="10" name="">
            <a:extLst xmlns:a="http://schemas.openxmlformats.org/drawingml/2006/main">
              <a:ext uri="{FF2B5EF4-FFF2-40B4-BE49-F238E27FC236}">
                <a16:creationId xmlns:a16="http://schemas.microsoft.com/office/drawing/2014/main" id="{EA5B5ABC-5EB5-4851-B9CA-B6CC0F886551}"/>
              </a:ext>
            </a:extLst>
          </p:cNvPr>
          <p:cNvSpPr>
            <a:spLocks xmlns:a="http://schemas.openxmlformats.org/drawingml/2006/main" noGrp="1"/>
          </p:cNvSpPr>
          <p:nvPr/>
        </p:nvSpPr>
        <p:spPr>
          <a:xfrm xmlns:a="http://schemas.openxmlformats.org/drawingml/2006/main">
            <a:off x="6191250" y="18478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082B4C"/>
                </a:solidFill>
                <a:latin typeface="Helvetica Neue"/>
                <a:ea typeface="Helvetica Neue"/>
                <a:cs typeface="Helvetica Neue"/>
              </a:defRPr>
            </a:pPr>
            <a:r>
              <a:rPr sz="1650" b="1" i="0">
                <a:solidFill>
                  <a:srgbClr val="082B4C"/>
                </a:solidFill>
                <a:latin typeface="Helvetica Neue"/>
                <a:ea typeface="Helvetica Neue"/>
                <a:cs typeface="Helvetica Neue"/>
              </a:rPr>
              <a:t>Why this row — not 512?</a:t>
            </a:r>
          </a:p>
        </p:txBody>
      </p:sp>
      <p:sp>
        <p:nvSpPr>
          <p:cNvPr id="11" name="">
            <a:extLst xmlns:a="http://schemas.openxmlformats.org/drawingml/2006/main">
              <a:ext uri="{FF2B5EF4-FFF2-40B4-BE49-F238E27FC236}">
                <a16:creationId xmlns:a16="http://schemas.microsoft.com/office/drawing/2014/main" id="{2F2876BA-8D50-49DC-AC77-7CDE2DA70D5C}"/>
              </a:ext>
            </a:extLst>
          </p:cNvPr>
          <p:cNvSpPr>
            <a:spLocks xmlns:a="http://schemas.openxmlformats.org/drawingml/2006/main" noGrp="1"/>
          </p:cNvSpPr>
          <p:nvPr/>
        </p:nvSpPr>
        <p:spPr>
          <a:xfrm xmlns:a="http://schemas.openxmlformats.org/drawingml/2006/main">
            <a:off x="6191250" y="2324100"/>
            <a:ext cx="43243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marL="228600" indent="-127000" algn="l">
              <a:lnSpc>
                <a:spcPct val="115000"/>
              </a:lnSpc>
              <a:spcAft>
                <a:spcPts val="300"/>
              </a:spcAft>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512 fails the first adjacent-doubling 500-bin mass-DSD upper bound: 5.11% &gt; 5%.</a:t>
            </a:r>
          </a:p>
          <a:p xmlns:a="http://schemas.openxmlformats.org/drawingml/2006/main">
            <a:pPr marL="228600" indent="-127000" algn="l">
              <a:lnSpc>
                <a:spcPct val="115000"/>
              </a:lnSpc>
              <a:spcAft>
                <a:spcPts val="300"/>
              </a:spcAft>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512→1,024 also fails the physical virtual-flux check: 6.46%.</a:t>
            </a:r>
          </a:p>
          <a:p xmlns:a="http://schemas.openxmlformats.org/drawingml/2006/main">
            <a:pPr marL="228600" indent="-127000" algn="l">
              <a:lnSpc>
                <a:spcPct val="115000"/>
              </a:lnSpc>
              <a:spcAft>
                <a:spcPts val="300"/>
              </a:spcAft>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1,024 passes reference agreement, 1,024→2,048, and 2,048→4,096 confirmation.</a:t>
            </a:r>
          </a:p>
          <a:p xmlns:a="http://schemas.openxmlformats.org/drawingml/2006/main">
            <a:pPr marL="228600" indent="-127000" algn="l">
              <a:lnSpc>
                <a:spcPct val="115000"/>
              </a:lnSpc>
              <a:spcAft>
                <a:spcPts val="300"/>
              </a:spcAft>
              <a:buNone/>
              <a:defRPr sz="1275" b="0" i="0">
                <a:solidFill>
                  <a:srgbClr val="102A43"/>
                </a:solidFill>
                <a:latin typeface="Helvetica Neue"/>
                <a:ea typeface="Helvetica Neue"/>
                <a:cs typeface="Helvetica Neue"/>
              </a:defRPr>
            </a:pPr>
            <a:r>
              <a:rPr sz="1275" b="0" i="0">
                <a:solidFill>
                  <a:srgbClr val="102A43"/>
                </a:solidFill>
                <a:latin typeface="Helvetica Neue"/>
                <a:ea typeface="Helvetica Neue"/>
                <a:cs typeface="Helvetica Neue"/>
              </a:rPr>
              <a:t>1,024 also passes the independent physical audit against 8,192.</a:t>
            </a:r>
          </a:p>
        </p:txBody>
      </p:sp>
      <p:sp>
        <p:nvSpPr>
          <p:cNvPr id="12" name="">
            <a:extLst xmlns:a="http://schemas.openxmlformats.org/drawingml/2006/main">
              <a:ext uri="{FF2B5EF4-FFF2-40B4-BE49-F238E27FC236}">
                <a16:creationId xmlns:a16="http://schemas.microsoft.com/office/drawing/2014/main" id="{02322CD3-A759-406C-B0A7-7503A7194BEC}"/>
              </a:ext>
            </a:extLst>
          </p:cNvPr>
          <p:cNvSpPr>
            <a:spLocks xmlns:a="http://schemas.openxmlformats.org/drawingml/2006/main" noGrp="1"/>
          </p:cNvSpPr>
          <p:nvPr/>
        </p:nvSpPr>
        <p:spPr>
          <a:xfrm xmlns:a="http://schemas.openxmlformats.org/drawingml/2006/main">
            <a:off x="742950" y="5381625"/>
            <a:ext cx="10267950" cy="542925"/>
          </a:xfrm>
          <a:prstGeom xmlns:a="http://schemas.openxmlformats.org/drawingml/2006/main" prst="roundRect">
            <a:avLst>
              <a:gd name="adj" fmla="val 17544"/>
            </a:avLst>
          </a:prstGeom>
          <a:solidFill xmlns:a="http://schemas.openxmlformats.org/drawingml/2006/main">
            <a:srgbClr val="E6F4EF"/>
          </a:solidFill>
          <a:ln xmlns:a="http://schemas.openxmlformats.org/drawingml/2006/main" w="9525">
            <a:solidFill>
              <a:srgbClr val="3B8D66"/>
            </a:solidFill>
          </a:ln>
        </p:spPr>
      </p:sp>
      <p:sp>
        <p:nvSpPr>
          <p:cNvPr id="13" name="">
            <a:extLst xmlns:a="http://schemas.openxmlformats.org/drawingml/2006/main">
              <a:ext uri="{FF2B5EF4-FFF2-40B4-BE49-F238E27FC236}">
                <a16:creationId xmlns:a16="http://schemas.microsoft.com/office/drawing/2014/main" id="{07F06BBF-E6CF-497B-9D10-2651933CC2CE}"/>
              </a:ext>
            </a:extLst>
          </p:cNvPr>
          <p:cNvSpPr>
            <a:spLocks xmlns:a="http://schemas.openxmlformats.org/drawingml/2006/main" noGrp="1"/>
          </p:cNvSpPr>
          <p:nvPr/>
        </p:nvSpPr>
        <p:spPr>
          <a:xfrm xmlns:a="http://schemas.openxmlformats.org/drawingml/2006/main">
            <a:off x="933450" y="5543550"/>
            <a:ext cx="9886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164"/>
          </a:bodyPr>
          <a:lstStyle xmlns:a="http://schemas.openxmlformats.org/drawingml/2006/main"/>
          <a:p xmlns:a="http://schemas.openxmlformats.org/drawingml/2006/main">
            <a:pPr algn="ctr">
              <a:lnSpc>
                <a:spcPct val="105000"/>
              </a:lnSpc>
              <a:buNone/>
              <a:defRPr sz="1350" b="1" i="0">
                <a:solidFill>
                  <a:srgbClr val="082B4C"/>
                </a:solidFill>
                <a:latin typeface="Helvetica Neue"/>
                <a:ea typeface="Helvetica Neue"/>
                <a:cs typeface="Helvetica Neue"/>
              </a:defRPr>
            </a:pPr>
            <a:r>
              <a:rPr sz="1350" b="1" i="0">
                <a:solidFill>
                  <a:srgbClr val="082B4C"/>
                </a:solidFill>
                <a:latin typeface="Helvetica Neue"/>
                <a:ea typeface="Helvetica Neue"/>
                <a:cs typeface="Helvetica Neue"/>
              </a:rPr>
              <a:t>This is a tested operational requirement for this configuration — not a universal SDM constant and not a claim of exact truth at 8,192.</a:t>
            </a:r>
          </a:p>
        </p:txBody>
      </p:sp>
      <p:sp>
        <p:nvSpPr>
          <p:cNvPr id="14" name="">
            <a:extLst xmlns:a="http://schemas.openxmlformats.org/drawingml/2006/main">
              <a:ext uri="{FF2B5EF4-FFF2-40B4-BE49-F238E27FC236}">
                <a16:creationId xmlns:a16="http://schemas.microsoft.com/office/drawing/2014/main" id="{9B50C56C-0278-4131-B97D-3C6AC3E6B870}"/>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12E7090-D88C-450D-A1EB-2A1B04CDCD29}"/>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16" name="">
            <a:extLst xmlns:a="http://schemas.openxmlformats.org/drawingml/2006/main">
              <a:ext uri="{FF2B5EF4-FFF2-40B4-BE49-F238E27FC236}">
                <a16:creationId xmlns:a16="http://schemas.microsoft.com/office/drawing/2014/main" id="{081723F4-F9B5-48EC-B6A3-6D2AFDEB3A4B}"/>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25</a:t>
            </a:r>
          </a:p>
        </p:txBody>
      </p:sp>
    </p:spTree>
    <p:extLst>
      <p:ext uri="{BB962C8B-B14F-4D97-AF65-F5344CB8AC3E}">
        <p14:creationId xmlns:p14="http://schemas.microsoft.com/office/powerpoint/2010/main" val="78035654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73A39BB-C73E-4C2A-A862-DD79AE2D3DF7}"/>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INTERPRETATION</a:t>
            </a:r>
          </a:p>
        </p:txBody>
      </p:sp>
      <p:sp>
        <p:nvSpPr>
          <p:cNvPr id="2" name="">
            <a:extLst xmlns:a="http://schemas.openxmlformats.org/drawingml/2006/main">
              <a:ext uri="{FF2B5EF4-FFF2-40B4-BE49-F238E27FC236}">
                <a16:creationId xmlns:a16="http://schemas.microsoft.com/office/drawing/2014/main" id="{D0F840E6-D058-43BB-A05A-A8FD7A162923}"/>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What this study establishes — and what it deliberately does not</a:t>
            </a:r>
          </a:p>
        </p:txBody>
      </p:sp>
      <p:sp>
        <p:nvSpPr>
          <p:cNvPr id="3" name="">
            <a:extLst xmlns:a="http://schemas.openxmlformats.org/drawingml/2006/main">
              <a:ext uri="{FF2B5EF4-FFF2-40B4-BE49-F238E27FC236}">
                <a16:creationId xmlns:a16="http://schemas.microsoft.com/office/drawing/2014/main" id="{AAE0F777-5E72-406C-B65C-B07A8B3BE42F}"/>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2C7C27-5D5A-4654-87C7-39F28117BBCA}"/>
              </a:ext>
            </a:extLst>
          </p:cNvPr>
          <p:cNvSpPr>
            <a:spLocks xmlns:a="http://schemas.openxmlformats.org/drawingml/2006/main" noGrp="1"/>
          </p:cNvSpPr>
          <p:nvPr/>
        </p:nvSpPr>
        <p:spPr>
          <a:xfrm xmlns:a="http://schemas.openxmlformats.org/drawingml/2006/main">
            <a:off x="742950" y="1600200"/>
            <a:ext cx="4905375" cy="3467100"/>
          </a:xfrm>
          <a:prstGeom xmlns:a="http://schemas.openxmlformats.org/drawingml/2006/main" prst="roundRect">
            <a:avLst>
              <a:gd name="adj" fmla="val 3297"/>
            </a:avLst>
          </a:prstGeom>
          <a:solidFill xmlns:a="http://schemas.openxmlformats.org/drawingml/2006/main">
            <a:srgbClr val="E6F4EF"/>
          </a:solidFill>
          <a:ln xmlns:a="http://schemas.openxmlformats.org/drawingml/2006/main" w="9525">
            <a:solidFill>
              <a:srgbClr val="3B8D66"/>
            </a:solidFill>
          </a:ln>
        </p:spPr>
      </p:sp>
      <p:sp>
        <p:nvSpPr>
          <p:cNvPr id="5" name="">
            <a:extLst xmlns:a="http://schemas.openxmlformats.org/drawingml/2006/main">
              <a:ext uri="{FF2B5EF4-FFF2-40B4-BE49-F238E27FC236}">
                <a16:creationId xmlns:a16="http://schemas.microsoft.com/office/drawing/2014/main" id="{AEF13B08-CF3B-4819-9235-C6349F144BCF}"/>
              </a:ext>
            </a:extLst>
          </p:cNvPr>
          <p:cNvSpPr>
            <a:spLocks xmlns:a="http://schemas.openxmlformats.org/drawingml/2006/main" noGrp="1"/>
          </p:cNvSpPr>
          <p:nvPr/>
        </p:nvSpPr>
        <p:spPr>
          <a:xfrm xmlns:a="http://schemas.openxmlformats.org/drawingml/2006/main">
            <a:off x="1009650" y="18764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082B4C"/>
                </a:solidFill>
                <a:latin typeface="Helvetica Neue"/>
                <a:ea typeface="Helvetica Neue"/>
                <a:cs typeface="Helvetica Neue"/>
              </a:defRPr>
            </a:pPr>
            <a:r>
              <a:rPr sz="1725" b="1" i="0">
                <a:solidFill>
                  <a:srgbClr val="082B4C"/>
                </a:solidFill>
                <a:latin typeface="Helvetica Neue"/>
                <a:ea typeface="Helvetica Neue"/>
                <a:cs typeface="Helvetica Neue"/>
              </a:rPr>
              <a:t>Established here</a:t>
            </a:r>
          </a:p>
        </p:txBody>
      </p:sp>
      <p:sp>
        <p:nvSpPr>
          <p:cNvPr id="6" name="">
            <a:extLst xmlns:a="http://schemas.openxmlformats.org/drawingml/2006/main">
              <a:ext uri="{FF2B5EF4-FFF2-40B4-BE49-F238E27FC236}">
                <a16:creationId xmlns:a16="http://schemas.microsoft.com/office/drawing/2014/main" id="{B79762DF-60C2-4B87-A932-6AAD01D7ECE0}"/>
              </a:ext>
            </a:extLst>
          </p:cNvPr>
          <p:cNvSpPr>
            <a:spLocks xmlns:a="http://schemas.openxmlformats.org/drawingml/2006/main" noGrp="1"/>
          </p:cNvSpPr>
          <p:nvPr/>
        </p:nvSpPr>
        <p:spPr>
          <a:xfrm xmlns:a="http://schemas.openxmlformats.org/drawingml/2006/main">
            <a:off x="1009650" y="2400300"/>
            <a:ext cx="41910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marL="228600" indent="-127000" algn="l">
              <a:lnSpc>
                <a:spcPct val="115000"/>
              </a:lnSpc>
              <a:spcAft>
                <a:spcPts val="300"/>
              </a:spcAft>
              <a:buNone/>
              <a:defRPr sz="1425" b="0" i="0">
                <a:solidFill>
                  <a:srgbClr val="102A43"/>
                </a:solidFill>
                <a:latin typeface="Helvetica Neue"/>
                <a:ea typeface="Helvetica Neue"/>
                <a:cs typeface="Helvetica Neue"/>
              </a:defRPr>
            </a:pPr>
            <a:r>
              <a:rPr sz="1425" b="0" i="0">
                <a:solidFill>
                  <a:srgbClr val="102A43"/>
                </a:solidFill>
                <a:latin typeface="Helvetica Neue"/>
                <a:ea typeface="Helvetica Neue"/>
                <a:cs typeface="Helvetica Neue"/>
              </a:rPr>
              <a:t>A reproducible 2-D CLEO fixed-grid condensation–collision baseline.</a:t>
            </a:r>
          </a:p>
          <a:p xmlns:a="http://schemas.openxmlformats.org/drawingml/2006/main">
            <a:pPr marL="228600" indent="-127000" algn="l">
              <a:lnSpc>
                <a:spcPct val="115000"/>
              </a:lnSpc>
              <a:spcAft>
                <a:spcPts val="300"/>
              </a:spcAft>
              <a:buNone/>
              <a:defRPr sz="1425" b="0" i="0">
                <a:solidFill>
                  <a:srgbClr val="102A43"/>
                </a:solidFill>
                <a:latin typeface="Helvetica Neue"/>
                <a:ea typeface="Helvetica Neue"/>
                <a:cs typeface="Helvetica Neue"/>
              </a:defRPr>
            </a:pPr>
            <a:r>
              <a:rPr sz="1425" b="0" i="0">
                <a:solidFill>
                  <a:srgbClr val="102A43"/>
                </a:solidFill>
                <a:latin typeface="Helvetica Neue"/>
                <a:ea typeface="Helvetica Neue"/>
                <a:cs typeface="Helvetica Neue"/>
              </a:rPr>
              <a:t>Resolution and ensemble evidence covering DSDs, moments, transport, spatial fields and a fast-drop timing diagnostic.</a:t>
            </a:r>
          </a:p>
          <a:p xmlns:a="http://schemas.openxmlformats.org/drawingml/2006/main">
            <a:pPr marL="228600" indent="-127000" algn="l">
              <a:lnSpc>
                <a:spcPct val="115000"/>
              </a:lnSpc>
              <a:spcAft>
                <a:spcPts val="300"/>
              </a:spcAft>
              <a:buNone/>
              <a:defRPr sz="1425" b="0" i="0">
                <a:solidFill>
                  <a:srgbClr val="102A43"/>
                </a:solidFill>
                <a:latin typeface="Helvetica Neue"/>
                <a:ea typeface="Helvetica Neue"/>
                <a:cs typeface="Helvetica Neue"/>
              </a:defRPr>
            </a:pPr>
            <a:r>
              <a:rPr sz="1425" b="0" i="0">
                <a:solidFill>
                  <a:srgbClr val="102A43"/>
                </a:solidFill>
                <a:latin typeface="Helvetica Neue"/>
                <a:ea typeface="Helvetica Neue"/>
                <a:cs typeface="Helvetica Neue"/>
              </a:rPr>
              <a:t>A defensible minimum tested Ncell = 1,024 for the explicit criterion set.</a:t>
            </a:r>
          </a:p>
        </p:txBody>
      </p:sp>
      <p:sp>
        <p:nvSpPr>
          <p:cNvPr id="7" name="">
            <a:extLst xmlns:a="http://schemas.openxmlformats.org/drawingml/2006/main">
              <a:ext uri="{FF2B5EF4-FFF2-40B4-BE49-F238E27FC236}">
                <a16:creationId xmlns:a16="http://schemas.microsoft.com/office/drawing/2014/main" id="{C247FEBA-6D29-4C47-A7D3-3FE09A7074AE}"/>
              </a:ext>
            </a:extLst>
          </p:cNvPr>
          <p:cNvSpPr>
            <a:spLocks xmlns:a="http://schemas.openxmlformats.org/drawingml/2006/main" noGrp="1"/>
          </p:cNvSpPr>
          <p:nvPr/>
        </p:nvSpPr>
        <p:spPr>
          <a:xfrm xmlns:a="http://schemas.openxmlformats.org/drawingml/2006/main">
            <a:off x="6276975" y="1600200"/>
            <a:ext cx="4905375" cy="3467100"/>
          </a:xfrm>
          <a:prstGeom xmlns:a="http://schemas.openxmlformats.org/drawingml/2006/main" prst="roundRect">
            <a:avLst>
              <a:gd name="adj" fmla="val 3297"/>
            </a:avLst>
          </a:prstGeom>
          <a:solidFill xmlns:a="http://schemas.openxmlformats.org/drawingml/2006/main">
            <a:srgbClr val="FFF2F0"/>
          </a:solidFill>
          <a:ln xmlns:a="http://schemas.openxmlformats.org/drawingml/2006/main" w="9525">
            <a:solidFill>
              <a:srgbClr val="B23A48"/>
            </a:solidFill>
          </a:ln>
        </p:spPr>
      </p:sp>
      <p:sp>
        <p:nvSpPr>
          <p:cNvPr id="8" name="">
            <a:extLst xmlns:a="http://schemas.openxmlformats.org/drawingml/2006/main">
              <a:ext uri="{FF2B5EF4-FFF2-40B4-BE49-F238E27FC236}">
                <a16:creationId xmlns:a16="http://schemas.microsoft.com/office/drawing/2014/main" id="{BEDE40B9-9FDE-4976-8DCE-653C05FD023A}"/>
              </a:ext>
            </a:extLst>
          </p:cNvPr>
          <p:cNvSpPr>
            <a:spLocks xmlns:a="http://schemas.openxmlformats.org/drawingml/2006/main" noGrp="1"/>
          </p:cNvSpPr>
          <p:nvPr/>
        </p:nvSpPr>
        <p:spPr>
          <a:xfrm xmlns:a="http://schemas.openxmlformats.org/drawingml/2006/main">
            <a:off x="6543675" y="187642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082B4C"/>
                </a:solidFill>
                <a:latin typeface="Helvetica Neue"/>
                <a:ea typeface="Helvetica Neue"/>
                <a:cs typeface="Helvetica Neue"/>
              </a:defRPr>
            </a:pPr>
            <a:r>
              <a:rPr sz="1725" b="1" i="0">
                <a:solidFill>
                  <a:srgbClr val="082B4C"/>
                </a:solidFill>
                <a:latin typeface="Helvetica Neue"/>
                <a:ea typeface="Helvetica Neue"/>
                <a:cs typeface="Helvetica Neue"/>
              </a:rPr>
              <a:t>Not established here</a:t>
            </a:r>
          </a:p>
        </p:txBody>
      </p:sp>
      <p:sp>
        <p:nvSpPr>
          <p:cNvPr id="9" name="">
            <a:extLst xmlns:a="http://schemas.openxmlformats.org/drawingml/2006/main">
              <a:ext uri="{FF2B5EF4-FFF2-40B4-BE49-F238E27FC236}">
                <a16:creationId xmlns:a16="http://schemas.microsoft.com/office/drawing/2014/main" id="{77C60B66-32D9-4BAE-94B9-963283D18071}"/>
              </a:ext>
            </a:extLst>
          </p:cNvPr>
          <p:cNvSpPr>
            <a:spLocks xmlns:a="http://schemas.openxmlformats.org/drawingml/2006/main" noGrp="1"/>
          </p:cNvSpPr>
          <p:nvPr/>
        </p:nvSpPr>
        <p:spPr>
          <a:xfrm xmlns:a="http://schemas.openxmlformats.org/drawingml/2006/main">
            <a:off x="6543675" y="2400300"/>
            <a:ext cx="41148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45"/>
          </a:bodyPr>
          <a:lstStyle xmlns:a="http://schemas.openxmlformats.org/drawingml/2006/main"/>
          <a:p xmlns:a="http://schemas.openxmlformats.org/drawingml/2006/main">
            <a:pPr marL="228600" indent="-127000" algn="l">
              <a:lnSpc>
                <a:spcPct val="115000"/>
              </a:lnSpc>
              <a:spcAft>
                <a:spcPts val="300"/>
              </a:spcAft>
              <a:buNone/>
              <a:defRPr sz="1350" b="0" i="0">
                <a:solidFill>
                  <a:srgbClr val="102A43"/>
                </a:solidFill>
                <a:latin typeface="Helvetica Neue"/>
                <a:ea typeface="Helvetica Neue"/>
                <a:cs typeface="Helvetica Neue"/>
              </a:defRPr>
            </a:pPr>
            <a:r>
              <a:rPr sz="1350" b="0" i="0">
                <a:solidFill>
                  <a:srgbClr val="102A43"/>
                </a:solidFill>
                <a:latin typeface="Helvetica Neue"/>
                <a:ea typeface="Helvetica Neue"/>
                <a:cs typeface="Helvetica Neue"/>
              </a:rPr>
              <a:t>An analytical ‘truth’ solution or a universal Ncell requirement.</a:t>
            </a:r>
          </a:p>
          <a:p xmlns:a="http://schemas.openxmlformats.org/drawingml/2006/main">
            <a:pPr marL="228600" indent="-127000" algn="l">
              <a:lnSpc>
                <a:spcPct val="115000"/>
              </a:lnSpc>
              <a:spcAft>
                <a:spcPts val="300"/>
              </a:spcAft>
              <a:buNone/>
              <a:defRPr sz="1350" b="0" i="0">
                <a:solidFill>
                  <a:srgbClr val="102A43"/>
                </a:solidFill>
                <a:latin typeface="Helvetica Neue"/>
                <a:ea typeface="Helvetica Neue"/>
                <a:cs typeface="Helvetica Neue"/>
              </a:defRPr>
            </a:pPr>
            <a:r>
              <a:rPr sz="1350" b="0" i="0">
                <a:solidFill>
                  <a:srgbClr val="102A43"/>
                </a:solidFill>
                <a:latin typeface="Helvetica Neue"/>
                <a:ea typeface="Helvetica Neue"/>
                <a:cs typeface="Helvetica Neue"/>
              </a:rPr>
              <a:t>Surface rainfall/rainfall-onset behavior: the model uses null boundaries.</a:t>
            </a:r>
          </a:p>
          <a:p xmlns:a="http://schemas.openxmlformats.org/drawingml/2006/main">
            <a:pPr marL="228600" indent="-127000" algn="l">
              <a:lnSpc>
                <a:spcPct val="115000"/>
              </a:lnSpc>
              <a:spcAft>
                <a:spcPts val="300"/>
              </a:spcAft>
              <a:buNone/>
              <a:defRPr sz="1350" b="0" i="0">
                <a:solidFill>
                  <a:srgbClr val="102A43"/>
                </a:solidFill>
                <a:latin typeface="Helvetica Neue"/>
                <a:ea typeface="Helvetica Neue"/>
                <a:cs typeface="Helvetica Neue"/>
              </a:defRPr>
            </a:pPr>
            <a:r>
              <a:rPr sz="1350" b="0" i="0">
                <a:solidFill>
                  <a:srgbClr val="102A43"/>
                </a:solidFill>
                <a:latin typeface="Helvetica Neue"/>
                <a:ea typeface="Helvetica Neue"/>
                <a:cs typeface="Helvetica Neue"/>
              </a:rPr>
              <a:t>Grid convergence, radiative transfer, radar forward simulation, or alpha-sampling equivalence.</a:t>
            </a:r>
          </a:p>
          <a:p xmlns:a="http://schemas.openxmlformats.org/drawingml/2006/main">
            <a:pPr marL="228600" indent="-127000" algn="l">
              <a:lnSpc>
                <a:spcPct val="115000"/>
              </a:lnSpc>
              <a:spcAft>
                <a:spcPts val="300"/>
              </a:spcAft>
              <a:buNone/>
              <a:defRPr sz="1350" b="0" i="0">
                <a:solidFill>
                  <a:srgbClr val="102A43"/>
                </a:solidFill>
                <a:latin typeface="Helvetica Neue"/>
                <a:ea typeface="Helvetica Neue"/>
                <a:cs typeface="Helvetica Neue"/>
              </a:defRPr>
            </a:pPr>
            <a:r>
              <a:rPr sz="1350" b="0" i="0">
                <a:solidFill>
                  <a:srgbClr val="102A43"/>
                </a:solidFill>
                <a:latin typeface="Helvetica Neue"/>
                <a:ea typeface="Helvetica Neue"/>
                <a:cs typeface="Helvetica Neue"/>
              </a:rPr>
              <a:t>Transferability of Ncell = 1,024 to another initial spectrum, kernel, forcing, geometry or sampling protocol.</a:t>
            </a:r>
          </a:p>
        </p:txBody>
      </p:sp>
      <p:sp>
        <p:nvSpPr>
          <p:cNvPr id="10" name="">
            <a:extLst xmlns:a="http://schemas.openxmlformats.org/drawingml/2006/main">
              <a:ext uri="{FF2B5EF4-FFF2-40B4-BE49-F238E27FC236}">
                <a16:creationId xmlns:a16="http://schemas.microsoft.com/office/drawing/2014/main" id="{6FDE4F28-80A1-4A20-AA37-C2D283564C0B}"/>
              </a:ext>
            </a:extLst>
          </p:cNvPr>
          <p:cNvSpPr>
            <a:spLocks xmlns:a="http://schemas.openxmlformats.org/drawingml/2006/main" noGrp="1"/>
          </p:cNvSpPr>
          <p:nvPr/>
        </p:nvSpPr>
        <p:spPr>
          <a:xfrm xmlns:a="http://schemas.openxmlformats.org/drawingml/2006/main">
            <a:off x="762000" y="55054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183"/>
          </a:bodyPr>
          <a:lstStyle xmlns:a="http://schemas.openxmlformats.org/drawingml/2006/main"/>
          <a:p xmlns:a="http://schemas.openxmlformats.org/drawingml/2006/main">
            <a:pPr algn="ctr">
              <a:lnSpc>
                <a:spcPct val="105000"/>
              </a:lnSpc>
              <a:buNone/>
              <a:defRPr sz="1350" b="1" i="0">
                <a:solidFill>
                  <a:srgbClr val="082B4C"/>
                </a:solidFill>
                <a:latin typeface="Helvetica Neue"/>
                <a:ea typeface="Helvetica Neue"/>
                <a:cs typeface="Helvetica Neue"/>
              </a:defRPr>
            </a:pPr>
            <a:r>
              <a:rPr sz="1350" b="1" i="0">
                <a:solidFill>
                  <a:srgbClr val="082B4C"/>
                </a:solidFill>
                <a:latin typeface="Helvetica Neue"/>
                <a:ea typeface="Helvetica Neue"/>
                <a:cs typeface="Helvetica Neue"/>
              </a:rPr>
              <a:t>Natural next experiment: introduce alpha sampling as a separate factorial design, retaining the same physical and statistical discipline rather than assuming the normal-sampling choice transfers.</a:t>
            </a:r>
          </a:p>
        </p:txBody>
      </p:sp>
      <p:sp>
        <p:nvSpPr>
          <p:cNvPr id="11" name="">
            <a:extLst xmlns:a="http://schemas.openxmlformats.org/drawingml/2006/main">
              <a:ext uri="{FF2B5EF4-FFF2-40B4-BE49-F238E27FC236}">
                <a16:creationId xmlns:a16="http://schemas.microsoft.com/office/drawing/2014/main" id="{77AD434A-E877-4228-8252-2961B4EC8F40}"/>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F9BA8C-15E9-47A7-AA4E-A87B7FEC6EDC}"/>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13" name="">
            <a:extLst xmlns:a="http://schemas.openxmlformats.org/drawingml/2006/main">
              <a:ext uri="{FF2B5EF4-FFF2-40B4-BE49-F238E27FC236}">
                <a16:creationId xmlns:a16="http://schemas.microsoft.com/office/drawing/2014/main" id="{9337E166-288A-4677-B279-8858D62F5B3A}"/>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26</a:t>
            </a:r>
          </a:p>
        </p:txBody>
      </p:sp>
    </p:spTree>
    <p:extLst>
      <p:ext uri="{BB962C8B-B14F-4D97-AF65-F5344CB8AC3E}">
        <p14:creationId xmlns:p14="http://schemas.microsoft.com/office/powerpoint/2010/main" val="93645365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51A41AA-28C4-4079-BE77-98F756858F47}"/>
              </a:ext>
            </a:extLst>
          </p:cNvPr>
          <p:cNvSpPr>
            <a:spLocks xmlns:a="http://schemas.openxmlformats.org/drawingml/2006/main" noGrp="1"/>
          </p:cNvSpPr>
          <p:nvPr/>
        </p:nvSpPr>
        <p:spPr>
          <a:xfrm xmlns:a="http://schemas.openxmlformats.org/drawingml/2006/main">
            <a:off x="533400" y="2952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A8794"/>
                </a:solidFill>
                <a:latin typeface="Helvetica Neue"/>
                <a:ea typeface="Helvetica Neue"/>
                <a:cs typeface="Helvetica Neue"/>
              </a:defRPr>
            </a:pPr>
            <a:r>
              <a:rPr sz="825" b="1" i="0">
                <a:solidFill>
                  <a:srgbClr val="0A8794"/>
                </a:solidFill>
                <a:latin typeface="Helvetica Neue"/>
                <a:ea typeface="Helvetica Neue"/>
                <a:cs typeface="Helvetica Neue"/>
              </a:rPr>
              <a:t>PROVENANCE</a:t>
            </a:r>
          </a:p>
        </p:txBody>
      </p:sp>
      <p:sp>
        <p:nvSpPr>
          <p:cNvPr id="2" name="">
            <a:extLst xmlns:a="http://schemas.openxmlformats.org/drawingml/2006/main">
              <a:ext uri="{FF2B5EF4-FFF2-40B4-BE49-F238E27FC236}">
                <a16:creationId xmlns:a16="http://schemas.microsoft.com/office/drawing/2014/main" id="{A30F10D8-11D7-4611-BF00-F9B380F9874C}"/>
              </a:ext>
            </a:extLst>
          </p:cNvPr>
          <p:cNvSpPr>
            <a:spLocks xmlns:a="http://schemas.openxmlformats.org/drawingml/2006/main" noGrp="1"/>
          </p:cNvSpPr>
          <p:nvPr/>
        </p:nvSpPr>
        <p:spPr>
          <a:xfrm xmlns:a="http://schemas.openxmlformats.org/drawingml/2006/main">
            <a:off x="533400" y="5334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i="0">
                <a:solidFill>
                  <a:srgbClr val="082B4C"/>
                </a:solidFill>
                <a:latin typeface="Helvetica Neue"/>
                <a:ea typeface="Helvetica Neue"/>
                <a:cs typeface="Helvetica Neue"/>
              </a:defRPr>
            </a:pPr>
            <a:r>
              <a:rPr sz="2400" b="1" i="0">
                <a:solidFill>
                  <a:srgbClr val="082B4C"/>
                </a:solidFill>
                <a:latin typeface="Helvetica Neue"/>
                <a:ea typeface="Helvetica Neue"/>
                <a:cs typeface="Helvetica Neue"/>
              </a:rPr>
              <a:t>Reproducibility map: configuration → receipts → analysis</a:t>
            </a:r>
          </a:p>
        </p:txBody>
      </p:sp>
      <p:sp>
        <p:nvSpPr>
          <p:cNvPr id="3" name="">
            <a:extLst xmlns:a="http://schemas.openxmlformats.org/drawingml/2006/main">
              <a:ext uri="{FF2B5EF4-FFF2-40B4-BE49-F238E27FC236}">
                <a16:creationId xmlns:a16="http://schemas.microsoft.com/office/drawing/2014/main" id="{3A5192D1-763F-4A36-AE20-6E999B281D83}"/>
              </a:ext>
            </a:extLst>
          </p:cNvPr>
          <p:cNvSpPr>
            <a:spLocks xmlns:a="http://schemas.openxmlformats.org/drawingml/2006/main" noGrp="1"/>
          </p:cNvSpPr>
          <p:nvPr/>
        </p:nvSpPr>
        <p:spPr>
          <a:xfrm xmlns:a="http://schemas.openxmlformats.org/drawingml/2006/main">
            <a:off x="533400" y="1143000"/>
            <a:ext cx="11125200" cy="1905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A0F096-E85E-49E2-9169-AC518A345E08}"/>
              </a:ext>
            </a:extLst>
          </p:cNvPr>
          <p:cNvSpPr>
            <a:spLocks xmlns:a="http://schemas.openxmlformats.org/drawingml/2006/main" noGrp="1"/>
          </p:cNvSpPr>
          <p:nvPr/>
        </p:nvSpPr>
        <p:spPr>
          <a:xfrm xmlns:a="http://schemas.openxmlformats.org/drawingml/2006/main">
            <a:off x="742950" y="1428750"/>
            <a:ext cx="10477500" cy="723900"/>
          </a:xfrm>
          <a:prstGeom xmlns:a="http://schemas.openxmlformats.org/drawingml/2006/main" prst="roundRect">
            <a:avLst>
              <a:gd name="adj" fmla="val 10526"/>
            </a:avLst>
          </a:prstGeom>
          <a:solidFill xmlns:a="http://schemas.openxmlformats.org/drawingml/2006/main">
            <a:srgbClr val="F5F8FA"/>
          </a:solidFill>
          <a:ln xmlns:a="http://schemas.openxmlformats.org/drawingml/2006/main" w="9525">
            <a:solidFill>
              <a:srgbClr val="CAD7E2"/>
            </a:solidFill>
          </a:ln>
        </p:spPr>
      </p:sp>
      <p:sp>
        <p:nvSpPr>
          <p:cNvPr id="5" name="">
            <a:extLst xmlns:a="http://schemas.openxmlformats.org/drawingml/2006/main">
              <a:ext uri="{FF2B5EF4-FFF2-40B4-BE49-F238E27FC236}">
                <a16:creationId xmlns:a16="http://schemas.microsoft.com/office/drawing/2014/main" id="{D5161370-115C-43A4-9DA6-F5672BB3FB18}"/>
              </a:ext>
            </a:extLst>
          </p:cNvPr>
          <p:cNvSpPr>
            <a:spLocks xmlns:a="http://schemas.openxmlformats.org/drawingml/2006/main" noGrp="1"/>
          </p:cNvSpPr>
          <p:nvPr/>
        </p:nvSpPr>
        <p:spPr>
          <a:xfrm xmlns:a="http://schemas.openxmlformats.org/drawingml/2006/main">
            <a:off x="952500" y="16192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Configuration</a:t>
            </a:r>
          </a:p>
        </p:txBody>
      </p:sp>
      <p:sp>
        <p:nvSpPr>
          <p:cNvPr id="6" name="">
            <a:extLst xmlns:a="http://schemas.openxmlformats.org/drawingml/2006/main">
              <a:ext uri="{FF2B5EF4-FFF2-40B4-BE49-F238E27FC236}">
                <a16:creationId xmlns:a16="http://schemas.microsoft.com/office/drawing/2014/main" id="{83B6D11E-D2A2-401F-8E5C-F7CCE83AE8B0}"/>
              </a:ext>
            </a:extLst>
          </p:cNvPr>
          <p:cNvSpPr>
            <a:spLocks xmlns:a="http://schemas.openxmlformats.org/drawingml/2006/main" noGrp="1"/>
          </p:cNvSpPr>
          <p:nvPr/>
        </p:nvSpPr>
        <p:spPr>
          <a:xfrm xmlns:a="http://schemas.openxmlformats.org/drawingml/2006/main">
            <a:off x="3095625" y="1571625"/>
            <a:ext cx="7886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config/constthermo2d_fixedgrid_baseline_v1.yaml</a:t>
            </a:r>
          </a:p>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upstream: CLEO-local-macos/cleo-upstream/examples/constthermo2d/src/config/const2d_config.yaml</a:t>
            </a:r>
          </a:p>
        </p:txBody>
      </p:sp>
      <p:sp>
        <p:nvSpPr>
          <p:cNvPr id="7" name="">
            <a:extLst xmlns:a="http://schemas.openxmlformats.org/drawingml/2006/main">
              <a:ext uri="{FF2B5EF4-FFF2-40B4-BE49-F238E27FC236}">
                <a16:creationId xmlns:a16="http://schemas.microsoft.com/office/drawing/2014/main" id="{B9915AA4-2EC4-4C97-B842-D979DD383CF7}"/>
              </a:ext>
            </a:extLst>
          </p:cNvPr>
          <p:cNvSpPr>
            <a:spLocks xmlns:a="http://schemas.openxmlformats.org/drawingml/2006/main" noGrp="1"/>
          </p:cNvSpPr>
          <p:nvPr/>
        </p:nvSpPr>
        <p:spPr>
          <a:xfrm xmlns:a="http://schemas.openxmlformats.org/drawingml/2006/main">
            <a:off x="742950" y="2228850"/>
            <a:ext cx="10477500" cy="723900"/>
          </a:xfrm>
          <a:prstGeom xmlns:a="http://schemas.openxmlformats.org/drawingml/2006/main" prst="roundRect">
            <a:avLst>
              <a:gd name="adj" fmla="val 10526"/>
            </a:avLst>
          </a:prstGeom>
          <a:solidFill xmlns:a="http://schemas.openxmlformats.org/drawingml/2006/main">
            <a:srgbClr val="F5F8FA"/>
          </a:solidFill>
          <a:ln xmlns:a="http://schemas.openxmlformats.org/drawingml/2006/main" w="9525">
            <a:solidFill>
              <a:srgbClr val="CAD7E2"/>
            </a:solidFill>
          </a:ln>
        </p:spPr>
      </p:sp>
      <p:sp>
        <p:nvSpPr>
          <p:cNvPr id="8" name="">
            <a:extLst xmlns:a="http://schemas.openxmlformats.org/drawingml/2006/main">
              <a:ext uri="{FF2B5EF4-FFF2-40B4-BE49-F238E27FC236}">
                <a16:creationId xmlns:a16="http://schemas.microsoft.com/office/drawing/2014/main" id="{DE596AC7-2DB4-4E9A-8334-CCC41D980CC3}"/>
              </a:ext>
            </a:extLst>
          </p:cNvPr>
          <p:cNvSpPr>
            <a:spLocks xmlns:a="http://schemas.openxmlformats.org/drawingml/2006/main" noGrp="1"/>
          </p:cNvSpPr>
          <p:nvPr/>
        </p:nvSpPr>
        <p:spPr>
          <a:xfrm xmlns:a="http://schemas.openxmlformats.org/drawingml/2006/main">
            <a:off x="952500" y="24193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Production roots</a:t>
            </a:r>
          </a:p>
        </p:txBody>
      </p:sp>
      <p:sp>
        <p:nvSpPr>
          <p:cNvPr id="9" name="">
            <a:extLst xmlns:a="http://schemas.openxmlformats.org/drawingml/2006/main">
              <a:ext uri="{FF2B5EF4-FFF2-40B4-BE49-F238E27FC236}">
                <a16:creationId xmlns:a16="http://schemas.microsoft.com/office/drawing/2014/main" id="{6C537C0E-EF1E-451E-A020-749C76498450}"/>
              </a:ext>
            </a:extLst>
          </p:cNvPr>
          <p:cNvSpPr>
            <a:spLocks xmlns:a="http://schemas.openxmlformats.org/drawingml/2006/main" noGrp="1"/>
          </p:cNvSpPr>
          <p:nvPr/>
        </p:nvSpPr>
        <p:spPr>
          <a:xfrm xmlns:a="http://schemas.openxmlformats.org/drawingml/2006/main">
            <a:off x="3095625" y="2371725"/>
            <a:ext cx="7886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/scratch/m/m301324/SDM/constthermo2d_fixedgrid_baseline_v1/production_v1</a:t>
            </a:r>
          </a:p>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/scratch/m/m301324/SDM/constthermo2d_fixedgrid_highres_v2/production_v1</a:t>
            </a:r>
          </a:p>
        </p:txBody>
      </p:sp>
      <p:sp>
        <p:nvSpPr>
          <p:cNvPr id="10" name="">
            <a:extLst xmlns:a="http://schemas.openxmlformats.org/drawingml/2006/main">
              <a:ext uri="{FF2B5EF4-FFF2-40B4-BE49-F238E27FC236}">
                <a16:creationId xmlns:a16="http://schemas.microsoft.com/office/drawing/2014/main" id="{D4688491-57BB-4743-8358-8DE2A4D7513D}"/>
              </a:ext>
            </a:extLst>
          </p:cNvPr>
          <p:cNvSpPr>
            <a:spLocks xmlns:a="http://schemas.openxmlformats.org/drawingml/2006/main" noGrp="1"/>
          </p:cNvSpPr>
          <p:nvPr/>
        </p:nvSpPr>
        <p:spPr>
          <a:xfrm xmlns:a="http://schemas.openxmlformats.org/drawingml/2006/main">
            <a:off x="742950" y="3028950"/>
            <a:ext cx="10477500" cy="723900"/>
          </a:xfrm>
          <a:prstGeom xmlns:a="http://schemas.openxmlformats.org/drawingml/2006/main" prst="roundRect">
            <a:avLst>
              <a:gd name="adj" fmla="val 10526"/>
            </a:avLst>
          </a:prstGeom>
          <a:solidFill xmlns:a="http://schemas.openxmlformats.org/drawingml/2006/main">
            <a:srgbClr val="F5F8FA"/>
          </a:solidFill>
          <a:ln xmlns:a="http://schemas.openxmlformats.org/drawingml/2006/main" w="9525">
            <a:solidFill>
              <a:srgbClr val="CAD7E2"/>
            </a:solidFill>
          </a:ln>
        </p:spPr>
      </p:sp>
      <p:sp>
        <p:nvSpPr>
          <p:cNvPr id="11" name="">
            <a:extLst xmlns:a="http://schemas.openxmlformats.org/drawingml/2006/main">
              <a:ext uri="{FF2B5EF4-FFF2-40B4-BE49-F238E27FC236}">
                <a16:creationId xmlns:a16="http://schemas.microsoft.com/office/drawing/2014/main" id="{8547480C-722C-42A9-9DA3-9F200234B8FD}"/>
              </a:ext>
            </a:extLst>
          </p:cNvPr>
          <p:cNvSpPr>
            <a:spLocks xmlns:a="http://schemas.openxmlformats.org/drawingml/2006/main" noGrp="1"/>
          </p:cNvSpPr>
          <p:nvPr/>
        </p:nvSpPr>
        <p:spPr>
          <a:xfrm xmlns:a="http://schemas.openxmlformats.org/drawingml/2006/main">
            <a:off x="952500" y="3219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Analysis scripts</a:t>
            </a:r>
          </a:p>
        </p:txBody>
      </p:sp>
      <p:sp>
        <p:nvSpPr>
          <p:cNvPr id="12" name="">
            <a:extLst xmlns:a="http://schemas.openxmlformats.org/drawingml/2006/main">
              <a:ext uri="{FF2B5EF4-FFF2-40B4-BE49-F238E27FC236}">
                <a16:creationId xmlns:a16="http://schemas.microsoft.com/office/drawing/2014/main" id="{3545BBBC-D35A-4E22-A06A-3C6FE41301E2}"/>
              </a:ext>
            </a:extLst>
          </p:cNvPr>
          <p:cNvSpPr>
            <a:spLocks xmlns:a="http://schemas.openxmlformats.org/drawingml/2006/main" noGrp="1"/>
          </p:cNvSpPr>
          <p:nvPr/>
        </p:nvSpPr>
        <p:spPr>
          <a:xfrm xmlns:a="http://schemas.openxmlformats.org/drawingml/2006/main">
            <a:off x="3095625" y="3171825"/>
            <a:ext cx="7886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7160"/>
          </a:bodyPr>
          <a:lstStyle xmlns:a="http://schemas.openxmlformats.org/drawingml/2006/main"/>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scripts/analyze_constthermo2d_fixedgrid_production_v1.py</a:t>
            </a:r>
          </a:p>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scripts/select_constthermo2d_fixedgrid_convergence_v1.py</a:t>
            </a:r>
          </a:p>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scripts/analyze_constthermo2d_fixedgrid_physical_v1.py</a:t>
            </a:r>
          </a:p>
        </p:txBody>
      </p:sp>
      <p:sp>
        <p:nvSpPr>
          <p:cNvPr id="13" name="">
            <a:extLst xmlns:a="http://schemas.openxmlformats.org/drawingml/2006/main">
              <a:ext uri="{FF2B5EF4-FFF2-40B4-BE49-F238E27FC236}">
                <a16:creationId xmlns:a16="http://schemas.microsoft.com/office/drawing/2014/main" id="{E67A3B82-AF78-41B3-BD52-A810CC2B82D2}"/>
              </a:ext>
            </a:extLst>
          </p:cNvPr>
          <p:cNvSpPr>
            <a:spLocks xmlns:a="http://schemas.openxmlformats.org/drawingml/2006/main" noGrp="1"/>
          </p:cNvSpPr>
          <p:nvPr/>
        </p:nvSpPr>
        <p:spPr>
          <a:xfrm xmlns:a="http://schemas.openxmlformats.org/drawingml/2006/main">
            <a:off x="742950" y="3829050"/>
            <a:ext cx="10477500" cy="723900"/>
          </a:xfrm>
          <a:prstGeom xmlns:a="http://schemas.openxmlformats.org/drawingml/2006/main" prst="roundRect">
            <a:avLst>
              <a:gd name="adj" fmla="val 10526"/>
            </a:avLst>
          </a:prstGeom>
          <a:solidFill xmlns:a="http://schemas.openxmlformats.org/drawingml/2006/main">
            <a:srgbClr val="F5F8FA"/>
          </a:solidFill>
          <a:ln xmlns:a="http://schemas.openxmlformats.org/drawingml/2006/main" w="9525">
            <a:solidFill>
              <a:srgbClr val="CAD7E2"/>
            </a:solidFill>
          </a:ln>
        </p:spPr>
      </p:sp>
      <p:sp>
        <p:nvSpPr>
          <p:cNvPr id="14" name="">
            <a:extLst xmlns:a="http://schemas.openxmlformats.org/drawingml/2006/main">
              <a:ext uri="{FF2B5EF4-FFF2-40B4-BE49-F238E27FC236}">
                <a16:creationId xmlns:a16="http://schemas.microsoft.com/office/drawing/2014/main" id="{485B1529-BF7A-4E85-885A-C0BE52B255DA}"/>
              </a:ext>
            </a:extLst>
          </p:cNvPr>
          <p:cNvSpPr>
            <a:spLocks xmlns:a="http://schemas.openxmlformats.org/drawingml/2006/main" noGrp="1"/>
          </p:cNvSpPr>
          <p:nvPr/>
        </p:nvSpPr>
        <p:spPr>
          <a:xfrm xmlns:a="http://schemas.openxmlformats.org/drawingml/2006/main">
            <a:off x="952500" y="40195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Animation scripts</a:t>
            </a:r>
          </a:p>
        </p:txBody>
      </p:sp>
      <p:sp>
        <p:nvSpPr>
          <p:cNvPr id="15" name="">
            <a:extLst xmlns:a="http://schemas.openxmlformats.org/drawingml/2006/main">
              <a:ext uri="{FF2B5EF4-FFF2-40B4-BE49-F238E27FC236}">
                <a16:creationId xmlns:a16="http://schemas.microsoft.com/office/drawing/2014/main" id="{D8EC3036-DF70-4F1B-A86C-673730791023}"/>
              </a:ext>
            </a:extLst>
          </p:cNvPr>
          <p:cNvSpPr>
            <a:spLocks xmlns:a="http://schemas.openxmlformats.org/drawingml/2006/main" noGrp="1"/>
          </p:cNvSpPr>
          <p:nvPr/>
        </p:nvSpPr>
        <p:spPr>
          <a:xfrm xmlns:a="http://schemas.openxmlformats.org/drawingml/2006/main">
            <a:off x="3095625" y="3971925"/>
            <a:ext cx="7886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7160"/>
          </a:bodyPr>
          <a:lstStyle xmlns:a="http://schemas.openxmlformats.org/drawingml/2006/main"/>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scripts/animate_constthermo2d_dsd_size_classes_v1.py</a:t>
            </a:r>
          </a:p>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scripts/export_constthermo2d_spatial_mass_animation_inputs_v1.py</a:t>
            </a:r>
          </a:p>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scripts/animate_constthermo2d_spatial_mass_v1.py</a:t>
            </a:r>
          </a:p>
        </p:txBody>
      </p:sp>
      <p:sp>
        <p:nvSpPr>
          <p:cNvPr id="16" name="">
            <a:extLst xmlns:a="http://schemas.openxmlformats.org/drawingml/2006/main">
              <a:ext uri="{FF2B5EF4-FFF2-40B4-BE49-F238E27FC236}">
                <a16:creationId xmlns:a16="http://schemas.microsoft.com/office/drawing/2014/main" id="{8FE7B3F9-D064-4CD3-BA00-302D10303968}"/>
              </a:ext>
            </a:extLst>
          </p:cNvPr>
          <p:cNvSpPr>
            <a:spLocks xmlns:a="http://schemas.openxmlformats.org/drawingml/2006/main" noGrp="1"/>
          </p:cNvSpPr>
          <p:nvPr/>
        </p:nvSpPr>
        <p:spPr>
          <a:xfrm xmlns:a="http://schemas.openxmlformats.org/drawingml/2006/main">
            <a:off x="742950" y="4629150"/>
            <a:ext cx="10477500" cy="723900"/>
          </a:xfrm>
          <a:prstGeom xmlns:a="http://schemas.openxmlformats.org/drawingml/2006/main" prst="roundRect">
            <a:avLst>
              <a:gd name="adj" fmla="val 10526"/>
            </a:avLst>
          </a:prstGeom>
          <a:solidFill xmlns:a="http://schemas.openxmlformats.org/drawingml/2006/main">
            <a:srgbClr val="F5F8FA"/>
          </a:solidFill>
          <a:ln xmlns:a="http://schemas.openxmlformats.org/drawingml/2006/main" w="9525">
            <a:solidFill>
              <a:srgbClr val="CAD7E2"/>
            </a:solidFill>
          </a:ln>
        </p:spPr>
      </p:sp>
      <p:sp>
        <p:nvSpPr>
          <p:cNvPr id="17" name="">
            <a:extLst xmlns:a="http://schemas.openxmlformats.org/drawingml/2006/main">
              <a:ext uri="{FF2B5EF4-FFF2-40B4-BE49-F238E27FC236}">
                <a16:creationId xmlns:a16="http://schemas.microsoft.com/office/drawing/2014/main" id="{DC28FE07-E43A-4181-B96B-FCA8B7628828}"/>
              </a:ext>
            </a:extLst>
          </p:cNvPr>
          <p:cNvSpPr>
            <a:spLocks xmlns:a="http://schemas.openxmlformats.org/drawingml/2006/main" noGrp="1"/>
          </p:cNvSpPr>
          <p:nvPr/>
        </p:nvSpPr>
        <p:spPr>
          <a:xfrm xmlns:a="http://schemas.openxmlformats.org/drawingml/2006/main">
            <a:off x="952500" y="48196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0A8794"/>
                </a:solidFill>
                <a:latin typeface="Helvetica Neue"/>
                <a:ea typeface="Helvetica Neue"/>
                <a:cs typeface="Helvetica Neue"/>
              </a:defRPr>
            </a:pPr>
            <a:r>
              <a:rPr sz="1275" b="1" i="0">
                <a:solidFill>
                  <a:srgbClr val="0A8794"/>
                </a:solidFill>
                <a:latin typeface="Helvetica Neue"/>
                <a:ea typeface="Helvetica Neue"/>
                <a:cs typeface="Helvetica Neue"/>
              </a:rPr>
              <a:t>Written record</a:t>
            </a:r>
          </a:p>
        </p:txBody>
      </p:sp>
      <p:sp>
        <p:nvSpPr>
          <p:cNvPr id="18" name="">
            <a:extLst xmlns:a="http://schemas.openxmlformats.org/drawingml/2006/main">
              <a:ext uri="{FF2B5EF4-FFF2-40B4-BE49-F238E27FC236}">
                <a16:creationId xmlns:a16="http://schemas.microsoft.com/office/drawing/2014/main" id="{4C2CF884-6E8C-4791-AD5F-879F62E411A2}"/>
              </a:ext>
            </a:extLst>
          </p:cNvPr>
          <p:cNvSpPr>
            <a:spLocks xmlns:a="http://schemas.openxmlformats.org/drawingml/2006/main" noGrp="1"/>
          </p:cNvSpPr>
          <p:nvPr/>
        </p:nvSpPr>
        <p:spPr>
          <a:xfrm xmlns:a="http://schemas.openxmlformats.org/drawingml/2006/main">
            <a:off x="3095625" y="4772025"/>
            <a:ext cx="7886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docs/reports/Two_Dimensional_CLEO_Condensation_Collision_Convergence_Report_2026-09-28_layout_fixed.docx</a:t>
            </a:r>
          </a:p>
          <a:p xmlns:a="http://schemas.openxmlformats.org/drawingml/2006/main">
            <a:pPr algn="l">
              <a:lnSpc>
                <a:spcPct val="108000"/>
              </a:lnSpc>
              <a:buNone/>
              <a:defRPr sz="1050" b="0" i="0">
                <a:solidFill>
                  <a:srgbClr val="102A43"/>
                </a:solidFill>
                <a:latin typeface="Helvetica Neue"/>
                <a:ea typeface="Helvetica Neue"/>
                <a:cs typeface="Helvetica Neue"/>
              </a:defRPr>
            </a:pPr>
            <a:r>
              <a:rPr sz="1050" b="0" i="0">
                <a:solidFill>
                  <a:srgbClr val="102A43"/>
                </a:solidFill>
                <a:latin typeface="Helvetica Neue"/>
                <a:ea typeface="Helvetica Neue"/>
                <a:cs typeface="Helvetica Neue"/>
              </a:rPr>
              <a:t>docs/analysis/constthermo2d_fixedgrid_full_diagnostics_v1.md</a:t>
            </a:r>
          </a:p>
        </p:txBody>
      </p:sp>
      <p:sp>
        <p:nvSpPr>
          <p:cNvPr id="19" name="">
            <a:extLst xmlns:a="http://schemas.openxmlformats.org/drawingml/2006/main">
              <a:ext uri="{FF2B5EF4-FFF2-40B4-BE49-F238E27FC236}">
                <a16:creationId xmlns:a16="http://schemas.microsoft.com/office/drawing/2014/main" id="{FE7BCA98-F020-4E4A-A871-CF87AE2A7140}"/>
              </a:ext>
            </a:extLst>
          </p:cNvPr>
          <p:cNvSpPr>
            <a:spLocks xmlns:a="http://schemas.openxmlformats.org/drawingml/2006/main" noGrp="1"/>
          </p:cNvSpPr>
          <p:nvPr/>
        </p:nvSpPr>
        <p:spPr>
          <a:xfrm xmlns:a="http://schemas.openxmlformats.org/drawingml/2006/main">
            <a:off x="533400" y="6486525"/>
            <a:ext cx="11125200" cy="9525"/>
          </a:xfrm>
          <a:prstGeom xmlns:a="http://schemas.openxmlformats.org/drawingml/2006/main" prst="rect">
            <a:avLst/>
          </a:prstGeom>
          <a:solidFill xmlns:a="http://schemas.openxmlformats.org/drawingml/2006/main">
            <a:srgbClr val="CAD7E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328F88F-FECD-4B33-8C3F-DD30C6B71DF7}"/>
              </a:ext>
            </a:extLst>
          </p:cNvPr>
          <p:cNvSpPr>
            <a:spLocks xmlns:a="http://schemas.openxmlformats.org/drawingml/2006/main" noGrp="1"/>
          </p:cNvSpPr>
          <p:nvPr/>
        </p:nvSpPr>
        <p:spPr>
          <a:xfrm xmlns:a="http://schemas.openxmlformats.org/drawingml/2006/main">
            <a:off x="533400" y="6553200"/>
            <a:ext cx="8572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i="0">
                <a:solidFill>
                  <a:srgbClr val="486581"/>
                </a:solidFill>
                <a:latin typeface="Helvetica Neue"/>
                <a:ea typeface="Helvetica Neue"/>
                <a:cs typeface="Helvetica Neue"/>
              </a:defRPr>
            </a:pPr>
            <a:r>
              <a:rPr sz="675" b="0" i="0">
                <a:solidFill>
                  <a:srgbClr val="486581"/>
                </a:solidFill>
                <a:latin typeface="Helvetica Neue"/>
                <a:ea typeface="Helvetica Neue"/>
                <a:cs typeface="Helvetica Neue"/>
              </a:rPr>
              <a:t>Normal-sampling fixed-grid convergence</a:t>
            </a:r>
          </a:p>
        </p:txBody>
      </p:sp>
      <p:sp>
        <p:nvSpPr>
          <p:cNvPr id="21" name="">
            <a:extLst xmlns:a="http://schemas.openxmlformats.org/drawingml/2006/main">
              <a:ext uri="{FF2B5EF4-FFF2-40B4-BE49-F238E27FC236}">
                <a16:creationId xmlns:a16="http://schemas.microsoft.com/office/drawing/2014/main" id="{3ADE0696-D593-47F5-AE3F-0FF4A8655399}"/>
              </a:ext>
            </a:extLst>
          </p:cNvPr>
          <p:cNvSpPr>
            <a:spLocks xmlns:a="http://schemas.openxmlformats.org/drawingml/2006/main" noGrp="1"/>
          </p:cNvSpPr>
          <p:nvPr/>
        </p:nvSpPr>
        <p:spPr>
          <a:xfrm xmlns:a="http://schemas.openxmlformats.org/drawingml/2006/main">
            <a:off x="11125200" y="6534150"/>
            <a:ext cx="533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0A8794"/>
                </a:solidFill>
                <a:latin typeface="Helvetica Neue"/>
                <a:ea typeface="Helvetica Neue"/>
                <a:cs typeface="Helvetica Neue"/>
              </a:defRPr>
            </a:pPr>
            <a:r>
              <a:rPr sz="750" b="1" i="0">
                <a:solidFill>
                  <a:srgbClr val="0A8794"/>
                </a:solidFill>
                <a:latin typeface="Helvetica Neue"/>
                <a:ea typeface="Helvetica Neue"/>
                <a:cs typeface="Helvetica Neue"/>
              </a:rPr>
              <a:t>27</a:t>
            </a:r>
          </a:p>
        </p:txBody>
      </p:sp>
    </p:spTree>
    <p:extLst>
      <p:ext uri="{BB962C8B-B14F-4D97-AF65-F5344CB8AC3E}">
        <p14:creationId xmlns:p14="http://schemas.microsoft.com/office/powerpoint/2010/main" val="917331551"/>
      </p:ext>
    </p:extLst>
  </p:cSld>
</p:sld>
</file>

<file path=ppt/slides/slide28.xml><?xml version="1.0" encoding="utf-8"?>
<p:sld xmlns:p="http://schemas.openxmlformats.org/presentationml/2006/main">
  <p:cSld>
    <p:bg>
      <p:bgPr>
        <a:solidFill xmlns:a="http://schemas.openxmlformats.org/drawingml/2006/main">
          <a:srgbClr val="082B4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8B5186-8653-496B-880A-3260C7BDABCC}"/>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A87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FA495E-17B9-45B7-8CF3-E2FFA322394D}"/>
              </a:ext>
            </a:extLst>
          </p:cNvPr>
          <p:cNvSpPr>
            <a:spLocks xmlns:a="http://schemas.openxmlformats.org/drawingml/2006/main" noGrp="1"/>
          </p:cNvSpPr>
          <p:nvPr/>
        </p:nvSpPr>
        <p:spPr>
          <a:xfrm xmlns:a="http://schemas.openxmlformats.org/drawingml/2006/main">
            <a:off x="609600" y="1000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2CA6A4"/>
                </a:solidFill>
                <a:latin typeface="Helvetica Neue"/>
                <a:ea typeface="Helvetica Neue"/>
                <a:cs typeface="Helvetica Neue"/>
              </a:defRPr>
            </a:pPr>
            <a:r>
              <a:rPr sz="2025" b="1" i="0">
                <a:solidFill>
                  <a:srgbClr val="2CA6A4"/>
                </a:solidFill>
                <a:latin typeface="Helvetica Neue"/>
                <a:ea typeface="Helvetica Neue"/>
                <a:cs typeface="Helvetica Neue"/>
              </a:rPr>
              <a:t>Take-home message</a:t>
            </a:r>
          </a:p>
        </p:txBody>
      </p:sp>
      <p:sp>
        <p:nvSpPr>
          <p:cNvPr id="3" name="">
            <a:extLst xmlns:a="http://schemas.openxmlformats.org/drawingml/2006/main">
              <a:ext uri="{FF2B5EF4-FFF2-40B4-BE49-F238E27FC236}">
                <a16:creationId xmlns:a16="http://schemas.microsoft.com/office/drawing/2014/main" id="{A6EDE516-1453-4849-ABC1-24288DD1F16A}"/>
              </a:ext>
            </a:extLst>
          </p:cNvPr>
          <p:cNvSpPr>
            <a:spLocks xmlns:a="http://schemas.openxmlformats.org/drawingml/2006/main" noGrp="1"/>
          </p:cNvSpPr>
          <p:nvPr/>
        </p:nvSpPr>
        <p:spPr>
          <a:xfrm xmlns:a="http://schemas.openxmlformats.org/drawingml/2006/main">
            <a:off x="609600" y="1581150"/>
            <a:ext cx="10287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9549"/>
          </a:bodyPr>
          <a:lstStyle xmlns:a="http://schemas.openxmlformats.org/drawingml/2006/main"/>
          <a:p xmlns:a="http://schemas.openxmlformats.org/drawingml/2006/main">
            <a:pPr algn="l">
              <a:lnSpc>
                <a:spcPct val="102000"/>
              </a:lnSpc>
              <a:buNone/>
              <a:defRPr sz="2850" b="1" i="0">
                <a:solidFill>
                  <a:srgbClr val="FFFFFF"/>
                </a:solidFill>
                <a:latin typeface="Helvetica Neue"/>
                <a:ea typeface="Helvetica Neue"/>
                <a:cs typeface="Helvetica Neue"/>
              </a:defRPr>
            </a:pPr>
            <a:r>
              <a:rPr sz="2850" b="1" i="0">
                <a:solidFill>
                  <a:srgbClr val="FFFFFF"/>
                </a:solidFill>
                <a:latin typeface="Helvetica Neue"/>
                <a:ea typeface="Helvetica Neue"/>
                <a:cs typeface="Helvetica Neue"/>
              </a:rPr>
              <a:t>For this 2-D fixed-grid CLEO condensation–collision experiment,</a:t>
            </a:r>
          </a:p>
          <a:p xmlns:a="http://schemas.openxmlformats.org/drawingml/2006/main">
            <a:pPr algn="l">
              <a:lnSpc>
                <a:spcPct val="102000"/>
              </a:lnSpc>
              <a:buNone/>
              <a:defRPr sz="2850" b="1" i="0">
                <a:solidFill>
                  <a:srgbClr val="FFFFFF"/>
                </a:solidFill>
                <a:latin typeface="Helvetica Neue"/>
                <a:ea typeface="Helvetica Neue"/>
                <a:cs typeface="Helvetica Neue"/>
              </a:defRPr>
            </a:pPr>
            <a:r>
              <a:rPr sz="2850" b="1" i="0">
                <a:solidFill>
                  <a:srgbClr val="FFFFFF"/>
                </a:solidFill>
                <a:latin typeface="Helvetica Neue"/>
                <a:ea typeface="Helvetica Neue"/>
                <a:cs typeface="Helvetica Neue"/>
              </a:rPr>
              <a:t>Ncell = 1,024 is the first tested resolution that resolves the evolving mass DSD and the physically relevant bulk-to-tail diagnostics within the stated uncertainty margins.</a:t>
            </a:r>
          </a:p>
        </p:txBody>
      </p:sp>
      <p:sp>
        <p:nvSpPr>
          <p:cNvPr id="4" name="">
            <a:extLst xmlns:a="http://schemas.openxmlformats.org/drawingml/2006/main">
              <a:ext uri="{FF2B5EF4-FFF2-40B4-BE49-F238E27FC236}">
                <a16:creationId xmlns:a16="http://schemas.microsoft.com/office/drawing/2014/main" id="{F302BDBE-B479-4AB2-8829-62A38FF4DA5C}"/>
              </a:ext>
            </a:extLst>
          </p:cNvPr>
          <p:cNvSpPr>
            <a:spLocks xmlns:a="http://schemas.openxmlformats.org/drawingml/2006/main" noGrp="1"/>
          </p:cNvSpPr>
          <p:nvPr/>
        </p:nvSpPr>
        <p:spPr>
          <a:xfrm xmlns:a="http://schemas.openxmlformats.org/drawingml/2006/main">
            <a:off x="609600" y="3676650"/>
            <a:ext cx="10096500" cy="1123950"/>
          </a:xfrm>
          <a:prstGeom xmlns:a="http://schemas.openxmlformats.org/drawingml/2006/main" prst="roundRect">
            <a:avLst>
              <a:gd name="adj" fmla="val 10169"/>
            </a:avLst>
          </a:prstGeom>
          <a:solidFill xmlns:a="http://schemas.openxmlformats.org/drawingml/2006/main">
            <a:srgbClr val="0D3F66"/>
          </a:solidFill>
          <a:ln xmlns:a="http://schemas.openxmlformats.org/drawingml/2006/main" w="9525">
            <a:solidFill>
              <a:srgbClr val="2CA6A4"/>
            </a:solidFill>
          </a:ln>
        </p:spPr>
      </p:sp>
      <p:sp>
        <p:nvSpPr>
          <p:cNvPr id="5" name="">
            <a:extLst xmlns:a="http://schemas.openxmlformats.org/drawingml/2006/main">
              <a:ext uri="{FF2B5EF4-FFF2-40B4-BE49-F238E27FC236}">
                <a16:creationId xmlns:a16="http://schemas.microsoft.com/office/drawing/2014/main" id="{67CE4DA4-6500-42D8-93FB-B302575616C4}"/>
              </a:ext>
            </a:extLst>
          </p:cNvPr>
          <p:cNvSpPr>
            <a:spLocks xmlns:a="http://schemas.openxmlformats.org/drawingml/2006/main" noGrp="1"/>
          </p:cNvSpPr>
          <p:nvPr/>
        </p:nvSpPr>
        <p:spPr>
          <a:xfrm xmlns:a="http://schemas.openxmlformats.org/drawingml/2006/main">
            <a:off x="876300" y="3990975"/>
            <a:ext cx="9563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502"/>
          </a:bodyPr>
          <a:lstStyle xmlns:a="http://schemas.openxmlformats.org/drawingml/2006/main"/>
          <a:p xmlns:a="http://schemas.openxmlformats.org/drawingml/2006/main">
            <a:pPr algn="ctr">
              <a:lnSpc>
                <a:spcPct val="105000"/>
              </a:lnSpc>
              <a:buNone/>
              <a:defRPr sz="1575" b="0" i="0">
                <a:solidFill>
                  <a:srgbClr val="E1EDF3"/>
                </a:solidFill>
                <a:latin typeface="Helvetica Neue"/>
                <a:ea typeface="Helvetica Neue"/>
                <a:cs typeface="Helvetica Neue"/>
              </a:defRPr>
            </a:pPr>
            <a:r>
              <a:rPr sz="1575" b="0" i="0">
                <a:solidFill>
                  <a:srgbClr val="E1EDF3"/>
                </a:solidFill>
                <a:latin typeface="Helvetica Neue"/>
                <a:ea typeface="Helvetica Neue"/>
                <a:cs typeface="Helvetica Neue"/>
              </a:rPr>
              <a:t>The selection survives a distributional check, two adjacent-resolution confirmations, independent bootstrap resampling, physical moment/transport diagnostics, and a spatial-pattern audit — while retaining clear limits on what a closed 2-D box can claim.</a:t>
            </a:r>
          </a:p>
        </p:txBody>
      </p:sp>
      <p:sp>
        <p:nvSpPr>
          <p:cNvPr id="6" name="">
            <a:extLst xmlns:a="http://schemas.openxmlformats.org/drawingml/2006/main">
              <a:ext uri="{FF2B5EF4-FFF2-40B4-BE49-F238E27FC236}">
                <a16:creationId xmlns:a16="http://schemas.microsoft.com/office/drawing/2014/main" id="{730CA5BD-DEE5-4FEB-B221-57437FA3DC46}"/>
              </a:ext>
            </a:extLst>
          </p:cNvPr>
          <p:cNvSpPr>
            <a:spLocks xmlns:a="http://schemas.openxmlformats.org/drawingml/2006/main" noGrp="1"/>
          </p:cNvSpPr>
          <p:nvPr/>
        </p:nvSpPr>
        <p:spPr>
          <a:xfrm xmlns:a="http://schemas.openxmlformats.org/drawingml/2006/main">
            <a:off x="609600" y="58483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Helvetica Neue"/>
                <a:ea typeface="Helvetica Neue"/>
                <a:cs typeface="Helvetica Neue"/>
              </a:defRPr>
            </a:pPr>
            <a:r>
              <a:rPr sz="1875" b="1" i="0">
                <a:solidFill>
                  <a:srgbClr val="FFFFFF"/>
                </a:solidFill>
                <a:latin typeface="Helvetica Neue"/>
                <a:ea typeface="Helvetica Neue"/>
                <a:cs typeface="Helvetica Neue"/>
              </a:rPr>
              <a:t>Questions and discussion</a:t>
            </a:r>
          </a:p>
        </p:txBody>
      </p:sp>
      <p:sp>
        <p:nvSpPr>
          <p:cNvPr id="7" name="">
            <a:extLst xmlns:a="http://schemas.openxmlformats.org/drawingml/2006/main">
              <a:ext uri="{FF2B5EF4-FFF2-40B4-BE49-F238E27FC236}">
                <a16:creationId xmlns:a16="http://schemas.microsoft.com/office/drawing/2014/main" id="{38CFA6E0-CFA0-4269-BD1D-0E315506106B}"/>
              </a:ext>
            </a:extLst>
          </p:cNvPr>
          <p:cNvSpPr>
            <a:spLocks xmlns:a="http://schemas.openxmlformats.org/drawingml/2006/main" noGrp="1"/>
          </p:cNvSpPr>
          <p:nvPr/>
        </p:nvSpPr>
        <p:spPr>
          <a:xfrm xmlns:a="http://schemas.openxmlformats.org/drawingml/2006/main">
            <a:off x="609600" y="62674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B7CCD9"/>
                </a:solidFill>
                <a:latin typeface="Helvetica Neue"/>
                <a:ea typeface="Helvetica Neue"/>
                <a:cs typeface="Helvetica Neue"/>
              </a:defRPr>
            </a:pPr>
            <a:r>
              <a:rPr sz="1050" b="0" i="0">
                <a:solidFill>
                  <a:srgbClr val="B7CCD9"/>
                </a:solidFill>
                <a:latin typeface="Helvetica Neue"/>
                <a:ea typeface="Helvetica Neue"/>
                <a:cs typeface="Helvetica Neue"/>
              </a:rPr>
              <a:t>Full report and raw-analysis provenance are listed in the appendix.</a:t>
            </a:r>
          </a:p>
        </p:txBody>
      </p:sp>
    </p:spTree>
    <p:extLst>
      <p:ext uri="{BB962C8B-B14F-4D97-AF65-F5344CB8AC3E}">
        <p14:creationId xmlns:p14="http://schemas.microsoft.com/office/powerpoint/2010/main" val="12647079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2026-09-28T06:20:52.8870000Z</dcterms:created>
  <dcterms:modified xsi:type="dcterms:W3CDTF">2026-09-28T06:20:52.8870000Z</dcterms:modified>
</coreProperties>
</file>